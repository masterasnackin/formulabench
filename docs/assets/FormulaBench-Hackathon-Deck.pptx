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b4921c009bc4590" /><Relationship Type="http://schemas.openxmlformats.org/officeDocument/2006/relationships/extended-properties" Target="/docProps/app.xml" Id="Rabb4b91f626a438c" /><Relationship Type="http://schemas.openxmlformats.org/officeDocument/2006/relationships/officeDocument" Target="/ppt/presentation.xml" Id="R951702180064429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71e2744b4d84d1d"/>
  </p:sldMasterIdLst>
  <p:notesMasterIdLst>
    <p:notesMasterId xmlns:r="http://schemas.openxmlformats.org/officeDocument/2006/relationships" r:id="Rd3680a0bd82b4574"/>
  </p:notesMasterIdLst>
  <p:sldIdLst>
    <p:sldId xmlns:r="http://schemas.openxmlformats.org/officeDocument/2006/relationships" id="256" r:id="R447368ac096e453d"/>
    <p:sldId xmlns:r="http://schemas.openxmlformats.org/officeDocument/2006/relationships" id="257" r:id="Rfa6453711fb544e2"/>
    <p:sldId xmlns:r="http://schemas.openxmlformats.org/officeDocument/2006/relationships" id="258" r:id="R96502637e6b541a9"/>
    <p:sldId xmlns:r="http://schemas.openxmlformats.org/officeDocument/2006/relationships" id="259" r:id="R6450c43eeef14111"/>
    <p:sldId xmlns:r="http://schemas.openxmlformats.org/officeDocument/2006/relationships" id="260" r:id="R64a3ed262a254dde"/>
    <p:sldId xmlns:r="http://schemas.openxmlformats.org/officeDocument/2006/relationships" id="261" r:id="Rc6fd4c1350994cc4"/>
    <p:sldId xmlns:r="http://schemas.openxmlformats.org/officeDocument/2006/relationships" id="262" r:id="Rf113d718002e4e6d"/>
    <p:sldId xmlns:r="http://schemas.openxmlformats.org/officeDocument/2006/relationships" id="263" r:id="Raa89fb6967bb4fa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13ca40fa2f246e3" /><Relationship Type="http://schemas.openxmlformats.org/officeDocument/2006/relationships/slideMaster" Target="/ppt/slideMasters/slideMaster1.xml" Id="R471e2744b4d84d1d" /><Relationship Type="http://schemas.openxmlformats.org/officeDocument/2006/relationships/notesMaster" Target="/ppt/notesMasters/notesMaster1.xml" Id="Rd3680a0bd82b4574" /><Relationship Type="http://schemas.openxmlformats.org/officeDocument/2006/relationships/presProps" Target="/ppt/presProps.xml" Id="R95f4ab28f4314aff" /><Relationship Type="http://schemas.openxmlformats.org/officeDocument/2006/relationships/tableStyles" Target="/ppt/tableStyles.xml" Id="R358bd9f77c1142ae" /><Relationship Type="http://schemas.openxmlformats.org/officeDocument/2006/relationships/slide" Target="/ppt/slides/slide1.xml" Id="R447368ac096e453d" /><Relationship Type="http://schemas.openxmlformats.org/officeDocument/2006/relationships/slide" Target="/ppt/slides/slide2.xml" Id="Rfa6453711fb544e2" /><Relationship Type="http://schemas.openxmlformats.org/officeDocument/2006/relationships/slide" Target="/ppt/slides/slide3.xml" Id="R96502637e6b541a9" /><Relationship Type="http://schemas.openxmlformats.org/officeDocument/2006/relationships/slide" Target="/ppt/slides/slide4.xml" Id="R6450c43eeef14111" /><Relationship Type="http://schemas.openxmlformats.org/officeDocument/2006/relationships/slide" Target="/ppt/slides/slide5.xml" Id="R64a3ed262a254dde" /><Relationship Type="http://schemas.openxmlformats.org/officeDocument/2006/relationships/slide" Target="/ppt/slides/slide6.xml" Id="Rc6fd4c1350994cc4" /><Relationship Type="http://schemas.openxmlformats.org/officeDocument/2006/relationships/slide" Target="/ppt/slides/slide7.xml" Id="Rf113d718002e4e6d" /><Relationship Type="http://schemas.openxmlformats.org/officeDocument/2006/relationships/slide" Target="/ppt/slides/slide8.xml" Id="Raa89fb6967bb4fa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e6986f4d6a0451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003014498b84a60" /><Relationship Type="http://schemas.openxmlformats.org/officeDocument/2006/relationships/notesMaster" Target="/ppt/notesMasters/notesMaster1.xml" Id="Rc401558abc3e405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84e0a30faad41e2" /><Relationship Type="http://schemas.openxmlformats.org/officeDocument/2006/relationships/notesMaster" Target="/ppt/notesMasters/notesMaster1.xml" Id="R887a15f56c4645c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9f6367f8a844856" /><Relationship Type="http://schemas.openxmlformats.org/officeDocument/2006/relationships/notesMaster" Target="/ppt/notesMasters/notesMaster1.xml" Id="R65adc2f6e331415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3a0c149ef6f4aa9" /><Relationship Type="http://schemas.openxmlformats.org/officeDocument/2006/relationships/notesMaster" Target="/ppt/notesMasters/notesMaster1.xml" Id="R80a20e042ffe4da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388ad48635a4f7c" /><Relationship Type="http://schemas.openxmlformats.org/officeDocument/2006/relationships/notesMaster" Target="/ppt/notesMasters/notesMaster1.xml" Id="R15438c7bff604db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97910606a354024" /><Relationship Type="http://schemas.openxmlformats.org/officeDocument/2006/relationships/notesMaster" Target="/ppt/notesMasters/notesMaster1.xml" Id="R35ddbe7e14474d5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9dc191094cd4b3a" /><Relationship Type="http://schemas.openxmlformats.org/officeDocument/2006/relationships/notesMaster" Target="/ppt/notesMasters/notesMaster1.xml" Id="Rf777bbfe1679477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773fd05a1b94fdb" /><Relationship Type="http://schemas.openxmlformats.org/officeDocument/2006/relationships/notesMaster" Target="/ppt/notesMasters/notesMaster1.xml" Id="R083b7434a52b461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https://github.com/MasteraSnackin/FormulaBench</a:t>
            </a:r>
          </a:p>
          <a:p xmlns:a="http://schemas.openxmlformats.org/drawingml/2006/main">
            <a:r>
              <a:t>README.md</a:t>
            </a:r>
          </a:p>
          <a:p xmlns:a="http://schemas.openxmlformats.org/drawingml/2006/main">
            <a:r>
              <a:t>SUBMISSION.md</a:t>
            </a:r>
          </a:p>
          <a:p xmlns:a="http://schemas.openxmlformats.org/drawingml/2006/main">
            <a:r>
              <a:t>The formula shown on the cover is an illustrative Excel formula, not a benchmark answer.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submissions/formulabench/results.json</a:t>
            </a:r>
          </a:p>
          <a:p xmlns:a="http://schemas.openxmlformats.org/drawingml/2006/main">
            <a:r>
              <a:t>SHA-256 c1e6fb6b540bb7272f4c537773e2a4826dd649d882c9b7fb549df9bccc66be0d</a:t>
            </a:r>
          </a:p>
          <a:p xmlns:a="http://schemas.openxmlformats.org/drawingml/2006/main">
            <a:r>
              <a:t>SUBMISSION.md section Our run on the 400</a:t>
            </a:r>
          </a:p>
          <a:p xmlns:a="http://schemas.openxmlformats.org/drawingml/2006/main">
            <a:r>
              <a:t>Public self-evaluation totals: 400 evaluated tasks, 133 passes, 297,882 target cells, 120,824 correct cells, no missing tasks and no evaluator errors.</a:t>
            </a:r>
          </a:p>
          <a:p xmlns:a="http://schemas.openxmlformats.org/drawingml/2006/main">
            <a:r>
              <a:t>FormulaBench produced this result locally with the organiser-supplied evaluator. The organisers have not certified the score.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README.md sections Description and Features</a:t>
            </a:r>
          </a:p>
          <a:p xmlns:a="http://schemas.openxmlformats.org/drawingml/2006/main">
            <a:r>
              <a:t>SUBMISSION.md section What we built and why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README.md Architecture Overview, Features and Tech Stack</a:t>
            </a:r>
          </a:p>
          <a:p xmlns:a="http://schemas.openxmlformats.org/drawingml/2006/main">
            <a:r>
              <a:t>SUBMISSION.md What we built and why</a:t>
            </a:r>
          </a:p>
          <a:p xmlns:a="http://schemas.openxmlformats.org/drawingml/2006/main">
            <a:r>
              <a:t>formulabench/context.py</a:t>
            </a:r>
          </a:p>
          <a:p xmlns:a="http://schemas.openxmlformats.org/drawingml/2006/main">
            <a:r>
              <a:t>formulabench/provider.py</a:t>
            </a:r>
          </a:p>
          <a:p xmlns:a="http://schemas.openxmlformats.org/drawingml/2006/main">
            <a:r>
              <a:t>formulabench/contract.py</a:t>
            </a:r>
          </a:p>
          <a:p xmlns:a="http://schemas.openxmlformats.org/drawingml/2006/main">
            <a:r>
              <a:t>formulabench/artifacts.py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README.md Features</a:t>
            </a:r>
          </a:p>
          <a:p xmlns:a="http://schemas.openxmlformats.org/drawingml/2006/main">
            <a:r>
              <a:t>SUBMISSION.md What we built and why</a:t>
            </a:r>
          </a:p>
          <a:p xmlns:a="http://schemas.openxmlformats.org/drawingml/2006/main">
            <a:r>
              <a:t>formulabench/contract.py</a:t>
            </a:r>
          </a:p>
          <a:p xmlns:a="http://schemas.openxmlformats.org/drawingml/2006/main">
            <a:r>
              <a:t>formulabench/artifacts.py</a:t>
            </a:r>
          </a:p>
          <a:p xmlns:a="http://schemas.openxmlformats.org/drawingml/2006/main">
            <a:r>
              <a:t>experiments/public_benchmark_audit.json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experiments/README.md section Failure analysis</a:t>
            </a:r>
          </a:p>
          <a:p xmlns:a="http://schemas.openxmlformats.org/drawingml/2006/main">
            <a:r>
              <a:t>submissions/formulabench/results.json</a:t>
            </a:r>
          </a:p>
          <a:p xmlns:a="http://schemas.openxmlformats.org/drawingml/2006/main">
            <a:r>
              <a:t>submissions/formulabench/predictions.jsonl</a:t>
            </a:r>
          </a:p>
          <a:p xmlns:a="http://schemas.openxmlformats.org/drawingml/2006/main">
            <a:r>
              <a:t>submissions/formulabench/traces/</a:t>
            </a:r>
          </a:p>
          <a:p xmlns:a="http://schemas.openxmlformats.org/drawingml/2006/main">
            <a:r>
              <a:t>Wrong cells total: 177,058. Fail-closed fallbacks: 9,143. Contract-valid but semantically wrong workbooks: 167,915.</a:t>
            </a:r>
          </a:p>
          <a:p xmlns:a="http://schemas.openxmlformats.org/drawingml/2006/main">
            <a:r>
              <a:t>The difference in pass rate by context truncation is an association, not a causal result.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README.md Public benchmark result</a:t>
            </a:r>
          </a:p>
          <a:p xmlns:a="http://schemas.openxmlformats.org/drawingml/2006/main">
            <a:r>
              <a:t>SUBMISSION.md Our run on the 400</a:t>
            </a:r>
          </a:p>
          <a:p xmlns:a="http://schemas.openxmlformats.org/drawingml/2006/main">
            <a:r>
              <a:t>experiments/README.md Complete public run</a:t>
            </a:r>
          </a:p>
          <a:p xmlns:a="http://schemas.openxmlformats.org/drawingml/2006/main">
            <a:r>
              <a:t>https://github.com/ylookup/encode-hackathon/tree/37d9016264762a25cae49e077cd0893055bd9093/research</a:t>
            </a:r>
          </a:p>
          <a:p xmlns:a="http://schemas.openxmlformats.org/drawingml/2006/main">
            <a:r>
              <a:t>https://github.com/thinking-machines-lab/tinker-cookbook/blob/main/tinker_cookbook/renderers/qwen3_8.py</a:t>
            </a:r>
          </a:p>
          <a:p xmlns:a="http://schemas.openxmlformats.org/drawingml/2006/main">
            <a:r>
              <a:t>The organiser reference renderer is inferred from published code and cookbook behaviour because the organisers did not publish run traces or explicit renderer metadata.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experiments/README.md section Failure analysis</a:t>
            </a:r>
          </a:p>
          <a:p xmlns:a="http://schemas.openxmlformats.org/drawingml/2006/main">
            <a:r>
              <a:t>https://github.com/MasteraSnackin/FormulaBench</a:t>
            </a:r>
          </a:p>
          <a:p xmlns:a="http://schemas.openxmlformats.org/drawingml/2006/main">
            <a:r>
              <a:t>https://masterasnackin.github.io/FormulaBench/</a:t>
            </a:r>
          </a:p>
          <a:p xmlns:a="http://schemas.openxmlformats.org/drawingml/2006/main">
            <a:r>
              <a:t>The proposed fixed-operation path is future work and is not part of the frozen public self-evaluation.</a:t>
            </a:r>
          </a:p>
          <a:p xmlns:a="http://schemas.openxmlformats.org/drawingml/2006/main">
            <a:r>
              <a:t>Only the organiser private benchmark is described as unseen.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1849d076c34c3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2cd8234435f4586" /><Relationship Type="http://schemas.openxmlformats.org/officeDocument/2006/relationships/slideLayout" Target="/ppt/slideLayouts/slideLayout1.xml" Id="Re9f51bc1e1e2461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9f51bc1e1e2461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f71c11e0784bb0" /><Relationship Type="http://schemas.openxmlformats.org/officeDocument/2006/relationships/notesSlide" Target="/ppt/notesSlides/notesSlide1.xml" Id="R9cc21c42f1ad4a8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03d6e4050d43b1" /><Relationship Type="http://schemas.openxmlformats.org/officeDocument/2006/relationships/chart" Target="/ppt/slides/charts/chart1.xml" Id="Ra3592e46faba462c" /><Relationship Type="http://schemas.openxmlformats.org/officeDocument/2006/relationships/notesSlide" Target="/ppt/notesSlides/notesSlide2.xml" Id="Re3f33d02ab364c4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0dc4eed13d4f67" /><Relationship Type="http://schemas.openxmlformats.org/officeDocument/2006/relationships/notesSlide" Target="/ppt/notesSlides/notesSlide3.xml" Id="R07fc1a1833c7459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e9139aae104bf8" /><Relationship Type="http://schemas.openxmlformats.org/officeDocument/2006/relationships/notesSlide" Target="/ppt/notesSlides/notesSlide4.xml" Id="Rddb5465afc25417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57046ea20641cd" /><Relationship Type="http://schemas.openxmlformats.org/officeDocument/2006/relationships/notesSlide" Target="/ppt/notesSlides/notesSlide5.xml" Id="Rb29e053bdbdb454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f37db349c643eb" /><Relationship Type="http://schemas.openxmlformats.org/officeDocument/2006/relationships/chart" Target="/ppt/slides/charts/chart2.xml" Id="R2b47a07c53524778" /><Relationship Type="http://schemas.openxmlformats.org/officeDocument/2006/relationships/notesSlide" Target="/ppt/notesSlides/notesSlide6.xml" Id="R113a7f1e5008476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40de2097c944da" /><Relationship Type="http://schemas.openxmlformats.org/officeDocument/2006/relationships/notesSlide" Target="/ppt/notesSlides/notesSlide7.xml" Id="R10166c92aacd45c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840a09aca140f0" /><Relationship Type="http://schemas.openxmlformats.org/officeDocument/2006/relationships/hyperlink" Target="https://masterasnackin.github.io/FormulaBench/" TargetMode="External" Id="R5577c945197f498f" /><Relationship Type="http://schemas.openxmlformats.org/officeDocument/2006/relationships/hyperlink" Target="https://github.com/MasteraSnackin/FormulaBench" TargetMode="External" Id="R59c6d52320114778" /><Relationship Type="http://schemas.openxmlformats.org/officeDocument/2006/relationships/notesSlide" Target="/ppt/notesSlides/notesSlide8.xml" Id="R274b0186bd4e4032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Public self-evaluation</c:v>
          </c:tx>
          <c:spPr>
            <a:solidFill xmlns:a="http://schemas.openxmlformats.org/drawingml/2006/main">
              <a:srgbClr val="35C47A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35C47A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4A9BC2"/>
              </a:solidFill>
            </c:spPr>
          </c:dPt>
          <c:cat>
            <c:strLit>
              <c:ptCount val="2"/>
              <c:pt idx="0">
                <c:v>Task pass rate</c:v>
              </c:pt>
              <c:pt idx="1">
                <c:v>Cell accuracy</c:v>
              </c:pt>
            </c:strLit>
          </c:cat>
          <c:val>
            <c:numLit>
              <c:formatCode>0.00%</c:formatCode>
              <c:ptCount val="2"/>
              <c:pt idx="0">
                <c:v>0.3325</c:v>
              </c:pt>
              <c:pt idx="1">
                <c:v>0.4056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solidFill>
                    <a:srgbClr val="122033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67487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b"/>
        <c:numFmt formatCode="0%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FFFDF8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DF8"/>
    </a:solidFill>
    <a:ln xmlns:a="http://schemas.openxmlformats.org/drawingml/2006/main" w="0">
      <a:noFill/>
    </a:ln>
  </c:spPr>
</c:chartSpace>
</file>

<file path=ppt/slides/charts/chart2.xml><?xml version="1.0" encoding="utf-8"?>
<c:chartSpace xmlns:c="http://schemas.openxmlformats.org/drawingml/2006/chart">
  <c:lang val="en-US"/>
  <c:chart>
    <c:plotArea>
      <c:doughnutChart>
        <c:ser>
          <c:idx val="0"/>
          <c:order val="0"/>
          <c:tx>
            <c:v>Wrong cells</c:v>
          </c:tx>
          <c:spPr>
            <a:solidFill xmlns:a="http://schemas.openxmlformats.org/drawingml/2006/main">
              <a:srgbClr val="E76464"/>
            </a:solidFill>
          </c:spPr>
          <c:dPt>
            <c:idx val="0"/>
            <c:spPr>
              <a:solidFill xmlns:a="http://schemas.openxmlformats.org/drawingml/2006/main">
                <a:srgbClr val="E76464"/>
              </a:solidFill>
            </c:spPr>
          </c:dPt>
          <c:dPt>
            <c:idx val="1"/>
            <c:spPr>
              <a:solidFill xmlns:a="http://schemas.openxmlformats.org/drawingml/2006/main">
                <a:srgbClr val="E4B94F"/>
              </a:solidFill>
            </c:spPr>
          </c:dPt>
          <c:cat>
            <c:strLit>
              <c:ptCount val="2"/>
              <c:pt idx="0">
                <c:v>Passed structural checks
94.84%</c:v>
              </c:pt>
              <c:pt idx="1">
                <c:v>Rejected responses
5.16%</c:v>
              </c:pt>
            </c:strLit>
          </c:cat>
          <c:val>
            <c:numLit>
              <c:formatCode>General</c:formatCode>
              <c:ptCount val="2"/>
              <c:pt idx="0">
                <c:v>167915</c:v>
              </c:pt>
              <c:pt idx="1">
                <c:v>9143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122033"/>
                  </a:solidFill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1"/>
          <c:showSerName val="0"/>
          <c:showPercent val="0"/>
          <c:showBubbleSize val="0"/>
          <c:showLeaderLines val="1"/>
        </c:dLbls>
        <c:firstSliceAng val="270"/>
        <c:holeSize val="66"/>
      </c:doughnutChart>
      <c:spPr>
        <a:solidFill xmlns:a="http://schemas.openxmlformats.org/drawingml/2006/main">
          <a:srgbClr val="F4F0E8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4F0E8"/>
    </a:solidFill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9C05EF-3558-418F-961F-CCBDB1DB0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35C47A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5C47A"/>
                </a:solidFill>
                <a:latin typeface="Arial"/>
                <a:ea typeface="Arial"/>
                <a:cs typeface="Arial"/>
              </a:rPr>
              <a:t>FORMULABENCH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684BFA-5DF8-4287-9353-CDB24724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47800"/>
            <a:ext cx="6572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54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4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FormulaBench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407B73-C460-4479-B307-142C5C4C6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76500"/>
            <a:ext cx="628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0" i="0">
                <a:solidFill>
                  <a:srgbClr val="D9E0E8"/>
                </a:solidFill>
                <a:latin typeface="Arial"/>
                <a:ea typeface="Arial"/>
                <a:cs typeface="Arial"/>
              </a:defRPr>
            </a:pPr>
            <a:r>
              <a:rPr sz="2250" b="0" i="0">
                <a:solidFill>
                  <a:srgbClr val="D9E0E8"/>
                </a:solidFill>
                <a:latin typeface="Arial"/>
                <a:ea typeface="Arial"/>
                <a:cs typeface="Arial"/>
              </a:rPr>
              <a:t>Auditable Excel formula generation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734427-D76A-47EE-BC66-2E48B2F2B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14700"/>
            <a:ext cx="504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5C47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62FF7D-6CE4-4A2B-A7F1-399EFCBBD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38550"/>
            <a:ext cx="5429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0" i="0">
                <a:solidFill>
                  <a:srgbClr val="AAB6C5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AAB6C5"/>
                </a:solidFill>
                <a:latin typeface="Arial"/>
                <a:ea typeface="Arial"/>
                <a:cs typeface="Arial"/>
              </a:rPr>
              <a:t>Research: Excel Formula Generation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75" b="0" i="0">
                <a:solidFill>
                  <a:srgbClr val="AAB6C5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AAB6C5"/>
                </a:solidFill>
                <a:latin typeface="Arial"/>
                <a:ea typeface="Arial"/>
                <a:cs typeface="Arial"/>
              </a:rPr>
              <a:t>Encode x Ylookup Rebuild Private Markets Hackathon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B6B4BC-AF62-4DC0-A044-5205F39B5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381125"/>
            <a:ext cx="4000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875" b="0" i="0">
                <a:solidFill>
                  <a:srgbClr val="C6D2DF"/>
                </a:solidFill>
                <a:latin typeface="Menlo"/>
                <a:ea typeface="Menlo"/>
                <a:cs typeface="Menlo"/>
              </a:defRPr>
            </a:pPr>
            <a:r>
              <a:rPr sz="1875" b="0" i="0">
                <a:solidFill>
                  <a:srgbClr val="C6D2DF"/>
                </a:solidFill>
                <a:latin typeface="Menlo"/>
                <a:ea typeface="Menlo"/>
                <a:cs typeface="Menlo"/>
              </a:rPr>
              <a:t>=IFERROR(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875" b="0" i="0">
                <a:solidFill>
                  <a:srgbClr val="C6D2DF"/>
                </a:solidFill>
                <a:latin typeface="Menlo"/>
                <a:ea typeface="Menlo"/>
                <a:cs typeface="Menlo"/>
              </a:defRPr>
            </a:pPr>
            <a:r>
              <a:rPr sz="1875" b="0" i="0">
                <a:solidFill>
                  <a:srgbClr val="C6D2DF"/>
                </a:solidFill>
                <a:latin typeface="Menlo"/>
                <a:ea typeface="Menlo"/>
                <a:cs typeface="Menlo"/>
              </a:rPr>
              <a:t>  INDEX(Returns!$H:$H,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875" b="0" i="0">
                <a:solidFill>
                  <a:srgbClr val="C6D2DF"/>
                </a:solidFill>
                <a:latin typeface="Menlo"/>
                <a:ea typeface="Menlo"/>
                <a:cs typeface="Menlo"/>
              </a:defRPr>
            </a:pPr>
            <a:r>
              <a:rPr sz="1875" b="0" i="0">
                <a:solidFill>
                  <a:srgbClr val="C6D2DF"/>
                </a:solidFill>
                <a:latin typeface="Menlo"/>
                <a:ea typeface="Menlo"/>
                <a:cs typeface="Menlo"/>
              </a:rPr>
              <a:t>  MATCH($B9,Returns!$B:$B,0)),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875" b="0" i="0">
                <a:solidFill>
                  <a:srgbClr val="C6D2DF"/>
                </a:solidFill>
                <a:latin typeface="Menlo"/>
                <a:ea typeface="Menlo"/>
                <a:cs typeface="Menlo"/>
              </a:defRPr>
            </a:pPr>
            <a:r>
              <a:rPr sz="1875" b="0" i="0">
                <a:solidFill>
                  <a:srgbClr val="C6D2DF"/>
                </a:solidFill>
                <a:latin typeface="Menlo"/>
                <a:ea typeface="Menlo"/>
                <a:cs typeface="Menlo"/>
              </a:rPr>
              <a:t>  0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875" b="0" i="0">
                <a:solidFill>
                  <a:srgbClr val="C6D2DF"/>
                </a:solidFill>
                <a:latin typeface="Menlo"/>
                <a:ea typeface="Menlo"/>
                <a:cs typeface="Menlo"/>
              </a:defRPr>
            </a:pPr>
            <a:r>
              <a:rPr sz="1875" b="0" i="0">
                <a:solidFill>
                  <a:srgbClr val="C6D2DF"/>
                </a:solidFill>
                <a:latin typeface="Menlo"/>
                <a:ea typeface="Menlo"/>
                <a:cs typeface="Menlo"/>
              </a:rPr>
              <a:t>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C44928-222D-4242-B52B-A15A3A02C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5148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35C47A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5C47A"/>
                </a:solidFill>
                <a:latin typeface="Arial"/>
                <a:ea typeface="Arial"/>
                <a:cs typeface="Arial"/>
              </a:rPr>
              <a:t>ILLUSTRATIVE FORMULA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17AD4D-4BF1-48E5-9F80-70485077E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1505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8F9CAE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8F9CAE"/>
                </a:solidFill>
                <a:latin typeface="Arial"/>
                <a:ea typeface="Arial"/>
                <a:cs typeface="Arial"/>
              </a:rPr>
              <a:t>Complete public benchmark: all 400 tasks with retained traces and workbook artefacts</a:t>
            </a:r>
          </a:p>
        </p:txBody>
      </p:sp>
    </p:spTree>
    <p:extLst>
      <p:ext uri="{BB962C8B-B14F-4D97-AF65-F5344CB8AC3E}">
        <p14:creationId xmlns:p14="http://schemas.microsoft.com/office/powerpoint/2010/main" val="12822371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332DD45-E2B0-4B59-81B5-A2AD48DD0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300" b="1" i="0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122033"/>
                </a:solidFill>
                <a:latin typeface="Arial"/>
                <a:ea typeface="Arial"/>
                <a:cs typeface="Arial"/>
              </a:rPr>
              <a:t>Public self-evaluation: 133 of 400 tasks passed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A6B431-0514-4C88-BFB2-F1400C943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57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 i="0">
                <a:solidFill>
                  <a:srgbClr val="667487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667487"/>
                </a:solidFill>
                <a:latin typeface="Arial"/>
                <a:ea typeface="Arial"/>
                <a:cs typeface="Arial"/>
              </a:rPr>
              <a:t>The run recalculated every workbook in LibreOffice before using the organiser-supplied evaluator.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1514B2-C9B9-46CC-A57F-4960CE74B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314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4500" b="1" i="0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4500" b="1" i="0">
                <a:solidFill>
                  <a:srgbClr val="122033"/>
                </a:solidFill>
                <a:latin typeface="Arial"/>
                <a:ea typeface="Arial"/>
                <a:cs typeface="Arial"/>
              </a:rPr>
              <a:t>33.25%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C357DA-FE73-4B1A-9325-CEC7AF5BD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622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35C47A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5C47A"/>
                </a:solidFill>
                <a:latin typeface="Arial"/>
                <a:ea typeface="Arial"/>
                <a:cs typeface="Arial"/>
              </a:rPr>
              <a:t>task pass rate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21569C-42E7-4334-B269-E0F136F68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638300"/>
            <a:ext cx="314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4500" b="1" i="0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4500" b="1" i="0">
                <a:solidFill>
                  <a:srgbClr val="122033"/>
                </a:solidFill>
                <a:latin typeface="Arial"/>
                <a:ea typeface="Arial"/>
                <a:cs typeface="Arial"/>
              </a:rPr>
              <a:t>40.56%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7ACCBF-8B54-453F-8DB8-F67373840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3622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4A9BC2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4A9BC2"/>
                </a:solidFill>
                <a:latin typeface="Arial"/>
                <a:ea typeface="Arial"/>
                <a:cs typeface="Arial"/>
              </a:rPr>
              <a:t>cell accuracy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707E3F-92B4-48FB-A23B-662F67536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714500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3225" b="1" i="0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3225" b="1" i="0">
                <a:solidFill>
                  <a:srgbClr val="122033"/>
                </a:solidFill>
                <a:latin typeface="Arial"/>
                <a:ea typeface="Arial"/>
                <a:cs typeface="Arial"/>
              </a:rPr>
              <a:t>400/400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118762-3DA0-409F-83FF-0C01F13E0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622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853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 i="0">
                <a:solidFill>
                  <a:srgbClr val="667487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67487"/>
                </a:solidFill>
                <a:latin typeface="Arial"/>
                <a:ea typeface="Arial"/>
                <a:cs typeface="Arial"/>
              </a:rPr>
              <a:t>All 400 tasks evaluated, with no missing tasks or evaluator errors.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723900" y="3143250"/>
          <a:ext xmlns:a="http://schemas.openxmlformats.org/drawingml/2006/main" cx="10668000" cy="25527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3592e46faba462c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D35BEA-EAB5-42C7-94D3-AC9868F43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667487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67487"/>
                </a:solidFill>
                <a:latin typeface="Arial"/>
                <a:ea typeface="Arial"/>
                <a:cs typeface="Arial"/>
              </a:rPr>
              <a:t>120,824 of 297,882 target cells matched the reference workbook.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D4151B-AE70-4183-8EE9-0D11640FC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1D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14F7A6-5D50-44E3-81C0-5CC9B756A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667487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67487"/>
                </a:solidFill>
                <a:latin typeface="Arial"/>
                <a:ea typeface="Arial"/>
                <a:cs typeface="Arial"/>
              </a:rPr>
              <a:t>FORMULABENCH  ·  RESEARCH: EXCEL FORMULA GENERATION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6E1ED5-C5E5-4E6E-A9C3-9345293CC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 i="0">
                <a:solidFill>
                  <a:srgbClr val="667487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6748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8360668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7CA310F-D86A-49B1-89BF-9ACC6236B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300" b="1" i="0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122033"/>
                </a:solidFill>
                <a:latin typeface="Arial"/>
                <a:ea typeface="Arial"/>
                <a:cs typeface="Arial"/>
              </a:rPr>
              <a:t>Plausible formulas fail in four different ways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4C521C-D7B9-4C11-BD5B-BA691C346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 i="0">
                <a:solidFill>
                  <a:srgbClr val="667487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667487"/>
                </a:solidFill>
                <a:latin typeface="Arial"/>
                <a:ea typeface="Arial"/>
                <a:cs typeface="Arial"/>
              </a:rPr>
              <a:t>A workbook can open successfully while still producing the wrong investment result.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D85DE6-C57D-4AFC-ADE3-210DC1B15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85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 i="0">
                <a:solidFill>
                  <a:srgbClr val="35C47A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35C47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123DEB-300C-4DE7-8AF2-30B3FFB56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 i="0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22033"/>
                </a:solidFill>
                <a:latin typeface="Arial"/>
                <a:ea typeface="Arial"/>
                <a:cs typeface="Arial"/>
              </a:rPr>
              <a:t>Context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2B070C-DD95-4DA6-B3D3-6D1A8E576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9925"/>
            <a:ext cx="233362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0" i="0">
                <a:solidFill>
                  <a:srgbClr val="667487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67487"/>
                </a:solidFill>
                <a:latin typeface="Arial"/>
                <a:ea typeface="Arial"/>
                <a:cs typeface="Arial"/>
              </a:rPr>
              <a:t>The relevant worksheet, source range or existing formula never reaches the model.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77A824-6A1A-45A8-9F26-34C7BEF0E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924050"/>
            <a:ext cx="0" cy="2809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1D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FDDAB6-A8CF-4ED6-B995-CE42ED65D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952625"/>
            <a:ext cx="85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 i="0">
                <a:solidFill>
                  <a:srgbClr val="35C47A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35C47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111B4A-8A88-4577-A93F-7DFA6EFA7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6479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 i="0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22033"/>
                </a:solidFill>
                <a:latin typeface="Arial"/>
                <a:ea typeface="Arial"/>
                <a:cs typeface="Arial"/>
              </a:rPr>
              <a:t>Coverage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B92058-C0B7-4DAA-88ED-4BAF7D71B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209925"/>
            <a:ext cx="233362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0" i="0">
                <a:solidFill>
                  <a:srgbClr val="667487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67487"/>
                </a:solidFill>
                <a:latin typeface="Arial"/>
                <a:ea typeface="Arial"/>
                <a:cs typeface="Arial"/>
              </a:rPr>
              <a:t>A response misses required cells, writes to the same cell twice or changes cells outside the target.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FC0EF1-FD3D-4E89-AC6B-0A0679759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924050"/>
            <a:ext cx="0" cy="2809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1D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32F782-722C-4DC3-A6F1-4F6FAF6FA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952625"/>
            <a:ext cx="85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 i="0">
                <a:solidFill>
                  <a:srgbClr val="35C47A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35C47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B391CF-D829-4AD9-8C1E-F650630D3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6479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 i="0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22033"/>
                </a:solidFill>
                <a:latin typeface="Arial"/>
                <a:ea typeface="Arial"/>
                <a:cs typeface="Arial"/>
              </a:rPr>
              <a:t>Workbook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A28442-1A48-4B15-B249-77051951F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209925"/>
            <a:ext cx="233362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0" i="0">
                <a:solidFill>
                  <a:srgbClr val="667487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67487"/>
                </a:solidFill>
                <a:latin typeface="Arial"/>
                <a:ea typeface="Arial"/>
                <a:cs typeface="Arial"/>
              </a:rPr>
              <a:t>A formula introduces an unsafe reference, invalid type or broken workbook package.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DF4A8C-E2DE-4D3C-A54C-2A5E00C40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924050"/>
            <a:ext cx="0" cy="2809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1D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67A4B3-B502-43DA-AF49-625E390EE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952625"/>
            <a:ext cx="85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 i="0">
                <a:solidFill>
                  <a:srgbClr val="E76464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E7646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58B03C-40EF-4C1B-86D9-5989E4BF4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6479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 i="0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22033"/>
                </a:solidFill>
                <a:latin typeface="Arial"/>
                <a:ea typeface="Arial"/>
                <a:cs typeface="Arial"/>
              </a:rPr>
              <a:t>Semantics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85CD1C-64A4-4CA7-BBB6-C9A8ACF98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209925"/>
            <a:ext cx="233362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0" i="0">
                <a:solidFill>
                  <a:srgbClr val="667487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67487"/>
                </a:solidFill>
                <a:latin typeface="Arial"/>
                <a:ea typeface="Arial"/>
                <a:cs typeface="Arial"/>
              </a:rPr>
              <a:t>The formula runs but returns the wrong value or applies the wrong transformation.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C08DA3-6ED6-435F-A416-53752EA30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109728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A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03DD9F-261A-4AC0-8718-6A20A481F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81625"/>
            <a:ext cx="10401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Execution and correctness require separate checks.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E2D4CF-CD78-4ED6-95B9-505070F9F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1D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540AF3-BBF2-492B-A52E-A470D3711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667487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67487"/>
                </a:solidFill>
                <a:latin typeface="Arial"/>
                <a:ea typeface="Arial"/>
                <a:cs typeface="Arial"/>
              </a:rPr>
              <a:t>FORMULABENCH  ·  RESEARCH: EXCEL FORMULA GENERATION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35E5E5-6136-4CF1-AC2E-12D97193D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 i="0">
                <a:solidFill>
                  <a:srgbClr val="667487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6748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932879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6D48C19-F651-434A-9ACA-DE3398088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Current FormulaBench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5B172D-06CF-4C11-A5EC-C324DDB3C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 i="0">
                <a:solidFill>
                  <a:srgbClr val="AAB6C5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AAB6C5"/>
                </a:solidFill>
                <a:latin typeface="Arial"/>
                <a:ea typeface="Arial"/>
                <a:cs typeface="Arial"/>
              </a:rPr>
              <a:t>FormulaBench requests one logical model sample between deterministic preparation and validation.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0F782E-2A74-4E90-945C-786A4A957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35C47A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35C47A"/>
                </a:solidFill>
                <a:latin typeface="Arial"/>
                <a:ea typeface="Arial"/>
                <a:cs typeface="Arial"/>
              </a:rPr>
              <a:t>DETERMINISTIC PREPARATION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CD9124-735D-4D4B-B614-2CD9015D3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342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4425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39C090-CCB8-4099-BCEB-FDADA38D8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61925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 i="0">
                <a:solidFill>
                  <a:srgbClr val="35C47A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35C47A"/>
                </a:solidFill>
                <a:latin typeface="Arial"/>
                <a:ea typeface="Arial"/>
                <a:cs typeface="Arial"/>
              </a:rPr>
              <a:t>MODEL STEP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8D54DB-AE53-495D-BE45-91DDB7F1C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924050"/>
            <a:ext cx="1381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5C47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0D8364-D03F-4634-917D-0E9FD060A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192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 i="0">
                <a:solidFill>
                  <a:srgbClr val="35C47A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35C47A"/>
                </a:solidFill>
                <a:latin typeface="Arial"/>
                <a:ea typeface="Arial"/>
                <a:cs typeface="Arial"/>
              </a:rPr>
              <a:t>DETERMINISTIC VALIDATION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2FC325-A727-44B9-B846-2581FD948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924050"/>
            <a:ext cx="371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4425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B73320-A9A0-4341-BF12-44DC84194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47950"/>
            <a:ext cx="8553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5C47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1542F5-FBF2-4D21-A322-95DDD55EE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20955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Inspect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F449A7-0BE2-4BD7-B96D-8F5B3B42E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5622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72A"/>
          </a:solidFill>
          <a:ln xmlns:a="http://schemas.openxmlformats.org/drawingml/2006/main" w="19050">
            <a:solidFill>
              <a:srgbClr val="35C47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807C9F-DB7A-4F32-BB79-0699EE8D4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2933700"/>
            <a:ext cx="142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 i="0">
                <a:solidFill>
                  <a:srgbClr val="AAB6C5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AAB6C5"/>
                </a:solidFill>
                <a:latin typeface="Arial"/>
                <a:ea typeface="Arial"/>
                <a:cs typeface="Arial"/>
              </a:rPr>
              <a:t>Workbook and target cells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DBEE2E-B345-4DC2-9A82-B80C4EB1C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0955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Build 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BE1403-4709-45C0-BBB3-E70BD3302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5622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72A"/>
          </a:solidFill>
          <a:ln xmlns:a="http://schemas.openxmlformats.org/drawingml/2006/main" w="19050">
            <a:solidFill>
              <a:srgbClr val="35C47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60E56A-996E-4861-B65B-0B11986E8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93370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 i="0">
                <a:solidFill>
                  <a:srgbClr val="AAB6C5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AAB6C5"/>
                </a:solidFill>
                <a:latin typeface="Arial"/>
                <a:ea typeface="Arial"/>
                <a:cs typeface="Arial"/>
              </a:rPr>
              <a:t>Existing formulas and last calculated values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5B2108-03D4-4C3E-A62B-803097C5C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955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 i="0">
                <a:solidFill>
                  <a:srgbClr val="35C47A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35C47A"/>
                </a:solidFill>
                <a:latin typeface="Arial"/>
                <a:ea typeface="Arial"/>
                <a:cs typeface="Arial"/>
              </a:rPr>
              <a:t>Generate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8F2C29-288F-4B27-888D-DEA78F273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25241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C47A"/>
          </a:solidFill>
          <a:ln xmlns:a="http://schemas.openxmlformats.org/drawingml/2006/main" w="19050">
            <a:solidFill>
              <a:srgbClr val="35C47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2EFA87-1721-495C-82B1-5E282941E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3370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 i="0">
                <a:solidFill>
                  <a:srgbClr val="AAB6C5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AAB6C5"/>
                </a:solidFill>
                <a:latin typeface="Arial"/>
                <a:ea typeface="Arial"/>
                <a:cs typeface="Arial"/>
              </a:rPr>
              <a:t>One Qwen3.8-27B response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C60C1B-7A43-4A61-AD10-069BDEE1A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0955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Validate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5D404B-E837-4B1A-A024-FEA9819F5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25622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72A"/>
          </a:solidFill>
          <a:ln xmlns:a="http://schemas.openxmlformats.org/drawingml/2006/main" w="19050">
            <a:solidFill>
              <a:srgbClr val="35C47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0E9091-F36E-449F-A066-473CE42B2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93370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 i="0">
                <a:solidFill>
                  <a:srgbClr val="AAB6C5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AAB6C5"/>
                </a:solidFill>
                <a:latin typeface="Arial"/>
                <a:ea typeface="Arial"/>
                <a:cs typeface="Arial"/>
              </a:rPr>
              <a:t>Target coverage, value types and formula safety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2E4C87-3994-4504-B2EB-AB8789F59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955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Publish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979EC6-3652-477D-B43D-475C17519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25622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72A"/>
          </a:solidFill>
          <a:ln xmlns:a="http://schemas.openxmlformats.org/drawingml/2006/main" w="19050">
            <a:solidFill>
              <a:srgbClr val="35C47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D418EE-2B8F-4C6E-9196-A4AAFA5FA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93370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AAB6C5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AAB6C5"/>
                </a:solidFill>
                <a:latin typeface="Arial"/>
                <a:ea typeface="Arial"/>
                <a:cs typeface="Arial"/>
              </a:rPr>
              <a:t>Save a fresh copy and reopen it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6FD4D4-1AD5-4E6A-A41F-7320B1171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733675"/>
            <a:ext cx="0" cy="914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5C47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E30956-287D-4473-9467-F58CD486F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571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72A"/>
          </a:solidFill>
          <a:ln xmlns:a="http://schemas.openxmlformats.org/drawingml/2006/main" w="19050">
            <a:solidFill>
              <a:srgbClr val="35C47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96EA64F-ACFA-4453-9F48-6A2B21090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47662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35C47A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5C47A"/>
                </a:solidFill>
                <a:latin typeface="Arial"/>
                <a:ea typeface="Arial"/>
                <a:cs typeface="Arial"/>
              </a:rPr>
              <a:t>PUBLIC EVALUATION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71710A1-64E1-4329-94C3-D79B370BA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78142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Score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EC30898-6455-4F51-9BF6-E7AB2967E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12432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AAB6C5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AAB6C5"/>
                </a:solidFill>
                <a:latin typeface="Arial"/>
                <a:ea typeface="Arial"/>
                <a:cs typeface="Arial"/>
              </a:rPr>
              <a:t>Organiser-supplied evaluator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000DAC-8238-41A5-89D7-0ACA145C9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425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15137CD-98CE-4DAF-A75A-823150C83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7434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 i="0">
                <a:solidFill>
                  <a:srgbClr val="35C47A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35C47A"/>
                </a:solidFill>
                <a:latin typeface="Arial"/>
                <a:ea typeface="Arial"/>
                <a:cs typeface="Arial"/>
              </a:rPr>
              <a:t>MODEL SETTINGS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CB4AE01-085C-4F8B-A2E2-9759048B5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48250"/>
            <a:ext cx="371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model runs at temperature 0 with thinking disabled. It returns one response and has no unrestricted tools.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9D68673-C09D-4380-BE4F-9A8DEFE4F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74345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 i="0">
                <a:solidFill>
                  <a:srgbClr val="35C47A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35C47A"/>
                </a:solidFill>
                <a:latin typeface="Arial"/>
                <a:ea typeface="Arial"/>
                <a:cs typeface="Arial"/>
              </a:rPr>
              <a:t>DETERMINISTIC CONTROLS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30A22F0-38B9-4F81-AED1-7705B0F5B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048250"/>
            <a:ext cx="371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Exact target coverage and workbook checks run before the edited copy is published.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95D6B36-7EBC-4BAD-AF76-944C04B65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425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48237D5-F413-48BC-AEED-ACC7CD904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AAB6C5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AAB6C5"/>
                </a:solidFill>
                <a:latin typeface="Arial"/>
                <a:ea typeface="Arial"/>
                <a:cs typeface="Arial"/>
              </a:rPr>
              <a:t>FORMULABENCH  ·  RESEARCH: EXCEL FORMULA GENERATION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DD9EAAC-0ACA-495E-816A-93EC45B5E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 i="0">
                <a:solidFill>
                  <a:srgbClr val="AAB6C5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AAB6C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993362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34DEE5C-EA7B-49BD-BA8B-FB886F715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300" b="1" i="0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122033"/>
                </a:solidFill>
                <a:latin typeface="Arial"/>
                <a:ea typeface="Arial"/>
                <a:cs typeface="Arial"/>
              </a:rPr>
              <a:t>Workbook checks before publication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A648A0-2155-4DAB-BC20-4E95F6A57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 i="0">
                <a:solidFill>
                  <a:srgbClr val="667487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667487"/>
                </a:solidFill>
                <a:latin typeface="Arial"/>
                <a:ea typeface="Arial"/>
                <a:cs typeface="Arial"/>
              </a:rPr>
              <a:t>FormulaBench publishes an edited workbook only after every check passes.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638300"/>
          <a:ext xmlns:a="http://schemas.openxmlformats.org/drawingml/2006/main" cx="10972800" cy="3848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43125"/>
                <a:gridCol w="5905500"/>
                <a:gridCol w="2924175"/>
              </a:tblGrid>
              <a:tr h="457200">
                <a:tc>
                  <a:txBody>
                    <a:bodyPr lIns="85725" tIns="66675" rIns="85725" bIns="66675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Check</a:t>
                      </a:r>
                    </a:p>
                  </a:txBody>
                  <a:tcPr marL="91440" marR="91440" marT="45720" marB="45720" anchor="ctr">
                    <a:solidFill>
                      <a:srgbClr val="0B172A"/>
                    </a:solidFill>
                  </a:tcPr>
                </a:tc>
                <a:tc>
                  <a:txBody>
                    <a:bodyPr lIns="85725" tIns="66675" rIns="85725" bIns="66675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Required evidence</a:t>
                      </a:r>
                    </a:p>
                  </a:txBody>
                  <a:tcPr marL="91440" marR="91440" marT="45720" marB="45720" anchor="ctr">
                    <a:solidFill>
                      <a:srgbClr val="0B172A"/>
                    </a:solidFill>
                  </a:tcPr>
                </a:tc>
                <a:tc>
                  <a:txBody>
                    <a:bodyPr lIns="85725" tIns="66675" rIns="85725" bIns="66675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Failure behaviour</a:t>
                      </a:r>
                    </a:p>
                  </a:txBody>
                  <a:tcPr marL="91440" marR="91440" marT="45720" marB="45720" anchor="ctr">
                    <a:solidFill>
                      <a:srgbClr val="0B172A"/>
                    </a:solidFill>
                  </a:tcPr>
                </a:tc>
              </a:tr>
              <a:tr h="676275">
                <a:tc>
                  <a:txBody>
                    <a:bodyPr lIns="85725" tIns="66675" rIns="85725" bIns="66675"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22033"/>
                          </a:solidFill>
                          <a:latin typeface="Arial"/>
                          <a:ea typeface="Arial"/>
                          <a:cs typeface="Arial"/>
                        </a:rPr>
                        <a:t>Sheet + A1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22033"/>
                          </a:solidFill>
                          <a:latin typeface="Arial"/>
                          <a:ea typeface="Arial"/>
                          <a:cs typeface="Arial"/>
                        </a:rPr>
                        <a:t>Every target carries an explicit worksheet and cell address.</a:t>
                      </a:r>
                    </a:p>
                  </a:txBody>
                  <a:tcPr marL="91440" marR="91440" marT="45720" marB="45720"/>
                </a:tc>
                <a:tc>
                  <a:txBody>
                    <a:bodyPr lIns="85725" tIns="66675" rIns="85725" bIns="66675"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76B43"/>
                          </a:solidFill>
                          <a:latin typeface="Arial"/>
                          <a:ea typeface="Arial"/>
                          <a:cs typeface="Arial"/>
                        </a:rPr>
                        <a:t>Reject the full response</a:t>
                      </a:r>
                    </a:p>
                  </a:txBody>
                  <a:tcPr marL="91440" marR="91440" marT="45720" marB="45720" anchor="ctr">
                    <a:solidFill>
                      <a:srgbClr val="DDF6E8"/>
                    </a:solidFill>
                  </a:tcPr>
                </a:tc>
              </a:tr>
              <a:tr h="676275">
                <a:tc>
                  <a:txBody>
                    <a:bodyPr lIns="85725" tIns="66675" rIns="85725" bIns="66675"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22033"/>
                          </a:solidFill>
                          <a:latin typeface="Arial"/>
                          <a:ea typeface="Arial"/>
                          <a:cs typeface="Arial"/>
                        </a:rPr>
                        <a:t>Exact coverage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22033"/>
                          </a:solidFill>
                          <a:latin typeface="Arial"/>
                          <a:ea typeface="Arial"/>
                          <a:cs typeface="Arial"/>
                        </a:rPr>
                        <a:t>Finite targets contain no gaps, duplicates, overlaps or extra assignments.</a:t>
                      </a:r>
                    </a:p>
                  </a:txBody>
                  <a:tcPr marL="91440" marR="91440" marT="45720" marB="45720"/>
                </a:tc>
                <a:tc>
                  <a:txBody>
                    <a:bodyPr lIns="85725" tIns="66675" rIns="85725" bIns="66675"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76B43"/>
                          </a:solidFill>
                          <a:latin typeface="Arial"/>
                          <a:ea typeface="Arial"/>
                          <a:cs typeface="Arial"/>
                        </a:rPr>
                        <a:t>Reject the full response</a:t>
                      </a:r>
                    </a:p>
                  </a:txBody>
                  <a:tcPr marL="91440" marR="91440" marT="45720" marB="45720" anchor="ctr">
                    <a:solidFill>
                      <a:srgbClr val="DDF6E8"/>
                    </a:solidFill>
                  </a:tcPr>
                </a:tc>
              </a:tr>
              <a:tr h="676275">
                <a:tc>
                  <a:txBody>
                    <a:bodyPr lIns="85725" tIns="66675" rIns="85725" bIns="66675"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22033"/>
                          </a:solidFill>
                          <a:latin typeface="Arial"/>
                          <a:ea typeface="Arial"/>
                          <a:cs typeface="Arial"/>
                        </a:rPr>
                        <a:t>Typed values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22033"/>
                          </a:solidFill>
                          <a:latin typeface="Arial"/>
                          <a:ea typeface="Arial"/>
                          <a:cs typeface="Arial"/>
                        </a:rPr>
                        <a:t>Dates and datetimes use explicit Excel value types rather than locale-dependent text.</a:t>
                      </a:r>
                    </a:p>
                  </a:txBody>
                  <a:tcPr marL="91440" marR="91440" marT="45720" marB="45720"/>
                </a:tc>
                <a:tc>
                  <a:txBody>
                    <a:bodyPr lIns="85725" tIns="66675" rIns="85725" bIns="66675"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76B43"/>
                          </a:solidFill>
                          <a:latin typeface="Arial"/>
                          <a:ea typeface="Arial"/>
                          <a:cs typeface="Arial"/>
                        </a:rPr>
                        <a:t>Reject invalid schema</a:t>
                      </a:r>
                    </a:p>
                  </a:txBody>
                  <a:tcPr marL="91440" marR="91440" marT="45720" marB="45720" anchor="ctr">
                    <a:solidFill>
                      <a:srgbClr val="DDF6E8"/>
                    </a:solidFill>
                  </a:tcPr>
                </a:tc>
              </a:tr>
              <a:tr h="676275">
                <a:tc>
                  <a:txBody>
                    <a:bodyPr lIns="85725" tIns="66675" rIns="85725" bIns="66675"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22033"/>
                          </a:solidFill>
                          <a:latin typeface="Arial"/>
                          <a:ea typeface="Arial"/>
                          <a:cs typeface="Arial"/>
                        </a:rPr>
                        <a:t>Formula gate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22033"/>
                          </a:solidFill>
                          <a:latin typeface="Arial"/>
                          <a:ea typeface="Arial"/>
                          <a:cs typeface="Arial"/>
                        </a:rPr>
                        <a:t>External paths, URIs, DDE and high-risk executable or data functions remain blocked.</a:t>
                      </a:r>
                    </a:p>
                  </a:txBody>
                  <a:tcPr marL="91440" marR="91440" marT="45720" marB="45720"/>
                </a:tc>
                <a:tc>
                  <a:txBody>
                    <a:bodyPr lIns="85725" tIns="66675" rIns="85725" bIns="66675"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76B43"/>
                          </a:solidFill>
                          <a:latin typeface="Arial"/>
                          <a:ea typeface="Arial"/>
                          <a:cs typeface="Arial"/>
                        </a:rPr>
                        <a:t>Reject unsafe formula</a:t>
                      </a:r>
                    </a:p>
                  </a:txBody>
                  <a:tcPr marL="91440" marR="91440" marT="45720" marB="45720" anchor="ctr">
                    <a:solidFill>
                      <a:srgbClr val="DDF6E8"/>
                    </a:solidFill>
                  </a:tcPr>
                </a:tc>
              </a:tr>
              <a:tr h="676275">
                <a:tc>
                  <a:txBody>
                    <a:bodyPr lIns="85725" tIns="66675" rIns="85725" bIns="66675"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22033"/>
                          </a:solidFill>
                          <a:latin typeface="Arial"/>
                          <a:ea typeface="Arial"/>
                          <a:cs typeface="Arial"/>
                        </a:rPr>
                        <a:t>Save and reopen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22033"/>
                          </a:solidFill>
                          <a:latin typeface="Arial"/>
                          <a:ea typeface="Arial"/>
                          <a:cs typeface="Arial"/>
                        </a:rPr>
                        <a:t>The system saves a fresh copy, reopens it and verifies the target cells.</a:t>
                      </a:r>
                    </a:p>
                  </a:txBody>
                  <a:tcPr marL="91440" marR="91440" marT="45720" marB="45720"/>
                </a:tc>
                <a:tc>
                  <a:txBody>
                    <a:bodyPr lIns="85725" tIns="66675" rIns="85725" bIns="66675"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76B43"/>
                          </a:solidFill>
                          <a:latin typeface="Arial"/>
                          <a:ea typeface="Arial"/>
                          <a:cs typeface="Arial"/>
                        </a:rPr>
                        <a:t>Return the untouched workbook</a:t>
                      </a:r>
                    </a:p>
                  </a:txBody>
                  <a:tcPr marL="91440" marR="91440" marT="45720" marB="45720" anchor="ctr">
                    <a:solidFill>
                      <a:srgbClr val="DDF6E8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0003E5-CE5C-49BB-87D2-E502D8D40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22033"/>
                </a:solidFill>
                <a:latin typeface="Arial"/>
                <a:ea typeface="Arial"/>
                <a:cs typeface="Arial"/>
              </a:rPr>
              <a:t>Rejected responses leave the supplied workbook unchanged.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1B28C0-A66D-426D-A731-C468B74DE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1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B17D3F-8DD2-4C95-BFD0-A507996C7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667487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67487"/>
                </a:solidFill>
                <a:latin typeface="Arial"/>
                <a:ea typeface="Arial"/>
                <a:cs typeface="Arial"/>
              </a:rPr>
              <a:t>FORMULABENCH  ·  RESEARCH: EXCEL FORMULA GENERATION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0F3EA8-AC59-4676-B447-9D67BEB2E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 i="0">
                <a:solidFill>
                  <a:srgbClr val="667487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6748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61938462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C6E3B83-E3DB-4FAA-806F-0E6AA7EEF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 i="0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22033"/>
                </a:solidFill>
                <a:latin typeface="Arial"/>
                <a:ea typeface="Arial"/>
                <a:cs typeface="Arial"/>
              </a:rPr>
              <a:t>Most wrong cells were in structurally valid responses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7E72CD-5C12-4A6B-BCA2-27972ED9F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03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 i="0">
                <a:solidFill>
                  <a:srgbClr val="667487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667487"/>
                </a:solidFill>
                <a:latin typeface="Arial"/>
                <a:ea typeface="Arial"/>
                <a:cs typeface="Arial"/>
              </a:rPr>
              <a:t>Responses that passed structural checks contained 94.84% of wrong cells. Rejected responses contained 5.16%.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419100" y="1638300"/>
          <a:ext xmlns:a="http://schemas.openxmlformats.org/drawingml/2006/main" cx="49530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b47a07c53524778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372F17-8199-49AA-8B13-B91399BB7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762125"/>
            <a:ext cx="4572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5100" b="1" i="0">
                <a:solidFill>
                  <a:srgbClr val="E76464"/>
                </a:solidFill>
                <a:latin typeface="Arial"/>
                <a:ea typeface="Arial"/>
                <a:cs typeface="Arial"/>
              </a:defRPr>
            </a:pPr>
            <a:r>
              <a:rPr sz="5100" b="1" i="0">
                <a:solidFill>
                  <a:srgbClr val="E76464"/>
                </a:solidFill>
                <a:latin typeface="Arial"/>
                <a:ea typeface="Arial"/>
                <a:cs typeface="Arial"/>
              </a:rPr>
              <a:t>94.84%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21D889-C2DB-4D44-ABDC-FBACC738B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657475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 i="0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22033"/>
                </a:solidFill>
                <a:latin typeface="Arial"/>
                <a:ea typeface="Arial"/>
                <a:cs typeface="Arial"/>
              </a:rPr>
              <a:t>221 structurally valid responses still contained incorrect cells.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315F70-C7F7-4BAA-B1DC-FADDF3F48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6004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1D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E65CEF-485B-42AF-9C4C-0D79EF3A0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857625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 i="0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22033"/>
                </a:solidFill>
                <a:latin typeface="Arial"/>
                <a:ea typeface="Arial"/>
                <a:cs typeface="Arial"/>
              </a:rPr>
              <a:t>84.76%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0BD622-B39D-4D66-8464-CF2AA968D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829050"/>
            <a:ext cx="295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 i="0">
                <a:solidFill>
                  <a:srgbClr val="667487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667487"/>
                </a:solidFill>
                <a:latin typeface="Arial"/>
                <a:ea typeface="Arial"/>
                <a:cs typeface="Arial"/>
              </a:rPr>
              <a:t>of all wrong cells came from four transformations with more than 10,000 target cells.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0203A2-725B-43BF-A61E-F6374AA3A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89585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 i="0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22033"/>
                </a:solidFill>
                <a:latin typeface="Arial"/>
                <a:ea typeface="Arial"/>
                <a:cs typeface="Arial"/>
              </a:rPr>
              <a:t>Context truncation pass rate: 24.10%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350" b="0" i="0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22033"/>
                </a:solidFill>
                <a:latin typeface="Arial"/>
                <a:ea typeface="Arial"/>
                <a:cs typeface="Arial"/>
              </a:rPr>
              <a:t>No truncation pass rate: 41.95%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9FEF13-27A2-4740-8025-D7245E470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5619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1">
                <a:solidFill>
                  <a:srgbClr val="667487"/>
                </a:solidFill>
                <a:latin typeface="Arial"/>
                <a:ea typeface="Arial"/>
                <a:cs typeface="Arial"/>
              </a:defRPr>
            </a:pPr>
            <a:r>
              <a:rPr sz="1200" b="0" i="1">
                <a:solidFill>
                  <a:srgbClr val="667487"/>
                </a:solidFill>
                <a:latin typeface="Arial"/>
                <a:ea typeface="Arial"/>
                <a:cs typeface="Arial"/>
              </a:rPr>
              <a:t>This association does not establish causation.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EFD6A5-ADE2-4E35-9C07-39007C5C7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1D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288709-6F7B-44B1-AE89-70DC61AB0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667487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67487"/>
                </a:solidFill>
                <a:latin typeface="Arial"/>
                <a:ea typeface="Arial"/>
                <a:cs typeface="Arial"/>
              </a:rPr>
              <a:t>FORMULABENCH  ·  RESEARCH: EXCEL FORMULA GENERATION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057E85-8DA4-471C-9F41-899173D0E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 i="0">
                <a:solidFill>
                  <a:srgbClr val="667487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67487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24932248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FE1E83B-8D21-4930-A3D0-6EEF84CD8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059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300" b="1" i="0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122033"/>
                </a:solidFill>
                <a:latin typeface="Arial"/>
                <a:ea typeface="Arial"/>
                <a:cs typeface="Arial"/>
              </a:rPr>
              <a:t>Organiser reference and FormulaBench use different test conditions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22269D-9905-40E3-A2B1-74F1F7A18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 i="0">
                <a:solidFill>
                  <a:srgbClr val="667487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667487"/>
                </a:solidFill>
                <a:latin typeface="Arial"/>
                <a:ea typeface="Arial"/>
                <a:cs typeface="Arial"/>
              </a:rPr>
              <a:t>The base model is the same. The inference setup and requested output differ.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C9DDF3-D769-437C-8367-306F4C7BD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247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4200" b="1" i="0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4200" b="1" i="0">
                <a:solidFill>
                  <a:srgbClr val="122033"/>
                </a:solidFill>
                <a:latin typeface="Arial"/>
                <a:ea typeface="Arial"/>
                <a:cs typeface="Arial"/>
              </a:rPr>
              <a:t>≈59%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0AB10A-5FA5-4032-81ED-0A5E6626C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860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66748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7487"/>
                </a:solidFill>
                <a:latin typeface="Arial"/>
                <a:ea typeface="Arial"/>
                <a:cs typeface="Arial"/>
              </a:rPr>
              <a:t>organiser reference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EA3DA6-0217-4F2E-BA23-E82E4BEA3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1925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4200" b="1" i="0">
                <a:solidFill>
                  <a:srgbClr val="35C47A"/>
                </a:solidFill>
                <a:latin typeface="Arial"/>
                <a:ea typeface="Arial"/>
                <a:cs typeface="Arial"/>
              </a:defRPr>
            </a:pPr>
            <a:r>
              <a:rPr sz="4200" b="1" i="0">
                <a:solidFill>
                  <a:srgbClr val="35C47A"/>
                </a:solidFill>
                <a:latin typeface="Arial"/>
                <a:ea typeface="Arial"/>
                <a:cs typeface="Arial"/>
              </a:rPr>
              <a:t>33.25%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E6B10D-ED0F-48C3-A678-C6E9C614D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2860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66748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7487"/>
                </a:solidFill>
                <a:latin typeface="Arial"/>
                <a:ea typeface="Arial"/>
                <a:cs typeface="Arial"/>
              </a:rPr>
              <a:t>FormulaBench public self-evaluation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609600" y="3048000"/>
          <a:ext xmlns:a="http://schemas.openxmlformats.org/drawingml/2006/main" cx="10972800" cy="2381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3105150"/>
                <a:gridCol w="2571750"/>
                <a:gridCol w="3486150"/>
              </a:tblGrid>
              <a:tr h="457200">
                <a:tc>
                  <a:txBody>
                    <a:bodyPr lIns="85725" tIns="66675" rIns="85725" bIns="66675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System</a:t>
                      </a:r>
                    </a:p>
                  </a:txBody>
                  <a:tcPr marL="91440" marR="91440" marT="45720" marB="45720" anchor="ctr">
                    <a:solidFill>
                      <a:srgbClr val="0B172A"/>
                    </a:solidFill>
                  </a:tcPr>
                </a:tc>
                <a:tc>
                  <a:txBody>
                    <a:bodyPr lIns="85725" tIns="66675" rIns="85725" bIns="66675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Inference mode</a:t>
                      </a:r>
                    </a:p>
                  </a:txBody>
                  <a:tcPr marL="91440" marR="91440" marT="45720" marB="45720" anchor="ctr">
                    <a:solidFill>
                      <a:srgbClr val="0B172A"/>
                    </a:solidFill>
                  </a:tcPr>
                </a:tc>
                <a:tc>
                  <a:txBody>
                    <a:bodyPr lIns="85725" tIns="66675" rIns="85725" bIns="66675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Requested output</a:t>
                      </a:r>
                    </a:p>
                  </a:txBody>
                  <a:tcPr marL="91440" marR="91440" marT="45720" marB="45720" anchor="ctr">
                    <a:solidFill>
                      <a:srgbClr val="0B172A"/>
                    </a:solidFill>
                  </a:tcPr>
                </a:tc>
                <a:tc>
                  <a:txBody>
                    <a:bodyPr lIns="85725" tIns="66675" rIns="85725" bIns="66675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Validation evidence</a:t>
                      </a:r>
                    </a:p>
                  </a:txBody>
                  <a:tcPr marL="91440" marR="91440" marT="45720" marB="45720" anchor="ctr">
                    <a:solidFill>
                      <a:srgbClr val="0B172A"/>
                    </a:solidFill>
                  </a:tcPr>
                </a:tc>
              </a:tr>
              <a:tr h="96202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22033"/>
                          </a:solidFill>
                          <a:latin typeface="Arial"/>
                          <a:ea typeface="Arial"/>
                          <a:cs typeface="Arial"/>
                        </a:rPr>
                        <a:t>Organiser reference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22033"/>
                          </a:solidFill>
                          <a:latin typeface="Arial"/>
                          <a:ea typeface="Arial"/>
                          <a:cs typeface="Arial"/>
                        </a:rPr>
                        <a:t>xhigh reasoning inferred from the published runner and cookbook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22033"/>
                          </a:solidFill>
                          <a:latin typeface="Arial"/>
                          <a:ea typeface="Arial"/>
                          <a:cs typeface="Arial"/>
                        </a:rPr>
                        <a:t>Final scalar values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22033"/>
                          </a:solidFill>
                          <a:latin typeface="Arial"/>
                          <a:ea typeface="Arial"/>
                          <a:cs typeface="Arial"/>
                        </a:rPr>
                        <a:t>≈59% reported. Run traces and renderer metadata not published</a:t>
                      </a:r>
                    </a:p>
                  </a:txBody>
                  <a:tcPr marL="91440" marR="91440" marT="45720" marB="45720"/>
                </a:tc>
              </a:tr>
              <a:tr h="962025">
                <a:tc>
                  <a:txBody>
                    <a:bodyPr lIns="85725" tIns="66675" rIns="85725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275" b="1">
                          <a:solidFill>
                            <a:srgbClr val="122033"/>
                          </a:solidFill>
                          <a:latin typeface="Arial"/>
                          <a:ea typeface="Arial"/>
                          <a:cs typeface="Arial"/>
                        </a:rPr>
                        <a:t>FormulaBench</a:t>
                      </a:r>
                    </a:p>
                  </a:txBody>
                  <a:tcPr marL="91440" marR="91440" marT="45720" marB="45720" anchor="ctr">
                    <a:solidFill>
                      <a:srgbClr val="35C47A"/>
                    </a:solidFill>
                  </a:tcPr>
                </a:tc>
                <a:tc>
                  <a:txBody>
                    <a:bodyPr lIns="85725" tIns="66675" rIns="85725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275" b="0">
                          <a:solidFill>
                            <a:srgbClr val="122033"/>
                          </a:solidFill>
                          <a:latin typeface="Arial"/>
                          <a:ea typeface="Arial"/>
                          <a:cs typeface="Arial"/>
                        </a:rPr>
                        <a:t>One native Tinker sample at temperature 0 with thinking disabled</a:t>
                      </a:r>
                    </a:p>
                  </a:txBody>
                  <a:tcPr marL="91440" marR="91440" marT="45720" marB="45720" anchor="ctr">
                    <a:solidFill>
                      <a:srgbClr val="DDF6E8"/>
                    </a:solidFill>
                  </a:tcPr>
                </a:tc>
                <a:tc>
                  <a:txBody>
                    <a:bodyPr lIns="85725" tIns="66675" rIns="85725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275" b="0">
                          <a:solidFill>
                            <a:srgbClr val="122033"/>
                          </a:solidFill>
                          <a:latin typeface="Arial"/>
                          <a:ea typeface="Arial"/>
                          <a:cs typeface="Arial"/>
                        </a:rPr>
                        <a:t>Executable formulas and typed transformations</a:t>
                      </a:r>
                    </a:p>
                  </a:txBody>
                  <a:tcPr marL="91440" marR="91440" marT="45720" marB="45720" anchor="ctr">
                    <a:solidFill>
                      <a:srgbClr val="DDF6E8"/>
                    </a:solidFill>
                  </a:tcPr>
                </a:tc>
                <a:tc>
                  <a:txBody>
                    <a:bodyPr lIns="85725" tIns="66675" rIns="85725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275" b="0">
                          <a:solidFill>
                            <a:srgbClr val="122033"/>
                          </a:solidFill>
                          <a:latin typeface="Arial"/>
                          <a:ea typeface="Arial"/>
                          <a:cs typeface="Arial"/>
                        </a:rPr>
                        <a:t>Organiser-supplied evaluator. Exact coverage checks and full traces are available</a:t>
                      </a:r>
                    </a:p>
                  </a:txBody>
                  <a:tcPr marL="91440" marR="91440" marT="45720" marB="45720" anchor="ctr">
                    <a:solidFill>
                      <a:srgbClr val="DDF6E8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8592E5-FC3F-4CD4-98ED-AFC5A9F5C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 i="0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22033"/>
                </a:solidFill>
                <a:latin typeface="Arial"/>
                <a:ea typeface="Arial"/>
                <a:cs typeface="Arial"/>
              </a:rPr>
              <a:t>The published evidence does not isolate the effect of any one component.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6E6AC8-7968-4ACB-819A-D0F9FF031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1D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2767B0-9FFF-4422-A227-A297136FB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667487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67487"/>
                </a:solidFill>
                <a:latin typeface="Arial"/>
                <a:ea typeface="Arial"/>
                <a:cs typeface="Arial"/>
              </a:rPr>
              <a:t>FORMULABENCH  ·  RESEARCH: EXCEL FORMULA GENERATION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CE1994-53C0-46EE-A963-379B83991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 i="0">
                <a:solidFill>
                  <a:srgbClr val="667487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67487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35473702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85F2B5B-2F92-444C-9059-DD3013963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7431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Next architecture: separate formula generation from large transformations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B9B555-8C3B-40B2-AFC8-BB74EBB12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 i="0">
                <a:solidFill>
                  <a:srgbClr val="AAB6C5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AAB6C5"/>
                </a:solidFill>
                <a:latin typeface="Arial"/>
                <a:ea typeface="Arial"/>
                <a:cs typeface="Arial"/>
              </a:rPr>
              <a:t>Formula tasks use the model. Large transformations use fixed operations.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52CE17-52EF-4F05-A714-1DC55B7B2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35C47A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5C47A"/>
                </a:solidFill>
                <a:latin typeface="Arial"/>
                <a:ea typeface="Arial"/>
                <a:cs typeface="Arial"/>
              </a:rPr>
              <a:t>FORMULA TASKS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12B786-E45E-435A-B244-1BB31E44A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3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Generate a formula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6F234E-086B-4E8C-A5FC-3A6C46BBF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4572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0" i="0">
                <a:solidFill>
                  <a:srgbClr val="C6D2DF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C6D2DF"/>
                </a:solidFill>
                <a:latin typeface="Arial"/>
                <a:ea typeface="Arial"/>
                <a:cs typeface="Arial"/>
              </a:rPr>
              <a:t>Recalculate locally and run task-specific checks before publishing the workbook.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EB96B4-7D0A-4B4A-89AE-A2EFAA74A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8478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35C47A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5C47A"/>
                </a:solidFill>
                <a:latin typeface="Arial"/>
                <a:ea typeface="Arial"/>
                <a:cs typeface="Arial"/>
              </a:rPr>
              <a:t>LARGE TRANSFORMATIONS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454D9E-0F26-48E2-B297-692A646E4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47900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3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Apply a fixed operation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69C495-F4E2-4C48-99B2-ECB3A1993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819400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0" i="0">
                <a:solidFill>
                  <a:srgbClr val="C6D2DF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C6D2DF"/>
                </a:solidFill>
                <a:latin typeface="Arial"/>
                <a:ea typeface="Arial"/>
                <a:cs typeface="Arial"/>
              </a:rPr>
              <a:t>Use rule-based code for filtering, sorting, appending, grouping, deduplicating and clearing.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6A3CD3-9B02-4B97-B286-6B94626DB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790700"/>
            <a:ext cx="0" cy="2000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425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851B38-55DE-469A-BB1C-F3A6B1B6C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109728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43B"/>
          </a:solidFill>
          <a:ln xmlns:a="http://schemas.openxmlformats.org/drawingml/2006/main" w="9525">
            <a:solidFill>
              <a:srgbClr val="34425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8D9F8C-5547-4FB6-8A0E-E03F45C8E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767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35C47A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35C47A"/>
                </a:solidFill>
                <a:latin typeface="Arial"/>
                <a:ea typeface="Arial"/>
                <a:cs typeface="Arial"/>
              </a:rPr>
              <a:t>LIVE RESEARCH DEMO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78137C-4D72-453E-A4DB-1A1B189F3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10125"/>
            <a:ext cx="571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FFFFF"/>
                </a:solidFill>
                <a:latin typeface="Arial"/>
                <a:ea typeface="Arial"/>
                <a:cs typeface="Arial"/>
                <a:hlinkClick xmlns:r="http://schemas.openxmlformats.org/officeDocument/2006/relationships" r:id="R5577c945197f498f"/>
              </a:rPr>
              <a:t>masterasnackin.github.io/FormulaBench/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45F149-FA9A-4396-B4C6-9EE3D9D6E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7675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35C47A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35C47A"/>
                </a:solidFill>
                <a:latin typeface="Arial"/>
                <a:ea typeface="Arial"/>
                <a:cs typeface="Arial"/>
              </a:rPr>
              <a:t>PUBLIC REPOSITORY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BE25ED-5DCD-40C0-A36B-C0AB99FED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810125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  <a:hlinkClick xmlns:r="http://schemas.openxmlformats.org/officeDocument/2006/relationships" r:id="R59c6d52320114778"/>
              </a:rPr>
              <a:t>github.com/MasteraSnackin/FormulaBench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B8171D-727A-435E-9B77-B44B5E700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904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 i="0">
                <a:solidFill>
                  <a:srgbClr val="AAB6C5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AAB6C5"/>
                </a:solidFill>
                <a:latin typeface="Arial"/>
                <a:ea typeface="Arial"/>
                <a:cs typeface="Arial"/>
              </a:rPr>
              <a:t>The organiser's private benchmark is the unseen evaluation.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0CDF5C-FAB4-4570-AC7A-239ABCAA7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425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11D65B-2D1B-42DC-BEFB-DABDC02F0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AAB6C5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AAB6C5"/>
                </a:solidFill>
                <a:latin typeface="Arial"/>
                <a:ea typeface="Arial"/>
                <a:cs typeface="Arial"/>
              </a:rPr>
              <a:t>FORMULABENCH  ·  RESEARCH: EXCEL FORMULA GENERATION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48A1B2-6F53-46C6-9931-A1792C35A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 i="0">
                <a:solidFill>
                  <a:srgbClr val="AAB6C5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AAB6C5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646895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2026-09-06T00:48:04.8980000Z</dcterms:created>
  <dcterms:modified xsi:type="dcterms:W3CDTF">2026-09-06T00:48:04.8980000Z</dcterms:modified>
</coreProperties>
</file>