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70f1811c4341a6" /><Relationship Type="http://schemas.openxmlformats.org/officeDocument/2006/relationships/extended-properties" Target="/docProps/app.xml" Id="R90bf6d4e775144c0" /><Relationship Type="http://schemas.openxmlformats.org/officeDocument/2006/relationships/officeDocument" Target="/ppt/presentation.xml" Id="R8b9d9006926a4837" /></Relationships>
</file>

<file path=ppt/presentation.xml><?xml version="1.0" encoding="utf-8"?>
<p:presentation xmlns:p="http://schemas.openxmlformats.org/presentationml/2006/main">
  <p:sldMasterIdLst>
    <p:sldMasterId xmlns:r="http://schemas.openxmlformats.org/officeDocument/2006/relationships" id="2147483648" r:id="Rea4e17ec57aa4aef"/>
  </p:sldMasterIdLst>
  <p:notesMasterIdLst>
    <p:notesMasterId xmlns:r="http://schemas.openxmlformats.org/officeDocument/2006/relationships" r:id="R2b9379f6bb854a7a"/>
  </p:notesMasterIdLst>
  <p:sldIdLst>
    <p:sldId xmlns:r="http://schemas.openxmlformats.org/officeDocument/2006/relationships" id="256" r:id="R41fd84988a554578"/>
    <p:sldId xmlns:r="http://schemas.openxmlformats.org/officeDocument/2006/relationships" id="257" r:id="R3dba0081c83341d1"/>
    <p:sldId xmlns:r="http://schemas.openxmlformats.org/officeDocument/2006/relationships" id="258" r:id="Rca81b2286c944989"/>
    <p:sldId xmlns:r="http://schemas.openxmlformats.org/officeDocument/2006/relationships" id="259" r:id="Rc9d884b58d454097"/>
    <p:sldId xmlns:r="http://schemas.openxmlformats.org/officeDocument/2006/relationships" id="260" r:id="R7127218277134565"/>
    <p:sldId xmlns:r="http://schemas.openxmlformats.org/officeDocument/2006/relationships" id="261" r:id="R229ed7c731c645c9"/>
    <p:sldId xmlns:r="http://schemas.openxmlformats.org/officeDocument/2006/relationships" id="262" r:id="R0bdc8bb6f4f045e1"/>
    <p:sldId xmlns:r="http://schemas.openxmlformats.org/officeDocument/2006/relationships" id="263" r:id="R013a95f7857f4642"/>
    <p:sldId xmlns:r="http://schemas.openxmlformats.org/officeDocument/2006/relationships" id="264" r:id="Rb7b670394023491d"/>
    <p:sldId xmlns:r="http://schemas.openxmlformats.org/officeDocument/2006/relationships" id="265" r:id="R12a863c9adca43bc"/>
    <p:sldId xmlns:r="http://schemas.openxmlformats.org/officeDocument/2006/relationships" id="266" r:id="R7113deacb5f345b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75ba80c624485e" /><Relationship Type="http://schemas.openxmlformats.org/officeDocument/2006/relationships/slideMaster" Target="/ppt/slideMasters/slideMaster1.xml" Id="Rea4e17ec57aa4aef" /><Relationship Type="http://schemas.openxmlformats.org/officeDocument/2006/relationships/notesMaster" Target="/ppt/notesMasters/notesMaster1.xml" Id="R2b9379f6bb854a7a" /><Relationship Type="http://schemas.openxmlformats.org/officeDocument/2006/relationships/presProps" Target="/ppt/presProps.xml" Id="Re981d388909c428a" /><Relationship Type="http://schemas.openxmlformats.org/officeDocument/2006/relationships/tableStyles" Target="/ppt/tableStyles.xml" Id="R910148f8652e47e7" /><Relationship Type="http://schemas.openxmlformats.org/officeDocument/2006/relationships/slide" Target="/ppt/slides/slide1.xml" Id="R41fd84988a554578" /><Relationship Type="http://schemas.openxmlformats.org/officeDocument/2006/relationships/slide" Target="/ppt/slides/slide2.xml" Id="R3dba0081c83341d1" /><Relationship Type="http://schemas.openxmlformats.org/officeDocument/2006/relationships/slide" Target="/ppt/slides/slide3.xml" Id="Rca81b2286c944989" /><Relationship Type="http://schemas.openxmlformats.org/officeDocument/2006/relationships/slide" Target="/ppt/slides/slide4.xml" Id="Rc9d884b58d454097" /><Relationship Type="http://schemas.openxmlformats.org/officeDocument/2006/relationships/slide" Target="/ppt/slides/slide5.xml" Id="R7127218277134565" /><Relationship Type="http://schemas.openxmlformats.org/officeDocument/2006/relationships/slide" Target="/ppt/slides/slide6.xml" Id="R229ed7c731c645c9" /><Relationship Type="http://schemas.openxmlformats.org/officeDocument/2006/relationships/slide" Target="/ppt/slides/slide7.xml" Id="R0bdc8bb6f4f045e1" /><Relationship Type="http://schemas.openxmlformats.org/officeDocument/2006/relationships/slide" Target="/ppt/slides/slide8.xml" Id="R013a95f7857f4642" /><Relationship Type="http://schemas.openxmlformats.org/officeDocument/2006/relationships/slide" Target="/ppt/slides/slide9.xml" Id="Rb7b670394023491d" /><Relationship Type="http://schemas.openxmlformats.org/officeDocument/2006/relationships/slide" Target="/ppt/slides/slide10.xml" Id="R12a863c9adca43bc" /><Relationship Type="http://schemas.openxmlformats.org/officeDocument/2006/relationships/slide" Target="/ppt/slides/slide11.xml" Id="R7113deacb5f345b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917f7254e2c41b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ff8636849b4fd5" /><Relationship Type="http://schemas.openxmlformats.org/officeDocument/2006/relationships/notesMaster" Target="/ppt/notesMasters/notesMaster1.xml" Id="Rff680b7fd2d34375"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17329c6012401b" /><Relationship Type="http://schemas.openxmlformats.org/officeDocument/2006/relationships/notesMaster" Target="/ppt/notesMasters/notesMaster1.xml" Id="Rfbdf2d3d4a97429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36c8698ed9c42cc" /><Relationship Type="http://schemas.openxmlformats.org/officeDocument/2006/relationships/notesMaster" Target="/ppt/notesMasters/notesMaster1.xml" Id="R1305a54e62e04c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6cb13ecaec4c61" /><Relationship Type="http://schemas.openxmlformats.org/officeDocument/2006/relationships/notesMaster" Target="/ppt/notesMasters/notesMaster1.xml" Id="Rf4191f50fff247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ff8bf601d24a29" /><Relationship Type="http://schemas.openxmlformats.org/officeDocument/2006/relationships/notesMaster" Target="/ppt/notesMasters/notesMaster1.xml" Id="R3f91a26fda41472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283f3f703c4718" /><Relationship Type="http://schemas.openxmlformats.org/officeDocument/2006/relationships/notesMaster" Target="/ppt/notesMasters/notesMaster1.xml" Id="R6de244ddf82f477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6608ba1b70d4e76" /><Relationship Type="http://schemas.openxmlformats.org/officeDocument/2006/relationships/notesMaster" Target="/ppt/notesMasters/notesMaster1.xml" Id="R3a934110fed3457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3df50d6a96a4407" /><Relationship Type="http://schemas.openxmlformats.org/officeDocument/2006/relationships/notesMaster" Target="/ppt/notesMasters/notesMaster1.xml" Id="R9927f19ece1942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cadcbb4ec814d8e" /><Relationship Type="http://schemas.openxmlformats.org/officeDocument/2006/relationships/notesMaster" Target="/ppt/notesMasters/notesMaster1.xml" Id="R54029950d842433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4d36662b3524665" /><Relationship Type="http://schemas.openxmlformats.org/officeDocument/2006/relationships/notesMaster" Target="/ppt/notesMasters/notesMaster1.xml" Id="R36875bb4daaf4b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c751a62a344b1e" /><Relationship Type="http://schemas.openxmlformats.org/officeDocument/2006/relationships/notesMaster" Target="/ppt/notesMasters/notesMaster1.xml" Id="R49e48a2eb8ab41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https://github.com/MasteraSnackin/FormulaBench</a:t>
            </a:r>
          </a:p>
          <a:p xmlns:a="http://schemas.openxmlformats.org/drawingml/2006/main">
            <a:r>
              <a:t>README.md</a:t>
            </a:r>
          </a:p>
          <a:p xmlns:a="http://schemas.openxmlformats.org/drawingml/2006/main">
            <a:r>
              <a:t>SUBMISSION.md</a:t>
            </a:r>
          </a:p>
          <a:p xmlns:a="http://schemas.openxmlformats.org/drawingml/2006/main">
            <a:r>
              <a:t>The formula shown on the cover is an illustrative Excel formula, not a benchmark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submissions/formulabench/results.json</a:t>
            </a:r>
          </a:p>
          <a:p xmlns:a="http://schemas.openxmlformats.org/drawingml/2006/main">
            <a:r>
              <a:t>SHA-256 c1e6fb6b540bb7272f4c537773e2a4826dd649d882c9b7fb549df9bccc66be0d</a:t>
            </a:r>
          </a:p>
          <a:p xmlns:a="http://schemas.openxmlformats.org/drawingml/2006/main">
            <a:r>
              <a:t>SUBMISSION.md section Our run on the 400</a:t>
            </a:r>
          </a:p>
          <a:p xmlns:a="http://schemas.openxmlformats.org/drawingml/2006/main">
            <a:r>
              <a:t>Public self-evaluation totals: 400 evaluated tasks, 133 passes, 297,882 target cells, 120,824 correct cells, no missing tasks and no evaluator errors.</a:t>
            </a:r>
          </a:p>
          <a:p xmlns:a="http://schemas.openxmlformats.org/drawingml/2006/main">
            <a:r>
              <a:t>FormulaBench produced this result locally with the organiser-supplied evaluator. The organisers have not certified the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submissions/formulabench/results.json</a:t>
            </a:r>
          </a:p>
          <a:p xmlns:a="http://schemas.openxmlformats.org/drawingml/2006/main">
            <a:r>
              <a:t>submissions/formulabench/traces/54513.jsonl</a:t>
            </a:r>
          </a:p>
          <a:p xmlns:a="http://schemas.openxmlformats.org/drawingml/2006/main">
            <a:r>
              <a:t>submissions/formulabench/traces/13-1.jsonl</a:t>
            </a:r>
          </a:p>
          <a:p xmlns:a="http://schemas.openxmlformats.org/drawingml/2006/main">
            <a:r>
              <a:t>SUBMISSION.md section Verified evaluation</a:t>
            </a:r>
          </a:p>
          <a:p xmlns:a="http://schemas.openxmlformats.org/drawingml/2006/main">
            <a:r>
              <a:t>Task 54513: one of one target cells correct. FormulaBench wrote =C8*(1-E8) to Sheet1!F8. The exact value was 15.7455 and the workbook displayed 15.75.</a:t>
            </a:r>
          </a:p>
          <a:p xmlns:a="http://schemas.openxmlformats.org/drawingml/2006/main">
            <a:r>
              <a:t>Task 13-1: 116 of 120 target cells correct. The evaluator reported mismatches in LISTS!D25, LISTS!D30, LISTS!D31 and LISTS!D32.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README.md sections Description and Features</a:t>
            </a:r>
          </a:p>
          <a:p xmlns:a="http://schemas.openxmlformats.org/drawingml/2006/main">
            <a:r>
              <a:t>SUBMISSION.md section What we built and why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README.md Architecture Overview, Features and Tech Stack</a:t>
            </a:r>
          </a:p>
          <a:p xmlns:a="http://schemas.openxmlformats.org/drawingml/2006/main">
            <a:r>
              <a:t>SUBMISSION.md What we built and why</a:t>
            </a:r>
          </a:p>
          <a:p xmlns:a="http://schemas.openxmlformats.org/drawingml/2006/main">
            <a:r>
              <a:t>formulabench/context.py</a:t>
            </a:r>
          </a:p>
          <a:p xmlns:a="http://schemas.openxmlformats.org/drawingml/2006/main">
            <a:r>
              <a:t>formulabench/provider.py</a:t>
            </a:r>
          </a:p>
          <a:p xmlns:a="http://schemas.openxmlformats.org/drawingml/2006/main">
            <a:r>
              <a:t>formulabench/contract.py</a:t>
            </a:r>
          </a:p>
          <a:p xmlns:a="http://schemas.openxmlformats.org/drawingml/2006/main">
            <a:r>
              <a:t>formulabench/artifacts.py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README.md Features</a:t>
            </a:r>
          </a:p>
          <a:p xmlns:a="http://schemas.openxmlformats.org/drawingml/2006/main">
            <a:r>
              <a:t>SUBMISSION.md What we built and why</a:t>
            </a:r>
          </a:p>
          <a:p xmlns:a="http://schemas.openxmlformats.org/drawingml/2006/main">
            <a:r>
              <a:t>formulabench/contract.py</a:t>
            </a:r>
          </a:p>
          <a:p xmlns:a="http://schemas.openxmlformats.org/drawingml/2006/main">
            <a:r>
              <a:t>formulabench/artifacts.py</a:t>
            </a:r>
          </a:p>
          <a:p xmlns:a="http://schemas.openxmlformats.org/drawingml/2006/main">
            <a:r>
              <a:t>experiments/public_benchmark_audit.json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experiments/README.md section Failure analysis</a:t>
            </a:r>
          </a:p>
          <a:p xmlns:a="http://schemas.openxmlformats.org/drawingml/2006/main">
            <a:r>
              <a:t>submissions/formulabench/results.json</a:t>
            </a:r>
          </a:p>
          <a:p xmlns:a="http://schemas.openxmlformats.org/drawingml/2006/main">
            <a:r>
              <a:t>submissions/formulabench/predictions.jsonl</a:t>
            </a:r>
          </a:p>
          <a:p xmlns:a="http://schemas.openxmlformats.org/drawingml/2006/main">
            <a:r>
              <a:t>submissions/formulabench/traces/</a:t>
            </a:r>
          </a:p>
          <a:p xmlns:a="http://schemas.openxmlformats.org/drawingml/2006/main">
            <a:r>
              <a:t>Wrong cells total: 177,058. Fail-closed fallbacks: 9,143. Contract-valid but semantically wrong workbooks: 167,915.</a:t>
            </a:r>
          </a:p>
          <a:p xmlns:a="http://schemas.openxmlformats.org/drawingml/2006/main">
            <a:r>
              <a:t>The difference in pass rate by context truncation is an association, not a causal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README.md Public benchmark result</a:t>
            </a:r>
          </a:p>
          <a:p xmlns:a="http://schemas.openxmlformats.org/drawingml/2006/main">
            <a:r>
              <a:t>SUBMISSION.md Our run on the 400</a:t>
            </a:r>
          </a:p>
          <a:p xmlns:a="http://schemas.openxmlformats.org/drawingml/2006/main">
            <a:r>
              <a:t>experiments/README.md Complete public run</a:t>
            </a:r>
          </a:p>
          <a:p xmlns:a="http://schemas.openxmlformats.org/drawingml/2006/main">
            <a:r>
              <a:t>https://github.com/ylookup/encode-hackathon/tree/37d9016264762a25cae49e077cd0893055bd9093/research</a:t>
            </a:r>
          </a:p>
          <a:p xmlns:a="http://schemas.openxmlformats.org/drawingml/2006/main">
            <a:r>
              <a:t>https://github.com/thinking-machines-lab/tinker-cookbook/blob/main/tinker_cookbook/renderers/qwen3_8.py</a:t>
            </a:r>
          </a:p>
          <a:p xmlns:a="http://schemas.openxmlformats.org/drawingml/2006/main">
            <a:r>
              <a:t>The organiser reference renderer is inferred from published code and cookbook behaviour because the organisers did not publish run traces or explicit renderer metadata.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https://tinker.thinkingmachines.ai/sessions/b2d89255-3d84-5796-84a8-e35f658e3470</a:t>
            </a:r>
          </a:p>
          <a:p xmlns:a="http://schemas.openxmlformats.org/drawingml/2006/main">
            <a:r>
              <a:t>experiments/tinker_lora_validation.json</a:t>
            </a:r>
          </a:p>
          <a:p xmlns:a="http://schemas.openxmlformats.org/drawingml/2006/main">
            <a:r>
              <a:t>training/runs/qwen38-sft-v1-20260906T042552Z/run_metadata.json (local, not committed)</a:t>
            </a:r>
          </a:p>
          <a:p xmlns:a="http://schemas.openxmlformats.org/drawingml/2006/main">
            <a:r>
              <a:t>Screenshot captured from the authenticated Tinker session on 6 September 2026. It shows Qwen/Qwen3.8-27B, LoRA rank 32, the development-training partition, and non-zero training activity.</a:t>
            </a:r>
          </a:p>
          <a:p xmlns:a="http://schemas.openxmlformats.org/drawingml/2006/main">
            <a:r>
              <a:t>The screenshot does not establish workbook correctness. The retained machine-readable metrics do not contain exact average throughput or utilisation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experiments/tinker_lora_validation.json</a:t>
            </a:r>
          </a:p>
          <a:p xmlns:a="http://schemas.openxmlformats.org/drawingml/2006/main">
            <a:r>
              <a:t>https://masterasnackin.github.io/FormulaBench/#tinker</a:t>
            </a:r>
          </a:p>
          <a:p xmlns:a="http://schemas.openxmlformats.org/drawingml/2006/main">
            <a:r>
              <a:t>Controlled development-validation result: base 7/15 tasks and 432/582 cells; LoRA 9/15 tasks and 449/582 cells. Pass rate increased by 13.33 percentage points and cell accuracy increased by 2.92 percentage points.</a:t>
            </a:r>
          </a:p>
          <a:p xmlns:a="http://schemas.openxmlformats.org/drawingml/2006/main">
            <a:r>
              <a:t>The base arm accepted 14/15 predictions and had one fail-closed workbook-write error whose unchanged fallback remained gradeable. The LoRA arm accepted 15/15. Both arms had zero evaluator errors.</a:t>
            </a:r>
          </a:p>
          <a:p xmlns:a="http://schemas.openxmlformats.org/drawingml/2006/main">
            <a:r>
              <a:t>Three tasks changed from fail to pass and one changed from pass to fail. Both arms used one sample per task. Six development examples over 500 target cells were excluded before the split.</a:t>
            </a:r>
          </a:p>
          <a:p xmlns:a="http://schemas.openxmlformats.org/drawingml/2006/main">
            <a:r>
              <a:t>This result was used for checkpoint selection. It does not replace the frozen 400-task score and does not prove generalisation.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experiments/README.md section Failure analysis</a:t>
            </a:r>
          </a:p>
          <a:p xmlns:a="http://schemas.openxmlformats.org/drawingml/2006/main">
            <a:r>
              <a:t>https://github.com/MasteraSnackin/FormulaBench</a:t>
            </a:r>
          </a:p>
          <a:p xmlns:a="http://schemas.openxmlformats.org/drawingml/2006/main">
            <a:r>
              <a:t>https://masterasnackin.github.io/FormulaBench/</a:t>
            </a:r>
          </a:p>
          <a:p xmlns:a="http://schemas.openxmlformats.org/drawingml/2006/main">
            <a:r>
              <a:t>The proposed fixed-operation path is future work and is not part of the frozen public self-evaluation.</a:t>
            </a:r>
          </a:p>
          <a:p xmlns:a="http://schemas.openxmlformats.org/drawingml/2006/main">
            <a:r>
              <a:t>Only the organiser private benchmark is described as unseen.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e729800a1c40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98d3328779450c" /><Relationship Type="http://schemas.openxmlformats.org/officeDocument/2006/relationships/slideLayout" Target="/ppt/slideLayouts/slideLayout1.xml" Id="R11380e012191454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380e012191454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9d7ef9f38bb4e64" /><Relationship Type="http://schemas.openxmlformats.org/officeDocument/2006/relationships/notesSlide" Target="/ppt/notesSlides/notesSlide1.xml" Id="R2d70b14cd81c4aa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5e1c6cba321425a" /><Relationship Type="http://schemas.openxmlformats.org/officeDocument/2006/relationships/chart" Target="/ppt/slides/charts/chart1.xml" Id="R4d627c54cb564690" /><Relationship Type="http://schemas.openxmlformats.org/officeDocument/2006/relationships/notesSlide" Target="/ppt/notesSlides/notesSlide2.xml" Id="R83e80d1f00d742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83d89bba47d4a0c" /><Relationship Type="http://schemas.openxmlformats.org/officeDocument/2006/relationships/notesSlide" Target="/ppt/notesSlides/notesSlide3.xml" Id="Rc38a0e196a2f43b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be4a6fa6c134339" /><Relationship Type="http://schemas.openxmlformats.org/officeDocument/2006/relationships/notesSlide" Target="/ppt/notesSlides/notesSlide4.xml" Id="R8635d9d9d85847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4b0d794390e4b3e" /><Relationship Type="http://schemas.openxmlformats.org/officeDocument/2006/relationships/notesSlide" Target="/ppt/notesSlides/notesSlide5.xml" Id="R00b07ca3506747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92c3412684e4d5c" /><Relationship Type="http://schemas.openxmlformats.org/officeDocument/2006/relationships/notesSlide" Target="/ppt/notesSlides/notesSlide6.xml" Id="R899864f954534a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4b5b6d713354315" /><Relationship Type="http://schemas.openxmlformats.org/officeDocument/2006/relationships/chart" Target="/ppt/slides/charts/chart2.xml" Id="R1c9b869482df41ca" /><Relationship Type="http://schemas.openxmlformats.org/officeDocument/2006/relationships/notesSlide" Target="/ppt/notesSlides/notesSlide7.xml" Id="Rafb649cc407f41a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bd6074d0dde452a" /><Relationship Type="http://schemas.openxmlformats.org/officeDocument/2006/relationships/notesSlide" Target="/ppt/notesSlides/notesSlide8.xml" Id="Rbb3498b6156549e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13436942669450b" /><Relationship Type="http://schemas.openxmlformats.org/officeDocument/2006/relationships/image" Target="/ppt/media/image.jpeg" Id="Rd57a5f40dcbc4b30" /><Relationship Type="http://schemas.openxmlformats.org/officeDocument/2006/relationships/notesSlide" Target="/ppt/notesSlides/notesSlide9.xml" Id="Rb3a059fa96b3465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91810c36f864d27" /><Relationship Type="http://schemas.openxmlformats.org/officeDocument/2006/relationships/image" Target="/ppt/media/image2.jpeg" Id="R6e68d26c8e904e0a" /><Relationship Type="http://schemas.openxmlformats.org/officeDocument/2006/relationships/notesSlide" Target="/ppt/notesSlides/notesSlide10.xml" Id="R08331c2d18fe48f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2652bf93c374e37" /><Relationship Type="http://schemas.openxmlformats.org/officeDocument/2006/relationships/hyperlink" Target="https://masterasnackin.github.io/FormulaBench/" TargetMode="External" Id="Rba486f294a474caf" /><Relationship Type="http://schemas.openxmlformats.org/officeDocument/2006/relationships/hyperlink" Target="https://github.com/MasteraSnackin/FormulaBench" TargetMode="External" Id="R86d384fec8fd49da" /><Relationship Type="http://schemas.openxmlformats.org/officeDocument/2006/relationships/notesSlide" Target="/ppt/notesSlides/notesSlide11.xml" Id="R81a38d500c484def" /></Relationships>
</file>

<file path=ppt/slides/charts/chart1.xml><?xml version="1.0" encoding="utf-8"?>
<c:chartSpace xmlns:c="http://schemas.openxmlformats.org/drawingml/2006/chart">
  <c:lang val="en-US"/>
  <c:chart>
    <c:plotArea>
      <c:barChart>
        <c:barDir val="bar"/>
        <c:grouping val="clustered"/>
        <c:varyColors val="0"/>
        <c:ser>
          <c:idx val="0"/>
          <c:order val="0"/>
          <c:tx>
            <c:v>Public self-evaluation</c:v>
          </c:tx>
          <c:spPr>
            <a:solidFill xmlns:a="http://schemas.openxmlformats.org/drawingml/2006/main">
              <a:srgbClr val="35C47A"/>
            </a:solidFill>
          </c:spPr>
          <c:dPt>
            <c:idx val="0"/>
            <c:invertIfNegative val="0"/>
            <c:spPr>
              <a:solidFill xmlns:a="http://schemas.openxmlformats.org/drawingml/2006/main">
                <a:srgbClr val="35C47A"/>
              </a:solidFill>
            </c:spPr>
          </c:dPt>
          <c:dPt>
            <c:idx val="1"/>
            <c:invertIfNegative val="0"/>
            <c:spPr>
              <a:solidFill xmlns:a="http://schemas.openxmlformats.org/drawingml/2006/main">
                <a:srgbClr val="4A9BC2"/>
              </a:solidFill>
            </c:spPr>
          </c:dPt>
          <c:cat>
            <c:strLit>
              <c:ptCount val="2"/>
              <c:pt idx="0">
                <c:v>Task pass rate</c:v>
              </c:pt>
              <c:pt idx="1">
                <c:v>Cell accuracy</c:v>
              </c:pt>
            </c:strLit>
          </c:cat>
          <c:val>
            <c:numLit>
              <c:formatCode>0.00%</c:formatCode>
              <c:ptCount val="2"/>
              <c:pt idx="0">
                <c:v>0.3325</c:v>
              </c:pt>
              <c:pt idx="1">
                <c:v>0.4056</c:v>
              </c:pt>
            </c:numLit>
          </c:val>
        </c:ser>
        <c:dLbls>
          <c:txPr>
            <a:bodyPr xmlns:a="http://schemas.openxmlformats.org/drawingml/2006/main" anchorCtr="1"/>
            <a:lstStyle xmlns:a="http://schemas.openxmlformats.org/drawingml/2006/main"/>
            <a:p xmlns:a="http://schemas.openxmlformats.org/drawingml/2006/main">
              <a:pPr>
                <a:defRPr sz="1350" b="1">
                  <a:solidFill>
                    <a:srgbClr val="122033"/>
                  </a:solidFill>
                  <a:latin typeface="Arial"/>
                  <a:ea typeface="Arial"/>
                  <a:cs typeface="Aria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667487"/>
                </a:solidFill>
                <a:latin typeface="Arial"/>
                <a:ea typeface="Arial"/>
                <a:cs typeface="Arial"/>
              </a:defRPr>
            </a:pPr>
          </a:p>
        </c:txPr>
        <c:crossAx val="48672768"/>
      </c:catAx>
      <c:valAx>
        <c:axId val="48672768"/>
        <c:scaling>
          <c:orientation val="minMax"/>
          <c:max val="1"/>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b="1">
                <a:solidFill>
                  <a:srgbClr val="122033"/>
                </a:solidFill>
                <a:latin typeface="Arial"/>
                <a:ea typeface="Arial"/>
                <a:cs typeface="Arial"/>
              </a:defRPr>
            </a:pPr>
          </a:p>
        </c:txPr>
        <c:crossAx val="48650112"/>
        <c:crossBetween val="between"/>
        <c:majorUnit val="0.2"/>
      </c:valAx>
      <c:spPr>
        <a:solidFill xmlns:a="http://schemas.openxmlformats.org/drawingml/2006/main">
          <a:srgbClr val="FFFDF8"/>
        </a:solidFill>
        <a:ln xmlns:a="http://schemas.openxmlformats.org/drawingml/2006/main" w="0">
          <a:noFill/>
        </a:ln>
      </c:spPr>
    </c:plotArea>
    <c:plotVisOnly val="1"/>
  </c:chart>
  <c:spPr>
    <a:solidFill xmlns:a="http://schemas.openxmlformats.org/drawingml/2006/main">
      <a:srgbClr val="FFFDF8"/>
    </a:solidFill>
    <a:ln xmlns:a="http://schemas.openxmlformats.org/drawingml/2006/main" w="0">
      <a:noFill/>
    </a:ln>
  </c:spPr>
</c:chartSpace>
</file>

<file path=ppt/slides/charts/chart2.xml><?xml version="1.0" encoding="utf-8"?>
<c:chartSpace xmlns:c="http://schemas.openxmlformats.org/drawingml/2006/chart">
  <c:lang val="en-US"/>
  <c:chart>
    <c:plotArea>
      <c:doughnutChart>
        <c:ser>
          <c:idx val="0"/>
          <c:order val="0"/>
          <c:tx>
            <c:v>Wrong cells</c:v>
          </c:tx>
          <c:spPr>
            <a:solidFill xmlns:a="http://schemas.openxmlformats.org/drawingml/2006/main">
              <a:srgbClr val="E76464"/>
            </a:solidFill>
          </c:spPr>
          <c:dPt>
            <c:idx val="0"/>
            <c:spPr>
              <a:solidFill xmlns:a="http://schemas.openxmlformats.org/drawingml/2006/main">
                <a:srgbClr val="E76464"/>
              </a:solidFill>
            </c:spPr>
          </c:dPt>
          <c:dPt>
            <c:idx val="1"/>
            <c:spPr>
              <a:solidFill xmlns:a="http://schemas.openxmlformats.org/drawingml/2006/main">
                <a:srgbClr val="E4B94F"/>
              </a:solidFill>
            </c:spPr>
          </c:dPt>
          <c:cat>
            <c:strLit>
              <c:ptCount val="2"/>
              <c:pt idx="0">
                <c:v>Passed structural checks
94.84%</c:v>
              </c:pt>
              <c:pt idx="1">
                <c:v>Rejected responses
5.16%</c:v>
              </c:pt>
            </c:strLit>
          </c:cat>
          <c:val>
            <c:numLit>
              <c:formatCode>General</c:formatCode>
              <c:ptCount val="2"/>
              <c:pt idx="0">
                <c:v>167915</c:v>
              </c:pt>
              <c:pt idx="1">
                <c:v>9143</c:v>
              </c:pt>
            </c:numLit>
          </c:val>
        </c:ser>
        <c:dLbls>
          <c:txPr>
            <a:bodyPr xmlns:a="http://schemas.openxmlformats.org/drawingml/2006/main" anchorCtr="1"/>
            <a:lstStyle xmlns:a="http://schemas.openxmlformats.org/drawingml/2006/main"/>
            <a:p xmlns:a="http://schemas.openxmlformats.org/drawingml/2006/main">
              <a:pPr>
                <a:defRPr sz="1200" b="1">
                  <a:solidFill>
                    <a:srgbClr val="122033"/>
                  </a:solidFill>
                  <a:latin typeface="Arial"/>
                  <a:ea typeface="Arial"/>
                  <a:cs typeface="Arial"/>
                </a:defRPr>
              </a:pPr>
            </a:p>
          </c:txPr>
          <c:showLegendKey val="0"/>
          <c:showVal val="0"/>
          <c:showCatName val="1"/>
          <c:showSerName val="0"/>
          <c:showPercent val="0"/>
          <c:showBubbleSize val="0"/>
          <c:showLeaderLines val="1"/>
        </c:dLbls>
        <c:firstSliceAng val="270"/>
        <c:holeSize val="66"/>
      </c:doughnutChart>
      <c:spPr>
        <a:solidFill xmlns:a="http://schemas.openxmlformats.org/drawingml/2006/main">
          <a:srgbClr val="F4F0E8"/>
        </a:solidFill>
        <a:ln xmlns:a="http://schemas.openxmlformats.org/drawingml/2006/main" w="0">
          <a:noFill/>
        </a:ln>
      </c:spPr>
    </c:plotArea>
    <c:plotVisOnly val="1"/>
  </c:chart>
  <c:spPr>
    <a:solidFill xmlns:a="http://schemas.openxmlformats.org/drawingml/2006/main">
      <a:srgbClr val="F4F0E8"/>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0B172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329001-B924-4912-B69A-67B66F66AACB}"/>
              </a:ext>
            </a:extLst>
          </p:cNvPr>
          <p:cNvSpPr>
            <a:spLocks xmlns:a="http://schemas.openxmlformats.org/drawingml/2006/main" noGrp="1"/>
          </p:cNvSpPr>
          <p:nvPr/>
        </p:nvSpPr>
        <p:spPr>
          <a:xfrm xmlns:a="http://schemas.openxmlformats.org/drawingml/2006/main">
            <a:off x="62865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125" b="1" i="0">
                <a:solidFill>
                  <a:srgbClr val="35C47A"/>
                </a:solidFill>
                <a:latin typeface="Arial"/>
                <a:ea typeface="Arial"/>
                <a:cs typeface="Arial"/>
              </a:defRPr>
            </a:pPr>
            <a:r>
              <a:rPr sz="1125" b="1" i="0">
                <a:solidFill>
                  <a:srgbClr val="35C47A"/>
                </a:solidFill>
                <a:latin typeface="Arial"/>
                <a:ea typeface="Arial"/>
                <a:cs typeface="Arial"/>
              </a:rPr>
              <a:t>FORMULABENCH</a:t>
            </a:r>
          </a:p>
        </p:txBody>
      </p:sp>
      <p:sp>
        <p:nvSpPr>
          <p:cNvPr id="2" name="">
            <a:extLst xmlns:a="http://schemas.openxmlformats.org/drawingml/2006/main">
              <a:ext uri="{FF2B5EF4-FFF2-40B4-BE49-F238E27FC236}">
                <a16:creationId xmlns:a16="http://schemas.microsoft.com/office/drawing/2014/main" id="{0A3C42B1-45CF-433D-A26C-2BB0429D2A2C}"/>
              </a:ext>
            </a:extLst>
          </p:cNvPr>
          <p:cNvSpPr>
            <a:spLocks xmlns:a="http://schemas.openxmlformats.org/drawingml/2006/main" noGrp="1"/>
          </p:cNvSpPr>
          <p:nvPr/>
        </p:nvSpPr>
        <p:spPr>
          <a:xfrm xmlns:a="http://schemas.openxmlformats.org/drawingml/2006/main">
            <a:off x="609600" y="1447800"/>
            <a:ext cx="6572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5400" b="1" i="0">
                <a:solidFill>
                  <a:srgbClr val="FFFFFF"/>
                </a:solidFill>
                <a:latin typeface="Arial"/>
                <a:ea typeface="Arial"/>
                <a:cs typeface="Arial"/>
              </a:defRPr>
            </a:pPr>
            <a:r>
              <a:rPr sz="5400" b="1" i="0">
                <a:solidFill>
                  <a:srgbClr val="FFFFFF"/>
                </a:solidFill>
                <a:latin typeface="Arial"/>
                <a:ea typeface="Arial"/>
                <a:cs typeface="Arial"/>
              </a:rPr>
              <a:t>FormulaBench</a:t>
            </a:r>
          </a:p>
        </p:txBody>
      </p:sp>
      <p:sp>
        <p:nvSpPr>
          <p:cNvPr id="3" name="">
            <a:extLst xmlns:a="http://schemas.openxmlformats.org/drawingml/2006/main">
              <a:ext uri="{FF2B5EF4-FFF2-40B4-BE49-F238E27FC236}">
                <a16:creationId xmlns:a16="http://schemas.microsoft.com/office/drawing/2014/main" id="{74A1F09F-C01A-46F7-B50B-7D05791C7EB4}"/>
              </a:ext>
            </a:extLst>
          </p:cNvPr>
          <p:cNvSpPr>
            <a:spLocks xmlns:a="http://schemas.openxmlformats.org/drawingml/2006/main" noGrp="1"/>
          </p:cNvSpPr>
          <p:nvPr/>
        </p:nvSpPr>
        <p:spPr>
          <a:xfrm xmlns:a="http://schemas.openxmlformats.org/drawingml/2006/main">
            <a:off x="628650" y="2476500"/>
            <a:ext cx="628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250" b="0" i="0">
                <a:solidFill>
                  <a:srgbClr val="D9E0E8"/>
                </a:solidFill>
                <a:latin typeface="Arial"/>
                <a:ea typeface="Arial"/>
                <a:cs typeface="Arial"/>
              </a:defRPr>
            </a:pPr>
            <a:r>
              <a:rPr sz="2250" b="0" i="0">
                <a:solidFill>
                  <a:srgbClr val="D9E0E8"/>
                </a:solidFill>
                <a:latin typeface="Arial"/>
                <a:ea typeface="Arial"/>
                <a:cs typeface="Arial"/>
              </a:rPr>
              <a:t>Auditable Excel formula generation</a:t>
            </a:r>
          </a:p>
        </p:txBody>
      </p:sp>
      <p:sp>
        <p:nvSpPr>
          <p:cNvPr id="4" name="">
            <a:extLst xmlns:a="http://schemas.openxmlformats.org/drawingml/2006/main">
              <a:ext uri="{FF2B5EF4-FFF2-40B4-BE49-F238E27FC236}">
                <a16:creationId xmlns:a16="http://schemas.microsoft.com/office/drawing/2014/main" id="{680F27FC-D269-4C78-95B0-0F3631E159F9}"/>
              </a:ext>
            </a:extLst>
          </p:cNvPr>
          <p:cNvSpPr>
            <a:spLocks xmlns:a="http://schemas.openxmlformats.org/drawingml/2006/main" noGrp="1"/>
          </p:cNvSpPr>
          <p:nvPr/>
        </p:nvSpPr>
        <p:spPr>
          <a:xfrm xmlns:a="http://schemas.openxmlformats.org/drawingml/2006/main">
            <a:off x="628650" y="3314700"/>
            <a:ext cx="5048250" cy="0"/>
          </a:xfrm>
          <a:prstGeom xmlns:a="http://schemas.openxmlformats.org/drawingml/2006/main" prst="line">
            <a:avLst/>
          </a:prstGeom>
          <a:noFill xmlns:a="http://schemas.openxmlformats.org/drawingml/2006/main"/>
          <a:ln xmlns:a="http://schemas.openxmlformats.org/drawingml/2006/main" w="47625">
            <a:solidFill>
              <a:srgbClr val="35C47A"/>
            </a:solidFill>
            <a:prstDash val="solid"/>
          </a:ln>
        </p:spPr>
      </p:sp>
      <p:sp>
        <p:nvSpPr>
          <p:cNvPr id="5" name="">
            <a:extLst xmlns:a="http://schemas.openxmlformats.org/drawingml/2006/main">
              <a:ext uri="{FF2B5EF4-FFF2-40B4-BE49-F238E27FC236}">
                <a16:creationId xmlns:a16="http://schemas.microsoft.com/office/drawing/2014/main" id="{881FEB4E-CD41-44E7-A21E-ED0606A3D3DD}"/>
              </a:ext>
            </a:extLst>
          </p:cNvPr>
          <p:cNvSpPr>
            <a:spLocks xmlns:a="http://schemas.openxmlformats.org/drawingml/2006/main" noGrp="1"/>
          </p:cNvSpPr>
          <p:nvPr/>
        </p:nvSpPr>
        <p:spPr>
          <a:xfrm xmlns:a="http://schemas.openxmlformats.org/drawingml/2006/main">
            <a:off x="628650" y="3638550"/>
            <a:ext cx="5429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AAB6C5"/>
                </a:solidFill>
                <a:latin typeface="Arial"/>
                <a:ea typeface="Arial"/>
                <a:cs typeface="Arial"/>
              </a:defRPr>
            </a:pPr>
            <a:r>
              <a:rPr sz="1575" b="0" i="0">
                <a:solidFill>
                  <a:srgbClr val="AAB6C5"/>
                </a:solidFill>
                <a:latin typeface="Arial"/>
                <a:ea typeface="Arial"/>
                <a:cs typeface="Arial"/>
              </a:rPr>
              <a:t>Research: Excel Formula Generation</a:t>
            </a:r>
          </a:p>
          <a:p xmlns:a="http://schemas.openxmlformats.org/drawingml/2006/main">
            <a:pPr algn="l">
              <a:lnSpc>
                <a:spcPct val="118000"/>
              </a:lnSpc>
              <a:buNone/>
              <a:defRPr sz="1575" b="0" i="0">
                <a:solidFill>
                  <a:srgbClr val="AAB6C5"/>
                </a:solidFill>
                <a:latin typeface="Arial"/>
                <a:ea typeface="Arial"/>
                <a:cs typeface="Arial"/>
              </a:defRPr>
            </a:pPr>
            <a:r>
              <a:rPr sz="1575" b="0" i="0">
                <a:solidFill>
                  <a:srgbClr val="AAB6C5"/>
                </a:solidFill>
                <a:latin typeface="Arial"/>
                <a:ea typeface="Arial"/>
                <a:cs typeface="Arial"/>
              </a:rPr>
              <a:t>Encode x Ylookup Rebuild Private Markets Hackathon</a:t>
            </a:r>
          </a:p>
        </p:txBody>
      </p:sp>
      <p:sp>
        <p:nvSpPr>
          <p:cNvPr id="6" name="">
            <a:extLst xmlns:a="http://schemas.openxmlformats.org/drawingml/2006/main">
              <a:ext uri="{FF2B5EF4-FFF2-40B4-BE49-F238E27FC236}">
                <a16:creationId xmlns:a16="http://schemas.microsoft.com/office/drawing/2014/main" id="{FB3E047E-030A-4027-97AE-2AE37538EF58}"/>
              </a:ext>
            </a:extLst>
          </p:cNvPr>
          <p:cNvSpPr>
            <a:spLocks xmlns:a="http://schemas.openxmlformats.org/drawingml/2006/main" noGrp="1"/>
          </p:cNvSpPr>
          <p:nvPr/>
        </p:nvSpPr>
        <p:spPr>
          <a:xfrm xmlns:a="http://schemas.openxmlformats.org/drawingml/2006/main">
            <a:off x="7334250" y="1381125"/>
            <a:ext cx="4000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20000"/>
              </a:lnSpc>
              <a:buNone/>
              <a:defRPr sz="1875" b="0" i="0">
                <a:solidFill>
                  <a:srgbClr val="C6D2DF"/>
                </a:solidFill>
                <a:latin typeface="Menlo"/>
                <a:ea typeface="Menlo"/>
                <a:cs typeface="Menlo"/>
              </a:defRPr>
            </a:pPr>
            <a:r>
              <a:rPr sz="1875" b="0" i="0">
                <a:solidFill>
                  <a:srgbClr val="C6D2DF"/>
                </a:solidFill>
                <a:latin typeface="Menlo"/>
                <a:ea typeface="Menlo"/>
                <a:cs typeface="Menlo"/>
              </a:rPr>
              <a:t>=IFERROR(</a:t>
            </a:r>
          </a:p>
          <a:p xmlns:a="http://schemas.openxmlformats.org/drawingml/2006/main">
            <a:pPr algn="l">
              <a:lnSpc>
                <a:spcPct val="120000"/>
              </a:lnSpc>
              <a:buNone/>
              <a:defRPr sz="1875" b="0" i="0">
                <a:solidFill>
                  <a:srgbClr val="C6D2DF"/>
                </a:solidFill>
                <a:latin typeface="Menlo"/>
                <a:ea typeface="Menlo"/>
                <a:cs typeface="Menlo"/>
              </a:defRPr>
            </a:pPr>
            <a:r>
              <a:rPr sz="1875" b="0" i="0">
                <a:solidFill>
                  <a:srgbClr val="C6D2DF"/>
                </a:solidFill>
                <a:latin typeface="Menlo"/>
                <a:ea typeface="Menlo"/>
                <a:cs typeface="Menlo"/>
              </a:rPr>
              <a:t>  INDEX(Returns!$H:$H,</a:t>
            </a:r>
          </a:p>
          <a:p xmlns:a="http://schemas.openxmlformats.org/drawingml/2006/main">
            <a:pPr algn="l">
              <a:lnSpc>
                <a:spcPct val="120000"/>
              </a:lnSpc>
              <a:buNone/>
              <a:defRPr sz="1875" b="0" i="0">
                <a:solidFill>
                  <a:srgbClr val="C6D2DF"/>
                </a:solidFill>
                <a:latin typeface="Menlo"/>
                <a:ea typeface="Menlo"/>
                <a:cs typeface="Menlo"/>
              </a:defRPr>
            </a:pPr>
            <a:r>
              <a:rPr sz="1875" b="0" i="0">
                <a:solidFill>
                  <a:srgbClr val="C6D2DF"/>
                </a:solidFill>
                <a:latin typeface="Menlo"/>
                <a:ea typeface="Menlo"/>
                <a:cs typeface="Menlo"/>
              </a:rPr>
              <a:t>  MATCH($B9,Returns!$B:$B,0)),</a:t>
            </a:r>
          </a:p>
          <a:p xmlns:a="http://schemas.openxmlformats.org/drawingml/2006/main">
            <a:pPr algn="l">
              <a:lnSpc>
                <a:spcPct val="120000"/>
              </a:lnSpc>
              <a:buNone/>
              <a:defRPr sz="1875" b="0" i="0">
                <a:solidFill>
                  <a:srgbClr val="C6D2DF"/>
                </a:solidFill>
                <a:latin typeface="Menlo"/>
                <a:ea typeface="Menlo"/>
                <a:cs typeface="Menlo"/>
              </a:defRPr>
            </a:pPr>
            <a:r>
              <a:rPr sz="1875" b="0" i="0">
                <a:solidFill>
                  <a:srgbClr val="C6D2DF"/>
                </a:solidFill>
                <a:latin typeface="Menlo"/>
                <a:ea typeface="Menlo"/>
                <a:cs typeface="Menlo"/>
              </a:rPr>
              <a:t>  0</a:t>
            </a:r>
          </a:p>
          <a:p xmlns:a="http://schemas.openxmlformats.org/drawingml/2006/main">
            <a:pPr algn="l">
              <a:lnSpc>
                <a:spcPct val="120000"/>
              </a:lnSpc>
              <a:buNone/>
              <a:defRPr sz="1875" b="0" i="0">
                <a:solidFill>
                  <a:srgbClr val="C6D2DF"/>
                </a:solidFill>
                <a:latin typeface="Menlo"/>
                <a:ea typeface="Menlo"/>
                <a:cs typeface="Menlo"/>
              </a:defRPr>
            </a:pPr>
            <a:r>
              <a:rPr sz="1875" b="0" i="0">
                <a:solidFill>
                  <a:srgbClr val="C6D2DF"/>
                </a:solidFill>
                <a:latin typeface="Menlo"/>
                <a:ea typeface="Menlo"/>
                <a:cs typeface="Menlo"/>
              </a:rPr>
              <a:t>)</a:t>
            </a:r>
          </a:p>
        </p:txBody>
      </p:sp>
      <p:sp>
        <p:nvSpPr>
          <p:cNvPr id="7" name="">
            <a:extLst xmlns:a="http://schemas.openxmlformats.org/drawingml/2006/main">
              <a:ext uri="{FF2B5EF4-FFF2-40B4-BE49-F238E27FC236}">
                <a16:creationId xmlns:a16="http://schemas.microsoft.com/office/drawing/2014/main" id="{8FE3EC80-0913-458B-9A79-34251FC6831F}"/>
              </a:ext>
            </a:extLst>
          </p:cNvPr>
          <p:cNvSpPr>
            <a:spLocks xmlns:a="http://schemas.openxmlformats.org/drawingml/2006/main" noGrp="1"/>
          </p:cNvSpPr>
          <p:nvPr/>
        </p:nvSpPr>
        <p:spPr>
          <a:xfrm xmlns:a="http://schemas.openxmlformats.org/drawingml/2006/main">
            <a:off x="7372350" y="4514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125" b="1" i="0">
                <a:solidFill>
                  <a:srgbClr val="35C47A"/>
                </a:solidFill>
                <a:latin typeface="Arial"/>
                <a:ea typeface="Arial"/>
                <a:cs typeface="Arial"/>
              </a:defRPr>
            </a:pPr>
            <a:r>
              <a:rPr sz="1125" b="1" i="0">
                <a:solidFill>
                  <a:srgbClr val="35C47A"/>
                </a:solidFill>
                <a:latin typeface="Arial"/>
                <a:ea typeface="Arial"/>
                <a:cs typeface="Arial"/>
              </a:rPr>
              <a:t>ILLUSTRATIVE FORMULA</a:t>
            </a:r>
          </a:p>
        </p:txBody>
      </p:sp>
      <p:sp>
        <p:nvSpPr>
          <p:cNvPr id="8" name="">
            <a:extLst xmlns:a="http://schemas.openxmlformats.org/drawingml/2006/main">
              <a:ext uri="{FF2B5EF4-FFF2-40B4-BE49-F238E27FC236}">
                <a16:creationId xmlns:a16="http://schemas.microsoft.com/office/drawing/2014/main" id="{638AB82E-29D2-4054-8F7E-E754A0CF3054}"/>
              </a:ext>
            </a:extLst>
          </p:cNvPr>
          <p:cNvSpPr>
            <a:spLocks xmlns:a="http://schemas.openxmlformats.org/drawingml/2006/main" noGrp="1"/>
          </p:cNvSpPr>
          <p:nvPr/>
        </p:nvSpPr>
        <p:spPr>
          <a:xfrm xmlns:a="http://schemas.openxmlformats.org/drawingml/2006/main">
            <a:off x="628650" y="61150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0" i="0">
                <a:solidFill>
                  <a:srgbClr val="8F9CAE"/>
                </a:solidFill>
                <a:latin typeface="Arial"/>
                <a:ea typeface="Arial"/>
                <a:cs typeface="Arial"/>
              </a:defRPr>
            </a:pPr>
            <a:r>
              <a:rPr sz="1200" b="0" i="0">
                <a:solidFill>
                  <a:srgbClr val="8F9CAE"/>
                </a:solidFill>
                <a:latin typeface="Arial"/>
                <a:ea typeface="Arial"/>
                <a:cs typeface="Arial"/>
              </a:rPr>
              <a:t>400-task public benchmark plus a controlled 15-task Tinker checkpoint comparison</a:t>
            </a:r>
          </a:p>
        </p:txBody>
      </p:sp>
    </p:spTree>
    <p:extLst>
      <p:ext uri="{BB962C8B-B14F-4D97-AF65-F5344CB8AC3E}">
        <p14:creationId xmlns:p14="http://schemas.microsoft.com/office/powerpoint/2010/main" val="948403895"/>
      </p:ext>
    </p:extLst>
  </p:cSld>
</p:sld>
</file>

<file path=ppt/slides/slide2.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0BA2D859-3DA0-4664-A769-7B927FFBFAA6}"/>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300" b="1" i="0">
                <a:solidFill>
                  <a:srgbClr val="122033"/>
                </a:solidFill>
                <a:latin typeface="Arial"/>
                <a:ea typeface="Arial"/>
                <a:cs typeface="Arial"/>
              </a:defRPr>
            </a:pPr>
            <a:r>
              <a:rPr sz="3300" b="1" i="0">
                <a:solidFill>
                  <a:srgbClr val="122033"/>
                </a:solidFill>
                <a:latin typeface="Arial"/>
                <a:ea typeface="Arial"/>
                <a:cs typeface="Arial"/>
              </a:rPr>
              <a:t>Public self-evaluation: 133 of 400 tasks passed</a:t>
            </a:r>
          </a:p>
        </p:txBody>
      </p:sp>
      <p:sp>
        <p:nvSpPr>
          <p:cNvPr id="2" name="">
            <a:extLst xmlns:a="http://schemas.openxmlformats.org/drawingml/2006/main">
              <a:ext uri="{FF2B5EF4-FFF2-40B4-BE49-F238E27FC236}">
                <a16:creationId xmlns:a16="http://schemas.microsoft.com/office/drawing/2014/main" id="{2C7526FE-B230-4F31-9991-8AF5E0EF4821}"/>
              </a:ext>
            </a:extLst>
          </p:cNvPr>
          <p:cNvSpPr>
            <a:spLocks xmlns:a="http://schemas.openxmlformats.org/drawingml/2006/main" noGrp="1"/>
          </p:cNvSpPr>
          <p:nvPr/>
        </p:nvSpPr>
        <p:spPr>
          <a:xfrm xmlns:a="http://schemas.openxmlformats.org/drawingml/2006/main">
            <a:off x="609600" y="1028700"/>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667487"/>
                </a:solidFill>
                <a:latin typeface="Arial"/>
                <a:ea typeface="Arial"/>
                <a:cs typeface="Arial"/>
              </a:defRPr>
            </a:pPr>
            <a:r>
              <a:rPr sz="1725" b="0" i="0">
                <a:solidFill>
                  <a:srgbClr val="667487"/>
                </a:solidFill>
                <a:latin typeface="Arial"/>
                <a:ea typeface="Arial"/>
                <a:cs typeface="Arial"/>
              </a:rPr>
              <a:t>The run recalculated every workbook in LibreOffice before using the organiser-supplied evaluator.</a:t>
            </a:r>
          </a:p>
        </p:txBody>
      </p:sp>
      <p:sp>
        <p:nvSpPr>
          <p:cNvPr id="3" name="">
            <a:extLst xmlns:a="http://schemas.openxmlformats.org/drawingml/2006/main">
              <a:ext uri="{FF2B5EF4-FFF2-40B4-BE49-F238E27FC236}">
                <a16:creationId xmlns:a16="http://schemas.microsoft.com/office/drawing/2014/main" id="{BB5A9FD6-F359-4280-83B9-2D110AF31DCD}"/>
              </a:ext>
            </a:extLst>
          </p:cNvPr>
          <p:cNvSpPr>
            <a:spLocks xmlns:a="http://schemas.openxmlformats.org/drawingml/2006/main" noGrp="1"/>
          </p:cNvSpPr>
          <p:nvPr/>
        </p:nvSpPr>
        <p:spPr>
          <a:xfrm xmlns:a="http://schemas.openxmlformats.org/drawingml/2006/main">
            <a:off x="609600" y="1638300"/>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500" b="1" i="0">
                <a:solidFill>
                  <a:srgbClr val="122033"/>
                </a:solidFill>
                <a:latin typeface="Arial"/>
                <a:ea typeface="Arial"/>
                <a:cs typeface="Arial"/>
              </a:defRPr>
            </a:pPr>
            <a:r>
              <a:rPr sz="4500" b="1" i="0">
                <a:solidFill>
                  <a:srgbClr val="122033"/>
                </a:solidFill>
                <a:latin typeface="Arial"/>
                <a:ea typeface="Arial"/>
                <a:cs typeface="Arial"/>
              </a:rPr>
              <a:t>33.25%</a:t>
            </a:r>
          </a:p>
        </p:txBody>
      </p:sp>
      <p:sp>
        <p:nvSpPr>
          <p:cNvPr id="4" name="">
            <a:extLst xmlns:a="http://schemas.openxmlformats.org/drawingml/2006/main">
              <a:ext uri="{FF2B5EF4-FFF2-40B4-BE49-F238E27FC236}">
                <a16:creationId xmlns:a16="http://schemas.microsoft.com/office/drawing/2014/main" id="{13C53ECE-1E50-4720-84F6-13AE2654B13B}"/>
              </a:ext>
            </a:extLst>
          </p:cNvPr>
          <p:cNvSpPr>
            <a:spLocks xmlns:a="http://schemas.openxmlformats.org/drawingml/2006/main" noGrp="1"/>
          </p:cNvSpPr>
          <p:nvPr/>
        </p:nvSpPr>
        <p:spPr>
          <a:xfrm xmlns:a="http://schemas.openxmlformats.org/drawingml/2006/main">
            <a:off x="647700" y="23622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35C47A"/>
                </a:solidFill>
                <a:latin typeface="Arial"/>
                <a:ea typeface="Arial"/>
                <a:cs typeface="Arial"/>
              </a:defRPr>
            </a:pPr>
            <a:r>
              <a:rPr sz="1350" b="1" i="0">
                <a:solidFill>
                  <a:srgbClr val="35C47A"/>
                </a:solidFill>
                <a:latin typeface="Arial"/>
                <a:ea typeface="Arial"/>
                <a:cs typeface="Arial"/>
              </a:rPr>
              <a:t>task pass rate</a:t>
            </a:r>
          </a:p>
        </p:txBody>
      </p:sp>
      <p:sp>
        <p:nvSpPr>
          <p:cNvPr id="5" name="">
            <a:extLst xmlns:a="http://schemas.openxmlformats.org/drawingml/2006/main">
              <a:ext uri="{FF2B5EF4-FFF2-40B4-BE49-F238E27FC236}">
                <a16:creationId xmlns:a16="http://schemas.microsoft.com/office/drawing/2014/main" id="{652A2479-8A28-40AE-8226-C78A34596037}"/>
              </a:ext>
            </a:extLst>
          </p:cNvPr>
          <p:cNvSpPr>
            <a:spLocks xmlns:a="http://schemas.openxmlformats.org/drawingml/2006/main" noGrp="1"/>
          </p:cNvSpPr>
          <p:nvPr/>
        </p:nvSpPr>
        <p:spPr>
          <a:xfrm xmlns:a="http://schemas.openxmlformats.org/drawingml/2006/main">
            <a:off x="4572000" y="1638300"/>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500" b="1" i="0">
                <a:solidFill>
                  <a:srgbClr val="122033"/>
                </a:solidFill>
                <a:latin typeface="Arial"/>
                <a:ea typeface="Arial"/>
                <a:cs typeface="Arial"/>
              </a:defRPr>
            </a:pPr>
            <a:r>
              <a:rPr sz="4500" b="1" i="0">
                <a:solidFill>
                  <a:srgbClr val="122033"/>
                </a:solidFill>
                <a:latin typeface="Arial"/>
                <a:ea typeface="Arial"/>
                <a:cs typeface="Arial"/>
              </a:rPr>
              <a:t>40.56%</a:t>
            </a:r>
          </a:p>
        </p:txBody>
      </p:sp>
      <p:sp>
        <p:nvSpPr>
          <p:cNvPr id="6" name="">
            <a:extLst xmlns:a="http://schemas.openxmlformats.org/drawingml/2006/main">
              <a:ext uri="{FF2B5EF4-FFF2-40B4-BE49-F238E27FC236}">
                <a16:creationId xmlns:a16="http://schemas.microsoft.com/office/drawing/2014/main" id="{595A835E-EF07-42C3-AABD-5E2498360190}"/>
              </a:ext>
            </a:extLst>
          </p:cNvPr>
          <p:cNvSpPr>
            <a:spLocks xmlns:a="http://schemas.openxmlformats.org/drawingml/2006/main" noGrp="1"/>
          </p:cNvSpPr>
          <p:nvPr/>
        </p:nvSpPr>
        <p:spPr>
          <a:xfrm xmlns:a="http://schemas.openxmlformats.org/drawingml/2006/main">
            <a:off x="4610100" y="23622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4A9BC2"/>
                </a:solidFill>
                <a:latin typeface="Arial"/>
                <a:ea typeface="Arial"/>
                <a:cs typeface="Arial"/>
              </a:defRPr>
            </a:pPr>
            <a:r>
              <a:rPr sz="1350" b="1" i="0">
                <a:solidFill>
                  <a:srgbClr val="4A9BC2"/>
                </a:solidFill>
                <a:latin typeface="Arial"/>
                <a:ea typeface="Arial"/>
                <a:cs typeface="Arial"/>
              </a:rPr>
              <a:t>cell accuracy</a:t>
            </a:r>
          </a:p>
        </p:txBody>
      </p:sp>
      <p:sp>
        <p:nvSpPr>
          <p:cNvPr id="7" name="">
            <a:extLst xmlns:a="http://schemas.openxmlformats.org/drawingml/2006/main">
              <a:ext uri="{FF2B5EF4-FFF2-40B4-BE49-F238E27FC236}">
                <a16:creationId xmlns:a16="http://schemas.microsoft.com/office/drawing/2014/main" id="{059DAF4F-DC84-467C-8FEA-2FD552ACB8DA}"/>
              </a:ext>
            </a:extLst>
          </p:cNvPr>
          <p:cNvSpPr>
            <a:spLocks xmlns:a="http://schemas.openxmlformats.org/drawingml/2006/main" noGrp="1"/>
          </p:cNvSpPr>
          <p:nvPr/>
        </p:nvSpPr>
        <p:spPr>
          <a:xfrm xmlns:a="http://schemas.openxmlformats.org/drawingml/2006/main">
            <a:off x="8763000" y="17145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3225" b="1" i="0">
                <a:solidFill>
                  <a:srgbClr val="122033"/>
                </a:solidFill>
                <a:latin typeface="Arial"/>
                <a:ea typeface="Arial"/>
                <a:cs typeface="Arial"/>
              </a:defRPr>
            </a:pPr>
            <a:r>
              <a:rPr sz="3225" b="1" i="0">
                <a:solidFill>
                  <a:srgbClr val="122033"/>
                </a:solidFill>
                <a:latin typeface="Arial"/>
                <a:ea typeface="Arial"/>
                <a:cs typeface="Arial"/>
              </a:rPr>
              <a:t>400/400</a:t>
            </a:r>
          </a:p>
        </p:txBody>
      </p:sp>
      <p:sp>
        <p:nvSpPr>
          <p:cNvPr id="8" name="">
            <a:extLst xmlns:a="http://schemas.openxmlformats.org/drawingml/2006/main">
              <a:ext uri="{FF2B5EF4-FFF2-40B4-BE49-F238E27FC236}">
                <a16:creationId xmlns:a16="http://schemas.microsoft.com/office/drawing/2014/main" id="{E84B23E8-68C4-4E74-B7F2-0CDD798D1553}"/>
              </a:ext>
            </a:extLst>
          </p:cNvPr>
          <p:cNvSpPr>
            <a:spLocks xmlns:a="http://schemas.openxmlformats.org/drawingml/2006/main" noGrp="1"/>
          </p:cNvSpPr>
          <p:nvPr/>
        </p:nvSpPr>
        <p:spPr>
          <a:xfrm xmlns:a="http://schemas.openxmlformats.org/drawingml/2006/main">
            <a:off x="7239000" y="2362200"/>
            <a:ext cx="390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8534"/>
          </a:bodyPr>
          <a:lstStyle xmlns:a="http://schemas.openxmlformats.org/drawingml/2006/main"/>
          <a:p xmlns:a="http://schemas.openxmlformats.org/drawingml/2006/main">
            <a:pPr algn="r">
              <a:lnSpc>
                <a:spcPct val="105000"/>
              </a:lnSpc>
              <a:buNone/>
              <a:defRPr sz="1200" b="0" i="0">
                <a:solidFill>
                  <a:srgbClr val="667487"/>
                </a:solidFill>
                <a:latin typeface="Arial"/>
                <a:ea typeface="Arial"/>
                <a:cs typeface="Arial"/>
              </a:defRPr>
            </a:pPr>
            <a:r>
              <a:rPr sz="1200" b="0" i="0">
                <a:solidFill>
                  <a:srgbClr val="667487"/>
                </a:solidFill>
                <a:latin typeface="Arial"/>
                <a:ea typeface="Arial"/>
                <a:cs typeface="Arial"/>
              </a:rPr>
              <a:t>All 400 tasks evaluated, with no missing tasks or evaluator errors.</a:t>
            </a:r>
          </a:p>
        </p:txBody>
      </p:sp>
      <p:graphicFrame>
        <p:nvGraphicFramePr>
          <p:cNvPr id="22" name="Chart"/>
          <p:cNvGraphicFramePr/>
          <p:nvPr/>
        </p:nvGraphicFramePr>
        <p:xfrm>
          <a:off xmlns:a="http://schemas.openxmlformats.org/drawingml/2006/main" x="723900" y="3143250"/>
          <a:ext xmlns:a="http://schemas.openxmlformats.org/drawingml/2006/main" cx="10668000" cy="2552700"/>
        </p:xfrm>
        <a:graphic xmlns:a="http://schemas.openxmlformats.org/drawingml/2006/main">
          <a:graphicData uri="http://schemas.openxmlformats.org/drawingml/2006/chart">
            <c:chart xmlns:r="http://schemas.openxmlformats.org/officeDocument/2006/relationships" xmlns:c="http://schemas.openxmlformats.org/drawingml/2006/chart" r:id="R4d627c54cb564690"/>
          </a:graphicData>
        </a:graphic>
      </p:graphicFrame>
      <p:sp>
        <p:nvSpPr>
          <p:cNvPr id="10" name="">
            <a:extLst xmlns:a="http://schemas.openxmlformats.org/drawingml/2006/main">
              <a:ext uri="{FF2B5EF4-FFF2-40B4-BE49-F238E27FC236}">
                <a16:creationId xmlns:a16="http://schemas.microsoft.com/office/drawing/2014/main" id="{684F03D8-738F-4F81-BF6B-16B36C254786}"/>
              </a:ext>
            </a:extLst>
          </p:cNvPr>
          <p:cNvSpPr>
            <a:spLocks xmlns:a="http://schemas.openxmlformats.org/drawingml/2006/main" noGrp="1"/>
          </p:cNvSpPr>
          <p:nvPr/>
        </p:nvSpPr>
        <p:spPr>
          <a:xfrm xmlns:a="http://schemas.openxmlformats.org/drawingml/2006/main">
            <a:off x="742950" y="59055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667487"/>
                </a:solidFill>
                <a:latin typeface="Arial"/>
                <a:ea typeface="Arial"/>
                <a:cs typeface="Arial"/>
              </a:defRPr>
            </a:pPr>
            <a:r>
              <a:rPr sz="1350" b="0" i="0">
                <a:solidFill>
                  <a:srgbClr val="667487"/>
                </a:solidFill>
                <a:latin typeface="Arial"/>
                <a:ea typeface="Arial"/>
                <a:cs typeface="Arial"/>
              </a:rPr>
              <a:t>120,824 of 297,882 target cells matched the reference workbook.</a:t>
            </a:r>
          </a:p>
        </p:txBody>
      </p:sp>
      <p:sp>
        <p:nvSpPr>
          <p:cNvPr id="11" name="">
            <a:extLst xmlns:a="http://schemas.openxmlformats.org/drawingml/2006/main">
              <a:ext uri="{FF2B5EF4-FFF2-40B4-BE49-F238E27FC236}">
                <a16:creationId xmlns:a16="http://schemas.microsoft.com/office/drawing/2014/main" id="{73286A4D-68A2-4E90-8DCD-B284C7C31C91}"/>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12" name="">
            <a:extLst xmlns:a="http://schemas.openxmlformats.org/drawingml/2006/main">
              <a:ext uri="{FF2B5EF4-FFF2-40B4-BE49-F238E27FC236}">
                <a16:creationId xmlns:a16="http://schemas.microsoft.com/office/drawing/2014/main" id="{FD25B531-CDE9-43AF-859B-16704DB78B56}"/>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FORMULABENCH  ·  RESEARCH: EXCEL FORMULA GENERATION</a:t>
            </a:r>
          </a:p>
        </p:txBody>
      </p:sp>
      <p:sp>
        <p:nvSpPr>
          <p:cNvPr id="13" name="">
            <a:extLst xmlns:a="http://schemas.openxmlformats.org/drawingml/2006/main">
              <a:ext uri="{FF2B5EF4-FFF2-40B4-BE49-F238E27FC236}">
                <a16:creationId xmlns:a16="http://schemas.microsoft.com/office/drawing/2014/main" id="{BF2EFA9A-1572-444E-88BB-867754F0CE25}"/>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02</a:t>
            </a:r>
          </a:p>
        </p:txBody>
      </p:sp>
    </p:spTree>
    <p:extLst>
      <p:ext uri="{BB962C8B-B14F-4D97-AF65-F5344CB8AC3E}">
        <p14:creationId xmlns:p14="http://schemas.microsoft.com/office/powerpoint/2010/main" val="1599440613"/>
      </p:ext>
    </p:extLst>
  </p:cSld>
</p:sld>
</file>

<file path=ppt/slides/slide3.xml><?xml version="1.0" encoding="utf-8"?>
<p:sld xmlns:p="http://schemas.openxmlformats.org/presentationml/2006/main">
  <p:cSld>
    <p:bg>
      <p:bgPr>
        <a:solidFill xmlns:a="http://schemas.openxmlformats.org/drawingml/2006/main">
          <a:srgbClr val="F4F0E8"/>
        </a:solidFill>
      </p:bgPr>
    </p:bg>
    <p:spTree>
      <p:nvGrpSpPr>
        <p:cNvPr id="1" name=""/>
        <p:cNvGrpSpPr/>
        <p:nvPr/>
      </p:nvGrpSpPr>
      <p:grpSpPr>
        <a:xfrm xmlns:a="http://schemas.openxmlformats.org/drawingml/2006/main"/>
      </p:grpSpPr>
      <p:sp>
        <p:nvSpPr>
          <p:cNvPr id="32" name="slide-title">
            <a:extLst xmlns:a="http://schemas.openxmlformats.org/drawingml/2006/main">
              <a:ext uri="{FF2B5EF4-FFF2-40B4-BE49-F238E27FC236}">
                <a16:creationId xmlns:a16="http://schemas.microsoft.com/office/drawing/2014/main" id="{88AA8BCF-0F5B-49D6-8DE0-91A9E1398180}"/>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300" b="1" i="0">
                <a:solidFill>
                  <a:srgbClr val="122033"/>
                </a:solidFill>
                <a:latin typeface="Arial"/>
                <a:ea typeface="Arial"/>
                <a:cs typeface="Arial"/>
              </a:defRPr>
            </a:pPr>
            <a:r>
              <a:rPr sz="3300" b="1" i="0">
                <a:solidFill>
                  <a:srgbClr val="122033"/>
                </a:solidFill>
                <a:latin typeface="Arial"/>
                <a:ea typeface="Arial"/>
                <a:cs typeface="Arial"/>
              </a:rPr>
              <a:t>116 of 120 correct cells still produced a failed task</a:t>
            </a:r>
          </a:p>
        </p:txBody>
      </p:sp>
      <p:sp>
        <p:nvSpPr>
          <p:cNvPr id="2" name="">
            <a:extLst xmlns:a="http://schemas.openxmlformats.org/drawingml/2006/main">
              <a:ext uri="{FF2B5EF4-FFF2-40B4-BE49-F238E27FC236}">
                <a16:creationId xmlns:a16="http://schemas.microsoft.com/office/drawing/2014/main" id="{AA7C5634-C637-45C3-A787-A293A5CCDFD2}"/>
              </a:ext>
            </a:extLst>
          </p:cNvPr>
          <p:cNvSpPr>
            <a:spLocks xmlns:a="http://schemas.openxmlformats.org/drawingml/2006/main" noGrp="1"/>
          </p:cNvSpPr>
          <p:nvPr/>
        </p:nvSpPr>
        <p:spPr>
          <a:xfrm xmlns:a="http://schemas.openxmlformats.org/drawingml/2006/main">
            <a:off x="609600" y="1028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667487"/>
                </a:solidFill>
                <a:latin typeface="Arial"/>
                <a:ea typeface="Arial"/>
                <a:cs typeface="Arial"/>
              </a:defRPr>
            </a:pPr>
            <a:r>
              <a:rPr sz="1725" b="0" i="0">
                <a:solidFill>
                  <a:srgbClr val="667487"/>
                </a:solidFill>
                <a:latin typeface="Arial"/>
                <a:ea typeface="Arial"/>
                <a:cs typeface="Arial"/>
              </a:rPr>
              <a:t>Two retained benchmark tasks show the difference between cell accuracy and a complete pass.</a:t>
            </a:r>
          </a:p>
        </p:txBody>
      </p:sp>
      <p:sp>
        <p:nvSpPr>
          <p:cNvPr id="3" name="">
            <a:extLst xmlns:a="http://schemas.openxmlformats.org/drawingml/2006/main">
              <a:ext uri="{FF2B5EF4-FFF2-40B4-BE49-F238E27FC236}">
                <a16:creationId xmlns:a16="http://schemas.microsoft.com/office/drawing/2014/main" id="{AB9A588B-959F-4DD2-AE79-8730BA832AB6}"/>
              </a:ext>
            </a:extLst>
          </p:cNvPr>
          <p:cNvSpPr>
            <a:spLocks xmlns:a="http://schemas.openxmlformats.org/drawingml/2006/main" noGrp="1"/>
          </p:cNvSpPr>
          <p:nvPr/>
        </p:nvSpPr>
        <p:spPr>
          <a:xfrm xmlns:a="http://schemas.openxmlformats.org/drawingml/2006/main">
            <a:off x="609600" y="1619250"/>
            <a:ext cx="5143500" cy="3838575"/>
          </a:xfrm>
          <a:prstGeom xmlns:a="http://schemas.openxmlformats.org/drawingml/2006/main" prst="rect">
            <a:avLst/>
          </a:prstGeom>
          <a:solidFill xmlns:a="http://schemas.openxmlformats.org/drawingml/2006/main">
            <a:srgbClr val="FFFDF8"/>
          </a:solidFill>
          <a:ln xmlns:a="http://schemas.openxmlformats.org/drawingml/2006/main" w="9525">
            <a:solidFill>
              <a:srgbClr val="C9D1D9"/>
            </a:solidFill>
            <a:prstDash val="solid"/>
          </a:ln>
        </p:spPr>
      </p:sp>
      <p:sp>
        <p:nvSpPr>
          <p:cNvPr id="4" name="">
            <a:extLst xmlns:a="http://schemas.openxmlformats.org/drawingml/2006/main">
              <a:ext uri="{FF2B5EF4-FFF2-40B4-BE49-F238E27FC236}">
                <a16:creationId xmlns:a16="http://schemas.microsoft.com/office/drawing/2014/main" id="{6441867C-E644-4FDB-966F-D59A40E8B747}"/>
              </a:ext>
            </a:extLst>
          </p:cNvPr>
          <p:cNvSpPr>
            <a:spLocks xmlns:a="http://schemas.openxmlformats.org/drawingml/2006/main" noGrp="1"/>
          </p:cNvSpPr>
          <p:nvPr/>
        </p:nvSpPr>
        <p:spPr>
          <a:xfrm xmlns:a="http://schemas.openxmlformats.org/drawingml/2006/main">
            <a:off x="609600" y="1619250"/>
            <a:ext cx="5143500" cy="76200"/>
          </a:xfrm>
          <a:prstGeom xmlns:a="http://schemas.openxmlformats.org/drawingml/2006/main" prst="rect">
            <a:avLst/>
          </a:prstGeom>
          <a:solidFill xmlns:a="http://schemas.openxmlformats.org/drawingml/2006/main">
            <a:srgbClr val="35C47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F1D343-4C49-4661-8962-1164C0D28029}"/>
              </a:ext>
            </a:extLst>
          </p:cNvPr>
          <p:cNvSpPr>
            <a:spLocks xmlns:a="http://schemas.openxmlformats.org/drawingml/2006/main" noGrp="1"/>
          </p:cNvSpPr>
          <p:nvPr/>
        </p:nvSpPr>
        <p:spPr>
          <a:xfrm xmlns:a="http://schemas.openxmlformats.org/drawingml/2006/main">
            <a:off x="876300" y="18859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1" i="0">
                <a:solidFill>
                  <a:srgbClr val="667487"/>
                </a:solidFill>
                <a:latin typeface="Arial"/>
                <a:ea typeface="Arial"/>
                <a:cs typeface="Arial"/>
              </a:defRPr>
            </a:pPr>
            <a:r>
              <a:rPr sz="1050" b="1" i="0">
                <a:solidFill>
                  <a:srgbClr val="667487"/>
                </a:solidFill>
                <a:latin typeface="Arial"/>
                <a:ea typeface="Arial"/>
                <a:cs typeface="Arial"/>
              </a:rPr>
              <a:t>TASK 54513</a:t>
            </a:r>
          </a:p>
        </p:txBody>
      </p:sp>
      <p:sp>
        <p:nvSpPr>
          <p:cNvPr id="6" name="">
            <a:extLst xmlns:a="http://schemas.openxmlformats.org/drawingml/2006/main">
              <a:ext uri="{FF2B5EF4-FFF2-40B4-BE49-F238E27FC236}">
                <a16:creationId xmlns:a16="http://schemas.microsoft.com/office/drawing/2014/main" id="{5F7C9A35-EC86-461F-96F0-0DD393D57412}"/>
              </a:ext>
            </a:extLst>
          </p:cNvPr>
          <p:cNvSpPr>
            <a:spLocks xmlns:a="http://schemas.openxmlformats.org/drawingml/2006/main" noGrp="1"/>
          </p:cNvSpPr>
          <p:nvPr/>
        </p:nvSpPr>
        <p:spPr>
          <a:xfrm xmlns:a="http://schemas.openxmlformats.org/drawingml/2006/main">
            <a:off x="4000500" y="1885950"/>
            <a:ext cx="146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1" i="0">
                <a:solidFill>
                  <a:srgbClr val="176B43"/>
                </a:solidFill>
                <a:latin typeface="Arial"/>
                <a:ea typeface="Arial"/>
                <a:cs typeface="Arial"/>
              </a:defRPr>
            </a:pPr>
            <a:r>
              <a:rPr sz="1050" b="1" i="0">
                <a:solidFill>
                  <a:srgbClr val="176B43"/>
                </a:solidFill>
                <a:latin typeface="Arial"/>
                <a:ea typeface="Arial"/>
                <a:cs typeface="Arial"/>
              </a:rPr>
              <a:t>FULL PASS</a:t>
            </a:r>
          </a:p>
        </p:txBody>
      </p:sp>
      <p:sp>
        <p:nvSpPr>
          <p:cNvPr id="7" name="">
            <a:extLst xmlns:a="http://schemas.openxmlformats.org/drawingml/2006/main">
              <a:ext uri="{FF2B5EF4-FFF2-40B4-BE49-F238E27FC236}">
                <a16:creationId xmlns:a16="http://schemas.microsoft.com/office/drawing/2014/main" id="{E5476147-1F1D-4732-9244-05CE8EA29499}"/>
              </a:ext>
            </a:extLst>
          </p:cNvPr>
          <p:cNvSpPr>
            <a:spLocks xmlns:a="http://schemas.openxmlformats.org/drawingml/2006/main" noGrp="1"/>
          </p:cNvSpPr>
          <p:nvPr/>
        </p:nvSpPr>
        <p:spPr>
          <a:xfrm xmlns:a="http://schemas.openxmlformats.org/drawingml/2006/main">
            <a:off x="876300" y="2171700"/>
            <a:ext cx="266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200" b="1" i="0">
                <a:solidFill>
                  <a:srgbClr val="122033"/>
                </a:solidFill>
                <a:latin typeface="Arial"/>
                <a:ea typeface="Arial"/>
                <a:cs typeface="Arial"/>
              </a:defRPr>
            </a:pPr>
            <a:r>
              <a:rPr sz="4200" b="1" i="0">
                <a:solidFill>
                  <a:srgbClr val="122033"/>
                </a:solidFill>
                <a:latin typeface="Arial"/>
                <a:ea typeface="Arial"/>
                <a:cs typeface="Arial"/>
              </a:rPr>
              <a:t>1 / 1</a:t>
            </a:r>
          </a:p>
        </p:txBody>
      </p:sp>
      <p:sp>
        <p:nvSpPr>
          <p:cNvPr id="8" name="">
            <a:extLst xmlns:a="http://schemas.openxmlformats.org/drawingml/2006/main">
              <a:ext uri="{FF2B5EF4-FFF2-40B4-BE49-F238E27FC236}">
                <a16:creationId xmlns:a16="http://schemas.microsoft.com/office/drawing/2014/main" id="{FE24A0A6-8F51-45A1-86F1-429F42263B00}"/>
              </a:ext>
            </a:extLst>
          </p:cNvPr>
          <p:cNvSpPr>
            <a:spLocks xmlns:a="http://schemas.openxmlformats.org/drawingml/2006/main" noGrp="1"/>
          </p:cNvSpPr>
          <p:nvPr/>
        </p:nvSpPr>
        <p:spPr>
          <a:xfrm xmlns:a="http://schemas.openxmlformats.org/drawingml/2006/main">
            <a:off x="914400" y="28384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35C47A"/>
                </a:solidFill>
                <a:latin typeface="Arial"/>
                <a:ea typeface="Arial"/>
                <a:cs typeface="Arial"/>
              </a:defRPr>
            </a:pPr>
            <a:r>
              <a:rPr sz="1350" b="1" i="0">
                <a:solidFill>
                  <a:srgbClr val="35C47A"/>
                </a:solidFill>
                <a:latin typeface="Arial"/>
                <a:ea typeface="Arial"/>
                <a:cs typeface="Arial"/>
              </a:rPr>
              <a:t>target cell correct</a:t>
            </a:r>
          </a:p>
        </p:txBody>
      </p:sp>
      <p:sp>
        <p:nvSpPr>
          <p:cNvPr id="9" name="">
            <a:extLst xmlns:a="http://schemas.openxmlformats.org/drawingml/2006/main">
              <a:ext uri="{FF2B5EF4-FFF2-40B4-BE49-F238E27FC236}">
                <a16:creationId xmlns:a16="http://schemas.microsoft.com/office/drawing/2014/main" id="{0C569286-2B5F-4B03-B029-5701B98EDBAB}"/>
              </a:ext>
            </a:extLst>
          </p:cNvPr>
          <p:cNvSpPr>
            <a:spLocks xmlns:a="http://schemas.openxmlformats.org/drawingml/2006/main" noGrp="1"/>
          </p:cNvSpPr>
          <p:nvPr/>
        </p:nvSpPr>
        <p:spPr>
          <a:xfrm xmlns:a="http://schemas.openxmlformats.org/drawingml/2006/main">
            <a:off x="876300" y="3276600"/>
            <a:ext cx="428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22033"/>
                </a:solidFill>
                <a:latin typeface="Arial"/>
                <a:ea typeface="Arial"/>
                <a:cs typeface="Arial"/>
              </a:defRPr>
            </a:pPr>
            <a:r>
              <a:rPr sz="1575" b="1" i="0">
                <a:solidFill>
                  <a:srgbClr val="122033"/>
                </a:solidFill>
                <a:latin typeface="Arial"/>
                <a:ea typeface="Arial"/>
                <a:cs typeface="Arial"/>
              </a:rPr>
              <a:t>$34.99 with a 55% discount</a:t>
            </a:r>
          </a:p>
        </p:txBody>
      </p:sp>
      <p:sp>
        <p:nvSpPr>
          <p:cNvPr id="10" name="">
            <a:extLst xmlns:a="http://schemas.openxmlformats.org/drawingml/2006/main">
              <a:ext uri="{FF2B5EF4-FFF2-40B4-BE49-F238E27FC236}">
                <a16:creationId xmlns:a16="http://schemas.microsoft.com/office/drawing/2014/main" id="{0BDA4759-A03B-439C-A5F4-821EB53BA79B}"/>
              </a:ext>
            </a:extLst>
          </p:cNvPr>
          <p:cNvSpPr>
            <a:spLocks xmlns:a="http://schemas.openxmlformats.org/drawingml/2006/main" noGrp="1"/>
          </p:cNvSpPr>
          <p:nvPr/>
        </p:nvSpPr>
        <p:spPr>
          <a:xfrm xmlns:a="http://schemas.openxmlformats.org/drawingml/2006/main">
            <a:off x="876300" y="371475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125" b="1" i="0">
                <a:solidFill>
                  <a:srgbClr val="667487"/>
                </a:solidFill>
                <a:latin typeface="Menlo"/>
                <a:ea typeface="Menlo"/>
                <a:cs typeface="Menlo"/>
              </a:defRPr>
            </a:pPr>
            <a:r>
              <a:rPr sz="1125" b="1" i="0">
                <a:solidFill>
                  <a:srgbClr val="667487"/>
                </a:solidFill>
                <a:latin typeface="Menlo"/>
                <a:ea typeface="Menlo"/>
                <a:cs typeface="Menlo"/>
              </a:rPr>
              <a:t>Sheet1!F8</a:t>
            </a:r>
          </a:p>
        </p:txBody>
      </p:sp>
      <p:sp>
        <p:nvSpPr>
          <p:cNvPr id="11" name="">
            <a:extLst xmlns:a="http://schemas.openxmlformats.org/drawingml/2006/main">
              <a:ext uri="{FF2B5EF4-FFF2-40B4-BE49-F238E27FC236}">
                <a16:creationId xmlns:a16="http://schemas.microsoft.com/office/drawing/2014/main" id="{EAFC11CB-1EF1-4D38-826A-9833E3E4642C}"/>
              </a:ext>
            </a:extLst>
          </p:cNvPr>
          <p:cNvSpPr>
            <a:spLocks xmlns:a="http://schemas.openxmlformats.org/drawingml/2006/main" noGrp="1"/>
          </p:cNvSpPr>
          <p:nvPr/>
        </p:nvSpPr>
        <p:spPr>
          <a:xfrm xmlns:a="http://schemas.openxmlformats.org/drawingml/2006/main">
            <a:off x="876300" y="4000500"/>
            <a:ext cx="4610100" cy="552450"/>
          </a:xfrm>
          <a:prstGeom xmlns:a="http://schemas.openxmlformats.org/drawingml/2006/main" prst="rect">
            <a:avLst/>
          </a:prstGeom>
          <a:solidFill xmlns:a="http://schemas.openxmlformats.org/drawingml/2006/main">
            <a:srgbClr val="0B17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142DF45-DEC3-49EB-B756-BD6DE9720492}"/>
              </a:ext>
            </a:extLst>
          </p:cNvPr>
          <p:cNvSpPr>
            <a:spLocks xmlns:a="http://schemas.openxmlformats.org/drawingml/2006/main" noGrp="1"/>
          </p:cNvSpPr>
          <p:nvPr/>
        </p:nvSpPr>
        <p:spPr>
          <a:xfrm xmlns:a="http://schemas.openxmlformats.org/drawingml/2006/main">
            <a:off x="1066800" y="4114800"/>
            <a:ext cx="422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875" b="1" i="0">
                <a:solidFill>
                  <a:srgbClr val="FFFFFF"/>
                </a:solidFill>
                <a:latin typeface="Menlo"/>
                <a:ea typeface="Menlo"/>
                <a:cs typeface="Menlo"/>
              </a:defRPr>
            </a:pPr>
            <a:r>
              <a:rPr sz="1875" b="1" i="0">
                <a:solidFill>
                  <a:srgbClr val="FFFFFF"/>
                </a:solidFill>
                <a:latin typeface="Menlo"/>
                <a:ea typeface="Menlo"/>
                <a:cs typeface="Menlo"/>
              </a:rPr>
              <a:t>=C8*(1-E8)</a:t>
            </a:r>
          </a:p>
        </p:txBody>
      </p:sp>
      <p:sp>
        <p:nvSpPr>
          <p:cNvPr id="13" name="">
            <a:extLst xmlns:a="http://schemas.openxmlformats.org/drawingml/2006/main">
              <a:ext uri="{FF2B5EF4-FFF2-40B4-BE49-F238E27FC236}">
                <a16:creationId xmlns:a16="http://schemas.microsoft.com/office/drawing/2014/main" id="{03BA59E5-76E5-446A-B14D-B0CCA77F8BD5}"/>
              </a:ext>
            </a:extLst>
          </p:cNvPr>
          <p:cNvSpPr>
            <a:spLocks xmlns:a="http://schemas.openxmlformats.org/drawingml/2006/main" noGrp="1"/>
          </p:cNvSpPr>
          <p:nvPr/>
        </p:nvSpPr>
        <p:spPr>
          <a:xfrm xmlns:a="http://schemas.openxmlformats.org/drawingml/2006/main">
            <a:off x="876300" y="47625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250" b="1" i="0">
                <a:solidFill>
                  <a:srgbClr val="122033"/>
                </a:solidFill>
                <a:latin typeface="Arial"/>
                <a:ea typeface="Arial"/>
                <a:cs typeface="Arial"/>
              </a:defRPr>
            </a:pPr>
            <a:r>
              <a:rPr sz="2250" b="1" i="0">
                <a:solidFill>
                  <a:srgbClr val="122033"/>
                </a:solidFill>
                <a:latin typeface="Arial"/>
                <a:ea typeface="Arial"/>
                <a:cs typeface="Arial"/>
              </a:rPr>
              <a:t>15.7455</a:t>
            </a:r>
          </a:p>
        </p:txBody>
      </p:sp>
      <p:sp>
        <p:nvSpPr>
          <p:cNvPr id="14" name="">
            <a:extLst xmlns:a="http://schemas.openxmlformats.org/drawingml/2006/main">
              <a:ext uri="{FF2B5EF4-FFF2-40B4-BE49-F238E27FC236}">
                <a16:creationId xmlns:a16="http://schemas.microsoft.com/office/drawing/2014/main" id="{81E5B98E-BA31-4C18-9872-B37C6179E24E}"/>
              </a:ext>
            </a:extLst>
          </p:cNvPr>
          <p:cNvSpPr>
            <a:spLocks xmlns:a="http://schemas.openxmlformats.org/drawingml/2006/main" noGrp="1"/>
          </p:cNvSpPr>
          <p:nvPr/>
        </p:nvSpPr>
        <p:spPr>
          <a:xfrm xmlns:a="http://schemas.openxmlformats.org/drawingml/2006/main">
            <a:off x="895350" y="515302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667487"/>
                </a:solidFill>
                <a:latin typeface="Arial"/>
                <a:ea typeface="Arial"/>
                <a:cs typeface="Arial"/>
              </a:defRPr>
            </a:pPr>
            <a:r>
              <a:rPr sz="1050" b="0" i="0">
                <a:solidFill>
                  <a:srgbClr val="667487"/>
                </a:solidFill>
                <a:latin typeface="Arial"/>
                <a:ea typeface="Arial"/>
                <a:cs typeface="Arial"/>
              </a:rPr>
              <a:t>exact value</a:t>
            </a:r>
          </a:p>
        </p:txBody>
      </p:sp>
      <p:sp>
        <p:nvSpPr>
          <p:cNvPr id="15" name="">
            <a:extLst xmlns:a="http://schemas.openxmlformats.org/drawingml/2006/main">
              <a:ext uri="{FF2B5EF4-FFF2-40B4-BE49-F238E27FC236}">
                <a16:creationId xmlns:a16="http://schemas.microsoft.com/office/drawing/2014/main" id="{D76C6F0C-92E6-47AB-A27C-885470AE2EAA}"/>
              </a:ext>
            </a:extLst>
          </p:cNvPr>
          <p:cNvSpPr>
            <a:spLocks xmlns:a="http://schemas.openxmlformats.org/drawingml/2006/main" noGrp="1"/>
          </p:cNvSpPr>
          <p:nvPr/>
        </p:nvSpPr>
        <p:spPr>
          <a:xfrm xmlns:a="http://schemas.openxmlformats.org/drawingml/2006/main">
            <a:off x="3333750" y="4762500"/>
            <a:ext cx="2133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2250" b="1" i="0">
                <a:solidFill>
                  <a:srgbClr val="35C47A"/>
                </a:solidFill>
                <a:latin typeface="Arial"/>
                <a:ea typeface="Arial"/>
                <a:cs typeface="Arial"/>
              </a:defRPr>
            </a:pPr>
            <a:r>
              <a:rPr sz="2250" b="1" i="0">
                <a:solidFill>
                  <a:srgbClr val="35C47A"/>
                </a:solidFill>
                <a:latin typeface="Arial"/>
                <a:ea typeface="Arial"/>
                <a:cs typeface="Arial"/>
              </a:rPr>
              <a:t>15.75</a:t>
            </a:r>
          </a:p>
        </p:txBody>
      </p:sp>
      <p:sp>
        <p:nvSpPr>
          <p:cNvPr id="16" name="">
            <a:extLst xmlns:a="http://schemas.openxmlformats.org/drawingml/2006/main">
              <a:ext uri="{FF2B5EF4-FFF2-40B4-BE49-F238E27FC236}">
                <a16:creationId xmlns:a16="http://schemas.microsoft.com/office/drawing/2014/main" id="{B6E97D94-7A10-4CFE-A81A-6135212387E6}"/>
              </a:ext>
            </a:extLst>
          </p:cNvPr>
          <p:cNvSpPr>
            <a:spLocks xmlns:a="http://schemas.openxmlformats.org/drawingml/2006/main" noGrp="1"/>
          </p:cNvSpPr>
          <p:nvPr/>
        </p:nvSpPr>
        <p:spPr>
          <a:xfrm xmlns:a="http://schemas.openxmlformats.org/drawingml/2006/main">
            <a:off x="3333750" y="5153025"/>
            <a:ext cx="2133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667487"/>
                </a:solidFill>
                <a:latin typeface="Arial"/>
                <a:ea typeface="Arial"/>
                <a:cs typeface="Arial"/>
              </a:defRPr>
            </a:pPr>
            <a:r>
              <a:rPr sz="1050" b="0" i="0">
                <a:solidFill>
                  <a:srgbClr val="667487"/>
                </a:solidFill>
                <a:latin typeface="Arial"/>
                <a:ea typeface="Arial"/>
                <a:cs typeface="Arial"/>
              </a:rPr>
              <a:t>displayed value</a:t>
            </a:r>
          </a:p>
        </p:txBody>
      </p:sp>
      <p:sp>
        <p:nvSpPr>
          <p:cNvPr id="17" name="">
            <a:extLst xmlns:a="http://schemas.openxmlformats.org/drawingml/2006/main">
              <a:ext uri="{FF2B5EF4-FFF2-40B4-BE49-F238E27FC236}">
                <a16:creationId xmlns:a16="http://schemas.microsoft.com/office/drawing/2014/main" id="{B52686C6-22B6-4B0E-91F7-F4D2FFEC040B}"/>
              </a:ext>
            </a:extLst>
          </p:cNvPr>
          <p:cNvSpPr>
            <a:spLocks xmlns:a="http://schemas.openxmlformats.org/drawingml/2006/main" noGrp="1"/>
          </p:cNvSpPr>
          <p:nvPr/>
        </p:nvSpPr>
        <p:spPr>
          <a:xfrm xmlns:a="http://schemas.openxmlformats.org/drawingml/2006/main">
            <a:off x="6438900" y="1619250"/>
            <a:ext cx="5143500" cy="3838575"/>
          </a:xfrm>
          <a:prstGeom xmlns:a="http://schemas.openxmlformats.org/drawingml/2006/main" prst="rect">
            <a:avLst/>
          </a:prstGeom>
          <a:solidFill xmlns:a="http://schemas.openxmlformats.org/drawingml/2006/main">
            <a:srgbClr val="FFFDF8"/>
          </a:solidFill>
          <a:ln xmlns:a="http://schemas.openxmlformats.org/drawingml/2006/main" w="9525">
            <a:solidFill>
              <a:srgbClr val="C9D1D9"/>
            </a:solidFill>
            <a:prstDash val="solid"/>
          </a:ln>
        </p:spPr>
      </p:sp>
      <p:sp>
        <p:nvSpPr>
          <p:cNvPr id="18" name="">
            <a:extLst xmlns:a="http://schemas.openxmlformats.org/drawingml/2006/main">
              <a:ext uri="{FF2B5EF4-FFF2-40B4-BE49-F238E27FC236}">
                <a16:creationId xmlns:a16="http://schemas.microsoft.com/office/drawing/2014/main" id="{05D8A367-1A9B-44C1-86E8-D8B37D3CA0B3}"/>
              </a:ext>
            </a:extLst>
          </p:cNvPr>
          <p:cNvSpPr>
            <a:spLocks xmlns:a="http://schemas.openxmlformats.org/drawingml/2006/main" noGrp="1"/>
          </p:cNvSpPr>
          <p:nvPr/>
        </p:nvSpPr>
        <p:spPr>
          <a:xfrm xmlns:a="http://schemas.openxmlformats.org/drawingml/2006/main">
            <a:off x="6438900" y="1619250"/>
            <a:ext cx="5143500" cy="76200"/>
          </a:xfrm>
          <a:prstGeom xmlns:a="http://schemas.openxmlformats.org/drawingml/2006/main" prst="rect">
            <a:avLst/>
          </a:prstGeom>
          <a:solidFill xmlns:a="http://schemas.openxmlformats.org/drawingml/2006/main">
            <a:srgbClr val="E76464"/>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3170B09-A416-416E-9CF4-B33225C97941}"/>
              </a:ext>
            </a:extLst>
          </p:cNvPr>
          <p:cNvSpPr>
            <a:spLocks xmlns:a="http://schemas.openxmlformats.org/drawingml/2006/main" noGrp="1"/>
          </p:cNvSpPr>
          <p:nvPr/>
        </p:nvSpPr>
        <p:spPr>
          <a:xfrm xmlns:a="http://schemas.openxmlformats.org/drawingml/2006/main">
            <a:off x="6705600" y="18859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1" i="0">
                <a:solidFill>
                  <a:srgbClr val="667487"/>
                </a:solidFill>
                <a:latin typeface="Arial"/>
                <a:ea typeface="Arial"/>
                <a:cs typeface="Arial"/>
              </a:defRPr>
            </a:pPr>
            <a:r>
              <a:rPr sz="1050" b="1" i="0">
                <a:solidFill>
                  <a:srgbClr val="667487"/>
                </a:solidFill>
                <a:latin typeface="Arial"/>
                <a:ea typeface="Arial"/>
                <a:cs typeface="Arial"/>
              </a:rPr>
              <a:t>TASK 13-1</a:t>
            </a:r>
          </a:p>
        </p:txBody>
      </p:sp>
      <p:sp>
        <p:nvSpPr>
          <p:cNvPr id="20" name="">
            <a:extLst xmlns:a="http://schemas.openxmlformats.org/drawingml/2006/main">
              <a:ext uri="{FF2B5EF4-FFF2-40B4-BE49-F238E27FC236}">
                <a16:creationId xmlns:a16="http://schemas.microsoft.com/office/drawing/2014/main" id="{6746A751-15A7-4D6F-87DE-E2F360029109}"/>
              </a:ext>
            </a:extLst>
          </p:cNvPr>
          <p:cNvSpPr>
            <a:spLocks xmlns:a="http://schemas.openxmlformats.org/drawingml/2006/main" noGrp="1"/>
          </p:cNvSpPr>
          <p:nvPr/>
        </p:nvSpPr>
        <p:spPr>
          <a:xfrm xmlns:a="http://schemas.openxmlformats.org/drawingml/2006/main">
            <a:off x="9525000" y="1885950"/>
            <a:ext cx="1790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1" i="0">
                <a:solidFill>
                  <a:srgbClr val="E76464"/>
                </a:solidFill>
                <a:latin typeface="Arial"/>
                <a:ea typeface="Arial"/>
                <a:cs typeface="Arial"/>
              </a:defRPr>
            </a:pPr>
            <a:r>
              <a:rPr sz="1050" b="1" i="0">
                <a:solidFill>
                  <a:srgbClr val="E76464"/>
                </a:solidFill>
                <a:latin typeface="Arial"/>
                <a:ea typeface="Arial"/>
                <a:cs typeface="Arial"/>
              </a:rPr>
              <a:t>FULL TASK FAILED</a:t>
            </a:r>
          </a:p>
        </p:txBody>
      </p:sp>
      <p:sp>
        <p:nvSpPr>
          <p:cNvPr id="21" name="">
            <a:extLst xmlns:a="http://schemas.openxmlformats.org/drawingml/2006/main">
              <a:ext uri="{FF2B5EF4-FFF2-40B4-BE49-F238E27FC236}">
                <a16:creationId xmlns:a16="http://schemas.microsoft.com/office/drawing/2014/main" id="{EED5E5DD-8A03-44FF-92BD-1A501DA51288}"/>
              </a:ext>
            </a:extLst>
          </p:cNvPr>
          <p:cNvSpPr>
            <a:spLocks xmlns:a="http://schemas.openxmlformats.org/drawingml/2006/main" noGrp="1"/>
          </p:cNvSpPr>
          <p:nvPr/>
        </p:nvSpPr>
        <p:spPr>
          <a:xfrm xmlns:a="http://schemas.openxmlformats.org/drawingml/2006/main">
            <a:off x="6705600" y="2171700"/>
            <a:ext cx="314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200" b="1" i="0">
                <a:solidFill>
                  <a:srgbClr val="122033"/>
                </a:solidFill>
                <a:latin typeface="Arial"/>
                <a:ea typeface="Arial"/>
                <a:cs typeface="Arial"/>
              </a:defRPr>
            </a:pPr>
            <a:r>
              <a:rPr sz="4200" b="1" i="0">
                <a:solidFill>
                  <a:srgbClr val="122033"/>
                </a:solidFill>
                <a:latin typeface="Arial"/>
                <a:ea typeface="Arial"/>
                <a:cs typeface="Arial"/>
              </a:rPr>
              <a:t>116 / 120</a:t>
            </a:r>
          </a:p>
        </p:txBody>
      </p:sp>
      <p:sp>
        <p:nvSpPr>
          <p:cNvPr id="22" name="">
            <a:extLst xmlns:a="http://schemas.openxmlformats.org/drawingml/2006/main">
              <a:ext uri="{FF2B5EF4-FFF2-40B4-BE49-F238E27FC236}">
                <a16:creationId xmlns:a16="http://schemas.microsoft.com/office/drawing/2014/main" id="{2E902D8A-C634-4BA4-9B9A-354BEB961037}"/>
              </a:ext>
            </a:extLst>
          </p:cNvPr>
          <p:cNvSpPr>
            <a:spLocks xmlns:a="http://schemas.openxmlformats.org/drawingml/2006/main" noGrp="1"/>
          </p:cNvSpPr>
          <p:nvPr/>
        </p:nvSpPr>
        <p:spPr>
          <a:xfrm xmlns:a="http://schemas.openxmlformats.org/drawingml/2006/main">
            <a:off x="6743700" y="28384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E76464"/>
                </a:solidFill>
                <a:latin typeface="Arial"/>
                <a:ea typeface="Arial"/>
                <a:cs typeface="Arial"/>
              </a:defRPr>
            </a:pPr>
            <a:r>
              <a:rPr sz="1350" b="1" i="0">
                <a:solidFill>
                  <a:srgbClr val="E76464"/>
                </a:solidFill>
                <a:latin typeface="Arial"/>
                <a:ea typeface="Arial"/>
                <a:cs typeface="Arial"/>
              </a:rPr>
              <a:t>target cells correct</a:t>
            </a:r>
          </a:p>
        </p:txBody>
      </p:sp>
      <p:sp>
        <p:nvSpPr>
          <p:cNvPr id="23" name="">
            <a:extLst xmlns:a="http://schemas.openxmlformats.org/drawingml/2006/main">
              <a:ext uri="{FF2B5EF4-FFF2-40B4-BE49-F238E27FC236}">
                <a16:creationId xmlns:a16="http://schemas.microsoft.com/office/drawing/2014/main" id="{6E868709-AABB-48DF-A0A1-EFBE6B19C5F4}"/>
              </a:ext>
            </a:extLst>
          </p:cNvPr>
          <p:cNvSpPr>
            <a:spLocks xmlns:a="http://schemas.openxmlformats.org/drawingml/2006/main" noGrp="1"/>
          </p:cNvSpPr>
          <p:nvPr/>
        </p:nvSpPr>
        <p:spPr>
          <a:xfrm xmlns:a="http://schemas.openxmlformats.org/drawingml/2006/main">
            <a:off x="9029700" y="2847975"/>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275" b="1" i="0">
                <a:solidFill>
                  <a:srgbClr val="122033"/>
                </a:solidFill>
                <a:latin typeface="Arial"/>
                <a:ea typeface="Arial"/>
                <a:cs typeface="Arial"/>
              </a:defRPr>
            </a:pPr>
            <a:r>
              <a:rPr sz="1275" b="1" i="0">
                <a:solidFill>
                  <a:srgbClr val="122033"/>
                </a:solidFill>
                <a:latin typeface="Arial"/>
                <a:ea typeface="Arial"/>
                <a:cs typeface="Arial"/>
              </a:rPr>
              <a:t>96.67% cell accuracy</a:t>
            </a:r>
          </a:p>
        </p:txBody>
      </p:sp>
      <p:sp>
        <p:nvSpPr>
          <p:cNvPr id="24" name="">
            <a:extLst xmlns:a="http://schemas.openxmlformats.org/drawingml/2006/main">
              <a:ext uri="{FF2B5EF4-FFF2-40B4-BE49-F238E27FC236}">
                <a16:creationId xmlns:a16="http://schemas.microsoft.com/office/drawing/2014/main" id="{B25EC9EE-B382-437D-AA69-D4DF5E8A5203}"/>
              </a:ext>
            </a:extLst>
          </p:cNvPr>
          <p:cNvSpPr>
            <a:spLocks xmlns:a="http://schemas.openxmlformats.org/drawingml/2006/main" noGrp="1"/>
          </p:cNvSpPr>
          <p:nvPr/>
        </p:nvSpPr>
        <p:spPr>
          <a:xfrm xmlns:a="http://schemas.openxmlformats.org/drawingml/2006/main">
            <a:off x="6705600" y="3276600"/>
            <a:ext cx="4610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125" b="1" i="0">
                <a:solidFill>
                  <a:srgbClr val="122033"/>
                </a:solidFill>
                <a:latin typeface="Arial"/>
                <a:ea typeface="Arial"/>
                <a:cs typeface="Arial"/>
              </a:defRPr>
            </a:pPr>
            <a:r>
              <a:rPr sz="1125" b="1" i="0">
                <a:solidFill>
                  <a:srgbClr val="122033"/>
                </a:solidFill>
                <a:latin typeface="Arial"/>
                <a:ea typeface="Arial"/>
                <a:cs typeface="Arial"/>
              </a:rPr>
              <a:t>Merged duplicate records, then sorted the output.</a:t>
            </a:r>
          </a:p>
        </p:txBody>
      </p:sp>
      <p:sp>
        <p:nvSpPr>
          <p:cNvPr id="25" name="">
            <a:extLst xmlns:a="http://schemas.openxmlformats.org/drawingml/2006/main">
              <a:ext uri="{FF2B5EF4-FFF2-40B4-BE49-F238E27FC236}">
                <a16:creationId xmlns:a16="http://schemas.microsoft.com/office/drawing/2014/main" id="{EE038565-5CFC-4932-A4A1-BDA2973A2C6A}"/>
              </a:ext>
            </a:extLst>
          </p:cNvPr>
          <p:cNvSpPr>
            <a:spLocks xmlns:a="http://schemas.openxmlformats.org/drawingml/2006/main" noGrp="1"/>
          </p:cNvSpPr>
          <p:nvPr/>
        </p:nvSpPr>
        <p:spPr>
          <a:xfrm xmlns:a="http://schemas.openxmlformats.org/drawingml/2006/main">
            <a:off x="6705600" y="3533775"/>
            <a:ext cx="4610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125" b="0" i="0">
                <a:solidFill>
                  <a:srgbClr val="667487"/>
                </a:solidFill>
                <a:latin typeface="Arial"/>
                <a:ea typeface="Arial"/>
                <a:cs typeface="Arial"/>
              </a:defRPr>
            </a:pPr>
            <a:r>
              <a:rPr sz="1125" b="0" i="0">
                <a:solidFill>
                  <a:srgbClr val="667487"/>
                </a:solidFill>
                <a:latin typeface="Arial"/>
                <a:ea typeface="Arial"/>
                <a:cs typeface="Arial"/>
              </a:rPr>
              <a:t>Four amounts differed. D32 is the final total.</a:t>
            </a:r>
          </a:p>
        </p:txBody>
      </p:sp>
      <p:graphicFrame>
        <p:nvGraphicFramePr>
          <p:cNvPr id="57" name=""/>
          <p:cNvGraphicFramePr/>
          <p:nvPr/>
        </p:nvGraphicFramePr>
        <p:xfrm>
          <a:off xmlns:a="http://schemas.openxmlformats.org/drawingml/2006/main" x="6705600" y="3790950"/>
          <a:ext xmlns:a="http://schemas.openxmlformats.org/drawingml/2006/main" cx="4610100" cy="1447800"/>
        </p:xfrm>
        <a:graphic xmlns:a="http://schemas.openxmlformats.org/drawingml/2006/main">
          <a:graphicData uri="http://schemas.openxmlformats.org/drawingml/2006/table">
            <a:tbl>
              <a:tblPr/>
              <a:tblGrid>
                <a:gridCol w="1847850"/>
                <a:gridCol w="1381125"/>
                <a:gridCol w="1381125"/>
              </a:tblGrid>
              <a:tr h="266700">
                <a:tc>
                  <a:txBody>
                    <a:bodyPr lIns="76200" tIns="38100" rIns="76200" bIns="38100">
                      <a:normAutofit/>
                    </a:bodyPr>
                    <a:lstStyle/>
                    <a:p>
                      <a:pPr algn="l"/>
                      <a:r>
                        <a:rPr sz="1050" b="1">
                          <a:solidFill>
                            <a:srgbClr val="FFFFFF"/>
                          </a:solidFill>
                          <a:latin typeface="Arial"/>
                          <a:ea typeface="Arial"/>
                          <a:cs typeface="Arial"/>
                        </a:rPr>
                        <a:t>Cell</a:t>
                      </a:r>
                    </a:p>
                  </a:txBody>
                  <a:tcPr marL="91440" marR="91440" marT="45720" marB="45720" anchor="ctr">
                    <a:solidFill>
                      <a:srgbClr val="0B172A"/>
                    </a:solidFill>
                  </a:tcPr>
                </a:tc>
                <a:tc>
                  <a:txBody>
                    <a:bodyPr lIns="76200" tIns="38100" rIns="76200" bIns="38100">
                      <a:normAutofit/>
                    </a:bodyPr>
                    <a:lstStyle/>
                    <a:p>
                      <a:pPr algn="r"/>
                      <a:r>
                        <a:rPr sz="1050" b="1">
                          <a:solidFill>
                            <a:srgbClr val="FFFFFF"/>
                          </a:solidFill>
                          <a:latin typeface="Arial"/>
                          <a:ea typeface="Arial"/>
                          <a:cs typeface="Arial"/>
                        </a:rPr>
                        <a:t>Expected</a:t>
                      </a:r>
                    </a:p>
                  </a:txBody>
                  <a:tcPr marL="91440" marR="91440" marT="45720" marB="45720" anchor="ctr">
                    <a:solidFill>
                      <a:srgbClr val="0B172A"/>
                    </a:solidFill>
                  </a:tcPr>
                </a:tc>
                <a:tc>
                  <a:txBody>
                    <a:bodyPr lIns="76200" tIns="38100" rIns="76200" bIns="38100">
                      <a:normAutofit/>
                    </a:bodyPr>
                    <a:lstStyle/>
                    <a:p>
                      <a:pPr algn="r"/>
                      <a:r>
                        <a:rPr sz="1050" b="1">
                          <a:solidFill>
                            <a:srgbClr val="FFFFFF"/>
                          </a:solidFill>
                          <a:latin typeface="Arial"/>
                          <a:ea typeface="Arial"/>
                          <a:cs typeface="Arial"/>
                        </a:rPr>
                        <a:t>Produced</a:t>
                      </a:r>
                    </a:p>
                  </a:txBody>
                  <a:tcPr marL="91440" marR="91440" marT="45720" marB="45720" anchor="ctr">
                    <a:solidFill>
                      <a:srgbClr val="0B172A"/>
                    </a:solidFill>
                  </a:tcPr>
                </a:tc>
              </a:tr>
              <a:tr h="295275">
                <a:tc>
                  <a:txBody>
                    <a:bodyPr lIns="76200" tIns="38100" rIns="76200" bIns="38100">
                      <a:normAutofit/>
                    </a:bodyPr>
                    <a:lstStyle/>
                    <a:p>
                      <a:pPr algn="l"/>
                      <a:r>
                        <a:rPr sz="1125" b="1">
                          <a:solidFill>
                            <a:srgbClr val="122033"/>
                          </a:solidFill>
                          <a:latin typeface="Menlo"/>
                          <a:ea typeface="Menlo"/>
                          <a:cs typeface="Menlo"/>
                        </a:rPr>
                        <a:t>LISTS!D25</a:t>
                      </a:r>
                    </a:p>
                  </a:txBody>
                  <a:tcPr marL="91440" marR="91440" marT="45720" marB="45720" anchor="ctr">
                    <a:solidFill>
                      <a:srgbClr val="FFFDF8"/>
                    </a:solidFill>
                  </a:tcPr>
                </a:tc>
                <a:tc>
                  <a:txBody>
                    <a:bodyPr lIns="76200" tIns="38100" rIns="76200" bIns="38100">
                      <a:normAutofit/>
                    </a:bodyPr>
                    <a:lstStyle/>
                    <a:p>
                      <a:pPr algn="r"/>
                      <a:r>
                        <a:rPr sz="1125" b="0">
                          <a:solidFill>
                            <a:srgbClr val="122033"/>
                          </a:solidFill>
                          <a:latin typeface="Arial"/>
                          <a:ea typeface="Arial"/>
                          <a:cs typeface="Arial"/>
                        </a:rPr>
                        <a:t>1,990</a:t>
                      </a:r>
                    </a:p>
                  </a:txBody>
                  <a:tcPr marL="91440" marR="91440" marT="45720" marB="45720" anchor="ctr">
                    <a:solidFill>
                      <a:srgbClr val="FFFDF8"/>
                    </a:solidFill>
                  </a:tcPr>
                </a:tc>
                <a:tc>
                  <a:txBody>
                    <a:bodyPr lIns="76200" tIns="38100" rIns="76200" bIns="38100">
                      <a:normAutofit/>
                    </a:bodyPr>
                    <a:lstStyle/>
                    <a:p>
                      <a:pPr algn="r"/>
                      <a:r>
                        <a:rPr sz="1125" b="0">
                          <a:solidFill>
                            <a:srgbClr val="9B3030"/>
                          </a:solidFill>
                          <a:latin typeface="Arial"/>
                          <a:ea typeface="Arial"/>
                          <a:cs typeface="Arial"/>
                        </a:rPr>
                        <a:t>2,020</a:t>
                      </a:r>
                    </a:p>
                  </a:txBody>
                  <a:tcPr marL="91440" marR="91440" marT="45720" marB="45720" anchor="ctr">
                    <a:solidFill>
                      <a:srgbClr val="FBE6E4"/>
                    </a:solidFill>
                  </a:tcPr>
                </a:tc>
              </a:tr>
              <a:tr h="295275">
                <a:tc>
                  <a:txBody>
                    <a:bodyPr lIns="76200" tIns="38100" rIns="76200" bIns="38100">
                      <a:normAutofit/>
                    </a:bodyPr>
                    <a:lstStyle/>
                    <a:p>
                      <a:pPr algn="l"/>
                      <a:r>
                        <a:rPr sz="1125" b="1">
                          <a:solidFill>
                            <a:srgbClr val="122033"/>
                          </a:solidFill>
                          <a:latin typeface="Menlo"/>
                          <a:ea typeface="Menlo"/>
                          <a:cs typeface="Menlo"/>
                        </a:rPr>
                        <a:t>LISTS!D30</a:t>
                      </a:r>
                    </a:p>
                  </a:txBody>
                  <a:tcPr marL="91440" marR="91440" marT="45720" marB="45720" anchor="ctr">
                    <a:solidFill>
                      <a:srgbClr val="FFFDF8"/>
                    </a:solidFill>
                  </a:tcPr>
                </a:tc>
                <a:tc>
                  <a:txBody>
                    <a:bodyPr lIns="76200" tIns="38100" rIns="76200" bIns="38100">
                      <a:normAutofit/>
                    </a:bodyPr>
                    <a:lstStyle/>
                    <a:p>
                      <a:pPr algn="r"/>
                      <a:r>
                        <a:rPr sz="1125" b="0">
                          <a:solidFill>
                            <a:srgbClr val="122033"/>
                          </a:solidFill>
                          <a:latin typeface="Arial"/>
                          <a:ea typeface="Arial"/>
                          <a:cs typeface="Arial"/>
                        </a:rPr>
                        <a:t>534</a:t>
                      </a:r>
                    </a:p>
                  </a:txBody>
                  <a:tcPr marL="91440" marR="91440" marT="45720" marB="45720" anchor="ctr">
                    <a:solidFill>
                      <a:srgbClr val="FFFDF8"/>
                    </a:solidFill>
                  </a:tcPr>
                </a:tc>
                <a:tc>
                  <a:txBody>
                    <a:bodyPr lIns="76200" tIns="38100" rIns="76200" bIns="38100">
                      <a:normAutofit/>
                    </a:bodyPr>
                    <a:lstStyle/>
                    <a:p>
                      <a:pPr algn="r"/>
                      <a:r>
                        <a:rPr sz="1125" b="0">
                          <a:solidFill>
                            <a:srgbClr val="9B3030"/>
                          </a:solidFill>
                          <a:latin typeface="Arial"/>
                          <a:ea typeface="Arial"/>
                          <a:cs typeface="Arial"/>
                        </a:rPr>
                        <a:t>394</a:t>
                      </a:r>
                    </a:p>
                  </a:txBody>
                  <a:tcPr marL="91440" marR="91440" marT="45720" marB="45720" anchor="ctr">
                    <a:solidFill>
                      <a:srgbClr val="FBE6E4"/>
                    </a:solidFill>
                  </a:tcPr>
                </a:tc>
              </a:tr>
              <a:tr h="295275">
                <a:tc>
                  <a:txBody>
                    <a:bodyPr lIns="76200" tIns="38100" rIns="76200" bIns="38100">
                      <a:normAutofit/>
                    </a:bodyPr>
                    <a:lstStyle/>
                    <a:p>
                      <a:pPr algn="l"/>
                      <a:r>
                        <a:rPr sz="1125" b="1">
                          <a:solidFill>
                            <a:srgbClr val="122033"/>
                          </a:solidFill>
                          <a:latin typeface="Menlo"/>
                          <a:ea typeface="Menlo"/>
                          <a:cs typeface="Menlo"/>
                        </a:rPr>
                        <a:t>LISTS!D31</a:t>
                      </a:r>
                    </a:p>
                  </a:txBody>
                  <a:tcPr marL="91440" marR="91440" marT="45720" marB="45720" anchor="ctr">
                    <a:solidFill>
                      <a:srgbClr val="FFFDF8"/>
                    </a:solidFill>
                  </a:tcPr>
                </a:tc>
                <a:tc>
                  <a:txBody>
                    <a:bodyPr lIns="76200" tIns="38100" rIns="76200" bIns="38100">
                      <a:normAutofit/>
                    </a:bodyPr>
                    <a:lstStyle/>
                    <a:p>
                      <a:pPr algn="r"/>
                      <a:r>
                        <a:rPr sz="1125" b="0">
                          <a:solidFill>
                            <a:srgbClr val="122033"/>
                          </a:solidFill>
                          <a:latin typeface="Arial"/>
                          <a:ea typeface="Arial"/>
                          <a:cs typeface="Arial"/>
                        </a:rPr>
                        <a:t>401</a:t>
                      </a:r>
                    </a:p>
                  </a:txBody>
                  <a:tcPr marL="91440" marR="91440" marT="45720" marB="45720" anchor="ctr">
                    <a:solidFill>
                      <a:srgbClr val="FFFDF8"/>
                    </a:solidFill>
                  </a:tcPr>
                </a:tc>
                <a:tc>
                  <a:txBody>
                    <a:bodyPr lIns="76200" tIns="38100" rIns="76200" bIns="38100">
                      <a:normAutofit/>
                    </a:bodyPr>
                    <a:lstStyle/>
                    <a:p>
                      <a:pPr algn="r"/>
                      <a:r>
                        <a:rPr sz="1125" b="0">
                          <a:solidFill>
                            <a:srgbClr val="9B3030"/>
                          </a:solidFill>
                          <a:latin typeface="Arial"/>
                          <a:ea typeface="Arial"/>
                          <a:cs typeface="Arial"/>
                        </a:rPr>
                        <a:t>276</a:t>
                      </a:r>
                    </a:p>
                  </a:txBody>
                  <a:tcPr marL="91440" marR="91440" marT="45720" marB="45720" anchor="ctr">
                    <a:solidFill>
                      <a:srgbClr val="FBE6E4"/>
                    </a:solidFill>
                  </a:tcPr>
                </a:tc>
              </a:tr>
              <a:tr h="295275">
                <a:tc>
                  <a:txBody>
                    <a:bodyPr lIns="76200" tIns="38100" rIns="76200" bIns="38100">
                      <a:normAutofit/>
                    </a:bodyPr>
                    <a:lstStyle/>
                    <a:p>
                      <a:pPr algn="l"/>
                      <a:r>
                        <a:rPr sz="1125" b="1">
                          <a:solidFill>
                            <a:srgbClr val="122033"/>
                          </a:solidFill>
                          <a:latin typeface="Menlo"/>
                          <a:ea typeface="Menlo"/>
                          <a:cs typeface="Menlo"/>
                        </a:rPr>
                        <a:t>LISTS!D32</a:t>
                      </a:r>
                    </a:p>
                  </a:txBody>
                  <a:tcPr marL="91440" marR="91440" marT="45720" marB="45720" anchor="ctr">
                    <a:solidFill>
                      <a:srgbClr val="FFFDF8"/>
                    </a:solidFill>
                  </a:tcPr>
                </a:tc>
                <a:tc>
                  <a:txBody>
                    <a:bodyPr lIns="76200" tIns="38100" rIns="76200" bIns="38100">
                      <a:normAutofit/>
                    </a:bodyPr>
                    <a:lstStyle/>
                    <a:p>
                      <a:pPr algn="r"/>
                      <a:r>
                        <a:rPr sz="1125" b="0">
                          <a:solidFill>
                            <a:srgbClr val="122033"/>
                          </a:solidFill>
                          <a:latin typeface="Arial"/>
                          <a:ea typeface="Arial"/>
                          <a:cs typeface="Arial"/>
                        </a:rPr>
                        <a:t>6,495</a:t>
                      </a:r>
                    </a:p>
                  </a:txBody>
                  <a:tcPr marL="91440" marR="91440" marT="45720" marB="45720" anchor="ctr">
                    <a:solidFill>
                      <a:srgbClr val="FFFDF8"/>
                    </a:solidFill>
                  </a:tcPr>
                </a:tc>
                <a:tc>
                  <a:txBody>
                    <a:bodyPr lIns="76200" tIns="38100" rIns="76200" bIns="38100">
                      <a:normAutofit/>
                    </a:bodyPr>
                    <a:lstStyle/>
                    <a:p>
                      <a:pPr algn="r"/>
                      <a:r>
                        <a:rPr sz="1125" b="0">
                          <a:solidFill>
                            <a:srgbClr val="9B3030"/>
                          </a:solidFill>
                          <a:latin typeface="Arial"/>
                          <a:ea typeface="Arial"/>
                          <a:cs typeface="Arial"/>
                        </a:rPr>
                        <a:t>6,260</a:t>
                      </a:r>
                    </a:p>
                  </a:txBody>
                  <a:tcPr marL="91440" marR="91440" marT="45720" marB="45720" anchor="ctr">
                    <a:solidFill>
                      <a:srgbClr val="FBE6E4"/>
                    </a:solidFill>
                  </a:tcPr>
                </a:tc>
              </a:tr>
            </a:tbl>
          </a:graphicData>
        </a:graphic>
      </p:graphicFrame>
      <p:sp>
        <p:nvSpPr>
          <p:cNvPr id="27" name="">
            <a:extLst xmlns:a="http://schemas.openxmlformats.org/drawingml/2006/main">
              <a:ext uri="{FF2B5EF4-FFF2-40B4-BE49-F238E27FC236}">
                <a16:creationId xmlns:a16="http://schemas.microsoft.com/office/drawing/2014/main" id="{0464A48B-7F2C-42AC-895B-A83F35AD6D38}"/>
              </a:ext>
            </a:extLst>
          </p:cNvPr>
          <p:cNvSpPr>
            <a:spLocks xmlns:a="http://schemas.openxmlformats.org/drawingml/2006/main" noGrp="1"/>
          </p:cNvSpPr>
          <p:nvPr/>
        </p:nvSpPr>
        <p:spPr>
          <a:xfrm xmlns:a="http://schemas.openxmlformats.org/drawingml/2006/main">
            <a:off x="609600" y="5743575"/>
            <a:ext cx="10972800" cy="457200"/>
          </a:xfrm>
          <a:prstGeom xmlns:a="http://schemas.openxmlformats.org/drawingml/2006/main" prst="rect">
            <a:avLst/>
          </a:prstGeom>
          <a:solidFill xmlns:a="http://schemas.openxmlformats.org/drawingml/2006/main">
            <a:srgbClr val="0B172A"/>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830BC10A-40F8-4CEE-B414-631C16A68D3E}"/>
              </a:ext>
            </a:extLst>
          </p:cNvPr>
          <p:cNvSpPr>
            <a:spLocks xmlns:a="http://schemas.openxmlformats.org/drawingml/2006/main" noGrp="1"/>
          </p:cNvSpPr>
          <p:nvPr/>
        </p:nvSpPr>
        <p:spPr>
          <a:xfrm xmlns:a="http://schemas.openxmlformats.org/drawingml/2006/main">
            <a:off x="857250" y="58483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500" b="1" i="0">
                <a:solidFill>
                  <a:srgbClr val="FFFFFF"/>
                </a:solidFill>
                <a:latin typeface="Arial"/>
                <a:ea typeface="Arial"/>
                <a:cs typeface="Arial"/>
              </a:defRPr>
            </a:pPr>
            <a:r>
              <a:rPr sz="1500" b="1" i="0">
                <a:solidFill>
                  <a:srgbClr val="FFFFFF"/>
                </a:solidFill>
                <a:latin typeface="Arial"/>
                <a:ea typeface="Arial"/>
                <a:cs typeface="Arial"/>
              </a:rPr>
              <a:t>The evaluator checks every target cell and grants a task pass only when the complete workbook answer is correct.</a:t>
            </a:r>
          </a:p>
        </p:txBody>
      </p:sp>
      <p:sp>
        <p:nvSpPr>
          <p:cNvPr id="29" name="">
            <a:extLst xmlns:a="http://schemas.openxmlformats.org/drawingml/2006/main">
              <a:ext uri="{FF2B5EF4-FFF2-40B4-BE49-F238E27FC236}">
                <a16:creationId xmlns:a16="http://schemas.microsoft.com/office/drawing/2014/main" id="{715C4173-2188-4B6A-9F3D-44F2A11F38CE}"/>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30" name="">
            <a:extLst xmlns:a="http://schemas.openxmlformats.org/drawingml/2006/main">
              <a:ext uri="{FF2B5EF4-FFF2-40B4-BE49-F238E27FC236}">
                <a16:creationId xmlns:a16="http://schemas.microsoft.com/office/drawing/2014/main" id="{3DFA3E4A-62BE-4D56-8AD7-3040DCAD4602}"/>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FORMULABENCH  ·  RESEARCH: EXCEL FORMULA GENERATION</a:t>
            </a:r>
          </a:p>
        </p:txBody>
      </p:sp>
      <p:sp>
        <p:nvSpPr>
          <p:cNvPr id="31" name="">
            <a:extLst xmlns:a="http://schemas.openxmlformats.org/drawingml/2006/main">
              <a:ext uri="{FF2B5EF4-FFF2-40B4-BE49-F238E27FC236}">
                <a16:creationId xmlns:a16="http://schemas.microsoft.com/office/drawing/2014/main" id="{B62E8A85-9BA4-4C8B-8FB5-0B6EE58C2AD3}"/>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03</a:t>
            </a:r>
          </a:p>
        </p:txBody>
      </p:sp>
    </p:spTree>
    <p:extLst>
      <p:ext uri="{BB962C8B-B14F-4D97-AF65-F5344CB8AC3E}">
        <p14:creationId xmlns:p14="http://schemas.microsoft.com/office/powerpoint/2010/main" val="635968132"/>
      </p:ext>
    </p:extLst>
  </p:cSld>
</p:sld>
</file>

<file path=ppt/slides/slide4.xml><?xml version="1.0" encoding="utf-8"?>
<p:sld xmlns:p="http://schemas.openxmlformats.org/presentationml/2006/main">
  <p:cSld>
    <p:bg>
      <p:bgPr>
        <a:solidFill xmlns:a="http://schemas.openxmlformats.org/drawingml/2006/main">
          <a:srgbClr val="F4F0E8"/>
        </a:solidFill>
      </p:bgPr>
    </p:bg>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D194F67A-7AFA-4C5F-BC03-CEEDDF89C447}"/>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300" b="1" i="0">
                <a:solidFill>
                  <a:srgbClr val="122033"/>
                </a:solidFill>
                <a:latin typeface="Arial"/>
                <a:ea typeface="Arial"/>
                <a:cs typeface="Arial"/>
              </a:defRPr>
            </a:pPr>
            <a:r>
              <a:rPr sz="3300" b="1" i="0">
                <a:solidFill>
                  <a:srgbClr val="122033"/>
                </a:solidFill>
                <a:latin typeface="Arial"/>
                <a:ea typeface="Arial"/>
                <a:cs typeface="Arial"/>
              </a:rPr>
              <a:t>Plausible formulas fail in four different ways</a:t>
            </a:r>
          </a:p>
        </p:txBody>
      </p:sp>
      <p:sp>
        <p:nvSpPr>
          <p:cNvPr id="2" name="">
            <a:extLst xmlns:a="http://schemas.openxmlformats.org/drawingml/2006/main">
              <a:ext uri="{FF2B5EF4-FFF2-40B4-BE49-F238E27FC236}">
                <a16:creationId xmlns:a16="http://schemas.microsoft.com/office/drawing/2014/main" id="{385EB7E7-6B02-4BD6-84C7-AB25202F6AC0}"/>
              </a:ext>
            </a:extLst>
          </p:cNvPr>
          <p:cNvSpPr>
            <a:spLocks xmlns:a="http://schemas.openxmlformats.org/drawingml/2006/main" noGrp="1"/>
          </p:cNvSpPr>
          <p:nvPr/>
        </p:nvSpPr>
        <p:spPr>
          <a:xfrm xmlns:a="http://schemas.openxmlformats.org/drawingml/2006/main">
            <a:off x="609600" y="104775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667487"/>
                </a:solidFill>
                <a:latin typeface="Arial"/>
                <a:ea typeface="Arial"/>
                <a:cs typeface="Arial"/>
              </a:defRPr>
            </a:pPr>
            <a:r>
              <a:rPr sz="1725" b="0" i="0">
                <a:solidFill>
                  <a:srgbClr val="667487"/>
                </a:solidFill>
                <a:latin typeface="Arial"/>
                <a:ea typeface="Arial"/>
                <a:cs typeface="Arial"/>
              </a:rPr>
              <a:t>A workbook can open successfully while still producing the wrong investment result.</a:t>
            </a:r>
          </a:p>
        </p:txBody>
      </p:sp>
      <p:sp>
        <p:nvSpPr>
          <p:cNvPr id="3" name="">
            <a:extLst xmlns:a="http://schemas.openxmlformats.org/drawingml/2006/main">
              <a:ext uri="{FF2B5EF4-FFF2-40B4-BE49-F238E27FC236}">
                <a16:creationId xmlns:a16="http://schemas.microsoft.com/office/drawing/2014/main" id="{BB2A99C6-C2E5-467D-9D1F-DA21117109D4}"/>
              </a:ext>
            </a:extLst>
          </p:cNvPr>
          <p:cNvSpPr>
            <a:spLocks xmlns:a="http://schemas.openxmlformats.org/drawingml/2006/main" noGrp="1"/>
          </p:cNvSpPr>
          <p:nvPr/>
        </p:nvSpPr>
        <p:spPr>
          <a:xfrm xmlns:a="http://schemas.openxmlformats.org/drawingml/2006/main">
            <a:off x="609600" y="1952625"/>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850" b="1" i="0">
                <a:solidFill>
                  <a:srgbClr val="35C47A"/>
                </a:solidFill>
                <a:latin typeface="Arial"/>
                <a:ea typeface="Arial"/>
                <a:cs typeface="Arial"/>
              </a:defRPr>
            </a:pPr>
            <a:r>
              <a:rPr sz="2850" b="1" i="0">
                <a:solidFill>
                  <a:srgbClr val="35C47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2C2A6A65-1798-44A0-B161-E5D9A69A56AA}"/>
              </a:ext>
            </a:extLst>
          </p:cNvPr>
          <p:cNvSpPr>
            <a:spLocks xmlns:a="http://schemas.openxmlformats.org/drawingml/2006/main" noGrp="1"/>
          </p:cNvSpPr>
          <p:nvPr/>
        </p:nvSpPr>
        <p:spPr>
          <a:xfrm xmlns:a="http://schemas.openxmlformats.org/drawingml/2006/main">
            <a:off x="609600" y="264795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25" b="1" i="0">
                <a:solidFill>
                  <a:srgbClr val="122033"/>
                </a:solidFill>
                <a:latin typeface="Arial"/>
                <a:ea typeface="Arial"/>
                <a:cs typeface="Arial"/>
              </a:defRPr>
            </a:pPr>
            <a:r>
              <a:rPr sz="2025" b="1" i="0">
                <a:solidFill>
                  <a:srgbClr val="122033"/>
                </a:solidFill>
                <a:latin typeface="Arial"/>
                <a:ea typeface="Arial"/>
                <a:cs typeface="Arial"/>
              </a:rPr>
              <a:t>Context</a:t>
            </a:r>
          </a:p>
        </p:txBody>
      </p:sp>
      <p:sp>
        <p:nvSpPr>
          <p:cNvPr id="5" name="">
            <a:extLst xmlns:a="http://schemas.openxmlformats.org/drawingml/2006/main">
              <a:ext uri="{FF2B5EF4-FFF2-40B4-BE49-F238E27FC236}">
                <a16:creationId xmlns:a16="http://schemas.microsoft.com/office/drawing/2014/main" id="{821A4E72-C129-4482-8A90-0F157874FC6E}"/>
              </a:ext>
            </a:extLst>
          </p:cNvPr>
          <p:cNvSpPr>
            <a:spLocks xmlns:a="http://schemas.openxmlformats.org/drawingml/2006/main" noGrp="1"/>
          </p:cNvSpPr>
          <p:nvPr/>
        </p:nvSpPr>
        <p:spPr>
          <a:xfrm xmlns:a="http://schemas.openxmlformats.org/drawingml/2006/main">
            <a:off x="609600" y="3209925"/>
            <a:ext cx="2333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667487"/>
                </a:solidFill>
                <a:latin typeface="Arial"/>
                <a:ea typeface="Arial"/>
                <a:cs typeface="Arial"/>
              </a:defRPr>
            </a:pPr>
            <a:r>
              <a:rPr sz="1500" b="0" i="0">
                <a:solidFill>
                  <a:srgbClr val="667487"/>
                </a:solidFill>
                <a:latin typeface="Arial"/>
                <a:ea typeface="Arial"/>
                <a:cs typeface="Arial"/>
              </a:rPr>
              <a:t>The relevant worksheet, source range or existing formula never reaches the model.</a:t>
            </a:r>
          </a:p>
        </p:txBody>
      </p:sp>
      <p:sp>
        <p:nvSpPr>
          <p:cNvPr id="6" name="">
            <a:extLst xmlns:a="http://schemas.openxmlformats.org/drawingml/2006/main">
              <a:ext uri="{FF2B5EF4-FFF2-40B4-BE49-F238E27FC236}">
                <a16:creationId xmlns:a16="http://schemas.microsoft.com/office/drawing/2014/main" id="{4FBF8DB7-2891-4474-A039-FBFD3A447183}"/>
              </a:ext>
            </a:extLst>
          </p:cNvPr>
          <p:cNvSpPr>
            <a:spLocks xmlns:a="http://schemas.openxmlformats.org/drawingml/2006/main" noGrp="1"/>
          </p:cNvSpPr>
          <p:nvPr/>
        </p:nvSpPr>
        <p:spPr>
          <a:xfrm xmlns:a="http://schemas.openxmlformats.org/drawingml/2006/main">
            <a:off x="3181350" y="1924050"/>
            <a:ext cx="0" cy="2809875"/>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7" name="">
            <a:extLst xmlns:a="http://schemas.openxmlformats.org/drawingml/2006/main">
              <a:ext uri="{FF2B5EF4-FFF2-40B4-BE49-F238E27FC236}">
                <a16:creationId xmlns:a16="http://schemas.microsoft.com/office/drawing/2014/main" id="{692B09C4-35F8-48EC-B130-E487A0A46B74}"/>
              </a:ext>
            </a:extLst>
          </p:cNvPr>
          <p:cNvSpPr>
            <a:spLocks xmlns:a="http://schemas.openxmlformats.org/drawingml/2006/main" noGrp="1"/>
          </p:cNvSpPr>
          <p:nvPr/>
        </p:nvSpPr>
        <p:spPr>
          <a:xfrm xmlns:a="http://schemas.openxmlformats.org/drawingml/2006/main">
            <a:off x="3390900" y="1952625"/>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850" b="1" i="0">
                <a:solidFill>
                  <a:srgbClr val="35C47A"/>
                </a:solidFill>
                <a:latin typeface="Arial"/>
                <a:ea typeface="Arial"/>
                <a:cs typeface="Arial"/>
              </a:defRPr>
            </a:pPr>
            <a:r>
              <a:rPr sz="2850" b="1" i="0">
                <a:solidFill>
                  <a:srgbClr val="35C47A"/>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0884B598-0822-4010-BF38-965D7FDCA453}"/>
              </a:ext>
            </a:extLst>
          </p:cNvPr>
          <p:cNvSpPr>
            <a:spLocks xmlns:a="http://schemas.openxmlformats.org/drawingml/2006/main" noGrp="1"/>
          </p:cNvSpPr>
          <p:nvPr/>
        </p:nvSpPr>
        <p:spPr>
          <a:xfrm xmlns:a="http://schemas.openxmlformats.org/drawingml/2006/main">
            <a:off x="3390900" y="264795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25" b="1" i="0">
                <a:solidFill>
                  <a:srgbClr val="122033"/>
                </a:solidFill>
                <a:latin typeface="Arial"/>
                <a:ea typeface="Arial"/>
                <a:cs typeface="Arial"/>
              </a:defRPr>
            </a:pPr>
            <a:r>
              <a:rPr sz="2025" b="1" i="0">
                <a:solidFill>
                  <a:srgbClr val="122033"/>
                </a:solidFill>
                <a:latin typeface="Arial"/>
                <a:ea typeface="Arial"/>
                <a:cs typeface="Arial"/>
              </a:rPr>
              <a:t>Coverage</a:t>
            </a:r>
          </a:p>
        </p:txBody>
      </p:sp>
      <p:sp>
        <p:nvSpPr>
          <p:cNvPr id="9" name="">
            <a:extLst xmlns:a="http://schemas.openxmlformats.org/drawingml/2006/main">
              <a:ext uri="{FF2B5EF4-FFF2-40B4-BE49-F238E27FC236}">
                <a16:creationId xmlns:a16="http://schemas.microsoft.com/office/drawing/2014/main" id="{F1AF9061-B29E-450E-9419-E121C5426AA9}"/>
              </a:ext>
            </a:extLst>
          </p:cNvPr>
          <p:cNvSpPr>
            <a:spLocks xmlns:a="http://schemas.openxmlformats.org/drawingml/2006/main" noGrp="1"/>
          </p:cNvSpPr>
          <p:nvPr/>
        </p:nvSpPr>
        <p:spPr>
          <a:xfrm xmlns:a="http://schemas.openxmlformats.org/drawingml/2006/main">
            <a:off x="3390900" y="3209925"/>
            <a:ext cx="2333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667487"/>
                </a:solidFill>
                <a:latin typeface="Arial"/>
                <a:ea typeface="Arial"/>
                <a:cs typeface="Arial"/>
              </a:defRPr>
            </a:pPr>
            <a:r>
              <a:rPr sz="1500" b="0" i="0">
                <a:solidFill>
                  <a:srgbClr val="667487"/>
                </a:solidFill>
                <a:latin typeface="Arial"/>
                <a:ea typeface="Arial"/>
                <a:cs typeface="Arial"/>
              </a:rPr>
              <a:t>A response misses required cells, writes to the same cell twice or changes cells outside the target.</a:t>
            </a:r>
          </a:p>
        </p:txBody>
      </p:sp>
      <p:sp>
        <p:nvSpPr>
          <p:cNvPr id="10" name="">
            <a:extLst xmlns:a="http://schemas.openxmlformats.org/drawingml/2006/main">
              <a:ext uri="{FF2B5EF4-FFF2-40B4-BE49-F238E27FC236}">
                <a16:creationId xmlns:a16="http://schemas.microsoft.com/office/drawing/2014/main" id="{81AA899A-9697-4E62-9D9D-61478637F08B}"/>
              </a:ext>
            </a:extLst>
          </p:cNvPr>
          <p:cNvSpPr>
            <a:spLocks xmlns:a="http://schemas.openxmlformats.org/drawingml/2006/main" noGrp="1"/>
          </p:cNvSpPr>
          <p:nvPr/>
        </p:nvSpPr>
        <p:spPr>
          <a:xfrm xmlns:a="http://schemas.openxmlformats.org/drawingml/2006/main">
            <a:off x="5962650" y="1924050"/>
            <a:ext cx="0" cy="2809875"/>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11" name="">
            <a:extLst xmlns:a="http://schemas.openxmlformats.org/drawingml/2006/main">
              <a:ext uri="{FF2B5EF4-FFF2-40B4-BE49-F238E27FC236}">
                <a16:creationId xmlns:a16="http://schemas.microsoft.com/office/drawing/2014/main" id="{A502617A-DED3-49FC-B1B5-F2E3B7280CB9}"/>
              </a:ext>
            </a:extLst>
          </p:cNvPr>
          <p:cNvSpPr>
            <a:spLocks xmlns:a="http://schemas.openxmlformats.org/drawingml/2006/main" noGrp="1"/>
          </p:cNvSpPr>
          <p:nvPr/>
        </p:nvSpPr>
        <p:spPr>
          <a:xfrm xmlns:a="http://schemas.openxmlformats.org/drawingml/2006/main">
            <a:off x="6172200" y="1952625"/>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850" b="1" i="0">
                <a:solidFill>
                  <a:srgbClr val="35C47A"/>
                </a:solidFill>
                <a:latin typeface="Arial"/>
                <a:ea typeface="Arial"/>
                <a:cs typeface="Arial"/>
              </a:defRPr>
            </a:pPr>
            <a:r>
              <a:rPr sz="2850" b="1" i="0">
                <a:solidFill>
                  <a:srgbClr val="35C47A"/>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65FB493F-44DA-4F1A-AE99-E43C83C16D7B}"/>
              </a:ext>
            </a:extLst>
          </p:cNvPr>
          <p:cNvSpPr>
            <a:spLocks xmlns:a="http://schemas.openxmlformats.org/drawingml/2006/main" noGrp="1"/>
          </p:cNvSpPr>
          <p:nvPr/>
        </p:nvSpPr>
        <p:spPr>
          <a:xfrm xmlns:a="http://schemas.openxmlformats.org/drawingml/2006/main">
            <a:off x="6172200" y="264795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25" b="1" i="0">
                <a:solidFill>
                  <a:srgbClr val="122033"/>
                </a:solidFill>
                <a:latin typeface="Arial"/>
                <a:ea typeface="Arial"/>
                <a:cs typeface="Arial"/>
              </a:defRPr>
            </a:pPr>
            <a:r>
              <a:rPr sz="2025" b="1" i="0">
                <a:solidFill>
                  <a:srgbClr val="122033"/>
                </a:solidFill>
                <a:latin typeface="Arial"/>
                <a:ea typeface="Arial"/>
                <a:cs typeface="Arial"/>
              </a:rPr>
              <a:t>Workbook</a:t>
            </a:r>
          </a:p>
        </p:txBody>
      </p:sp>
      <p:sp>
        <p:nvSpPr>
          <p:cNvPr id="13" name="">
            <a:extLst xmlns:a="http://schemas.openxmlformats.org/drawingml/2006/main">
              <a:ext uri="{FF2B5EF4-FFF2-40B4-BE49-F238E27FC236}">
                <a16:creationId xmlns:a16="http://schemas.microsoft.com/office/drawing/2014/main" id="{5B3A7962-8000-4222-91AC-3F3AD5ACAED7}"/>
              </a:ext>
            </a:extLst>
          </p:cNvPr>
          <p:cNvSpPr>
            <a:spLocks xmlns:a="http://schemas.openxmlformats.org/drawingml/2006/main" noGrp="1"/>
          </p:cNvSpPr>
          <p:nvPr/>
        </p:nvSpPr>
        <p:spPr>
          <a:xfrm xmlns:a="http://schemas.openxmlformats.org/drawingml/2006/main">
            <a:off x="6172200" y="3209925"/>
            <a:ext cx="2333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667487"/>
                </a:solidFill>
                <a:latin typeface="Arial"/>
                <a:ea typeface="Arial"/>
                <a:cs typeface="Arial"/>
              </a:defRPr>
            </a:pPr>
            <a:r>
              <a:rPr sz="1500" b="0" i="0">
                <a:solidFill>
                  <a:srgbClr val="667487"/>
                </a:solidFill>
                <a:latin typeface="Arial"/>
                <a:ea typeface="Arial"/>
                <a:cs typeface="Arial"/>
              </a:rPr>
              <a:t>A formula introduces an unsafe reference, invalid type or broken workbook package.</a:t>
            </a:r>
          </a:p>
        </p:txBody>
      </p:sp>
      <p:sp>
        <p:nvSpPr>
          <p:cNvPr id="14" name="">
            <a:extLst xmlns:a="http://schemas.openxmlformats.org/drawingml/2006/main">
              <a:ext uri="{FF2B5EF4-FFF2-40B4-BE49-F238E27FC236}">
                <a16:creationId xmlns:a16="http://schemas.microsoft.com/office/drawing/2014/main" id="{5CF40C9C-66AE-4317-9EBA-75160989D102}"/>
              </a:ext>
            </a:extLst>
          </p:cNvPr>
          <p:cNvSpPr>
            <a:spLocks xmlns:a="http://schemas.openxmlformats.org/drawingml/2006/main" noGrp="1"/>
          </p:cNvSpPr>
          <p:nvPr/>
        </p:nvSpPr>
        <p:spPr>
          <a:xfrm xmlns:a="http://schemas.openxmlformats.org/drawingml/2006/main">
            <a:off x="8743950" y="1924050"/>
            <a:ext cx="0" cy="2809875"/>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15" name="">
            <a:extLst xmlns:a="http://schemas.openxmlformats.org/drawingml/2006/main">
              <a:ext uri="{FF2B5EF4-FFF2-40B4-BE49-F238E27FC236}">
                <a16:creationId xmlns:a16="http://schemas.microsoft.com/office/drawing/2014/main" id="{224AF7CD-8B26-49DD-AE2A-6CA6589075C1}"/>
              </a:ext>
            </a:extLst>
          </p:cNvPr>
          <p:cNvSpPr>
            <a:spLocks xmlns:a="http://schemas.openxmlformats.org/drawingml/2006/main" noGrp="1"/>
          </p:cNvSpPr>
          <p:nvPr/>
        </p:nvSpPr>
        <p:spPr>
          <a:xfrm xmlns:a="http://schemas.openxmlformats.org/drawingml/2006/main">
            <a:off x="8953500" y="1952625"/>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850" b="1" i="0">
                <a:solidFill>
                  <a:srgbClr val="E76464"/>
                </a:solidFill>
                <a:latin typeface="Arial"/>
                <a:ea typeface="Arial"/>
                <a:cs typeface="Arial"/>
              </a:defRPr>
            </a:pPr>
            <a:r>
              <a:rPr sz="2850" b="1" i="0">
                <a:solidFill>
                  <a:srgbClr val="E76464"/>
                </a:solidFill>
                <a:latin typeface="Arial"/>
                <a:ea typeface="Arial"/>
                <a:cs typeface="Arial"/>
              </a:rPr>
              <a:t>04</a:t>
            </a:r>
          </a:p>
        </p:txBody>
      </p:sp>
      <p:sp>
        <p:nvSpPr>
          <p:cNvPr id="16" name="">
            <a:extLst xmlns:a="http://schemas.openxmlformats.org/drawingml/2006/main">
              <a:ext uri="{FF2B5EF4-FFF2-40B4-BE49-F238E27FC236}">
                <a16:creationId xmlns:a16="http://schemas.microsoft.com/office/drawing/2014/main" id="{4F59830C-C426-4F3F-B9A6-06A0CBE325B4}"/>
              </a:ext>
            </a:extLst>
          </p:cNvPr>
          <p:cNvSpPr>
            <a:spLocks xmlns:a="http://schemas.openxmlformats.org/drawingml/2006/main" noGrp="1"/>
          </p:cNvSpPr>
          <p:nvPr/>
        </p:nvSpPr>
        <p:spPr>
          <a:xfrm xmlns:a="http://schemas.openxmlformats.org/drawingml/2006/main">
            <a:off x="8953500" y="264795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25" b="1" i="0">
                <a:solidFill>
                  <a:srgbClr val="122033"/>
                </a:solidFill>
                <a:latin typeface="Arial"/>
                <a:ea typeface="Arial"/>
                <a:cs typeface="Arial"/>
              </a:defRPr>
            </a:pPr>
            <a:r>
              <a:rPr sz="2025" b="1" i="0">
                <a:solidFill>
                  <a:srgbClr val="122033"/>
                </a:solidFill>
                <a:latin typeface="Arial"/>
                <a:ea typeface="Arial"/>
                <a:cs typeface="Arial"/>
              </a:rPr>
              <a:t>Semantics</a:t>
            </a:r>
          </a:p>
        </p:txBody>
      </p:sp>
      <p:sp>
        <p:nvSpPr>
          <p:cNvPr id="17" name="">
            <a:extLst xmlns:a="http://schemas.openxmlformats.org/drawingml/2006/main">
              <a:ext uri="{FF2B5EF4-FFF2-40B4-BE49-F238E27FC236}">
                <a16:creationId xmlns:a16="http://schemas.microsoft.com/office/drawing/2014/main" id="{764C0B26-71BF-4898-9A44-DD4F819D264D}"/>
              </a:ext>
            </a:extLst>
          </p:cNvPr>
          <p:cNvSpPr>
            <a:spLocks xmlns:a="http://schemas.openxmlformats.org/drawingml/2006/main" noGrp="1"/>
          </p:cNvSpPr>
          <p:nvPr/>
        </p:nvSpPr>
        <p:spPr>
          <a:xfrm xmlns:a="http://schemas.openxmlformats.org/drawingml/2006/main">
            <a:off x="8953500" y="3209925"/>
            <a:ext cx="2333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667487"/>
                </a:solidFill>
                <a:latin typeface="Arial"/>
                <a:ea typeface="Arial"/>
                <a:cs typeface="Arial"/>
              </a:defRPr>
            </a:pPr>
            <a:r>
              <a:rPr sz="1500" b="0" i="0">
                <a:solidFill>
                  <a:srgbClr val="667487"/>
                </a:solidFill>
                <a:latin typeface="Arial"/>
                <a:ea typeface="Arial"/>
                <a:cs typeface="Arial"/>
              </a:rPr>
              <a:t>The formula runs but returns the wrong value or applies the wrong transformation.</a:t>
            </a:r>
          </a:p>
        </p:txBody>
      </p:sp>
      <p:sp>
        <p:nvSpPr>
          <p:cNvPr id="18" name="">
            <a:extLst xmlns:a="http://schemas.openxmlformats.org/drawingml/2006/main">
              <a:ext uri="{FF2B5EF4-FFF2-40B4-BE49-F238E27FC236}">
                <a16:creationId xmlns:a16="http://schemas.microsoft.com/office/drawing/2014/main" id="{69CC9A79-C260-459B-A1EE-1EA74A8B82F9}"/>
              </a:ext>
            </a:extLst>
          </p:cNvPr>
          <p:cNvSpPr>
            <a:spLocks xmlns:a="http://schemas.openxmlformats.org/drawingml/2006/main" noGrp="1"/>
          </p:cNvSpPr>
          <p:nvPr/>
        </p:nvSpPr>
        <p:spPr>
          <a:xfrm xmlns:a="http://schemas.openxmlformats.org/drawingml/2006/main">
            <a:off x="609600" y="5191125"/>
            <a:ext cx="10972800" cy="781050"/>
          </a:xfrm>
          <a:prstGeom xmlns:a="http://schemas.openxmlformats.org/drawingml/2006/main" prst="rect">
            <a:avLst/>
          </a:prstGeom>
          <a:solidFill xmlns:a="http://schemas.openxmlformats.org/drawingml/2006/main">
            <a:srgbClr val="0B172A"/>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27739A6-938F-4B9B-93CD-CD4B558B20F8}"/>
              </a:ext>
            </a:extLst>
          </p:cNvPr>
          <p:cNvSpPr>
            <a:spLocks xmlns:a="http://schemas.openxmlformats.org/drawingml/2006/main" noGrp="1"/>
          </p:cNvSpPr>
          <p:nvPr/>
        </p:nvSpPr>
        <p:spPr>
          <a:xfrm xmlns:a="http://schemas.openxmlformats.org/drawingml/2006/main">
            <a:off x="895350" y="5381625"/>
            <a:ext cx="10401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875" b="1" i="0">
                <a:solidFill>
                  <a:srgbClr val="FFFFFF"/>
                </a:solidFill>
                <a:latin typeface="Arial"/>
                <a:ea typeface="Arial"/>
                <a:cs typeface="Arial"/>
              </a:defRPr>
            </a:pPr>
            <a:r>
              <a:rPr sz="1875" b="1" i="0">
                <a:solidFill>
                  <a:srgbClr val="FFFFFF"/>
                </a:solidFill>
                <a:latin typeface="Arial"/>
                <a:ea typeface="Arial"/>
                <a:cs typeface="Arial"/>
              </a:rPr>
              <a:t>Execution and correctness require separate checks.</a:t>
            </a:r>
          </a:p>
        </p:txBody>
      </p:sp>
      <p:sp>
        <p:nvSpPr>
          <p:cNvPr id="20" name="">
            <a:extLst xmlns:a="http://schemas.openxmlformats.org/drawingml/2006/main">
              <a:ext uri="{FF2B5EF4-FFF2-40B4-BE49-F238E27FC236}">
                <a16:creationId xmlns:a16="http://schemas.microsoft.com/office/drawing/2014/main" id="{28F97E17-D90A-4C4E-B399-296C4BF8E5C5}"/>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21" name="">
            <a:extLst xmlns:a="http://schemas.openxmlformats.org/drawingml/2006/main">
              <a:ext uri="{FF2B5EF4-FFF2-40B4-BE49-F238E27FC236}">
                <a16:creationId xmlns:a16="http://schemas.microsoft.com/office/drawing/2014/main" id="{9282B528-D41C-45F0-97B8-CEC2C69F3F7D}"/>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FORMULABENCH  ·  RESEARCH: EXCEL FORMULA GENERATION</a:t>
            </a:r>
          </a:p>
        </p:txBody>
      </p:sp>
      <p:sp>
        <p:nvSpPr>
          <p:cNvPr id="22" name="">
            <a:extLst xmlns:a="http://schemas.openxmlformats.org/drawingml/2006/main">
              <a:ext uri="{FF2B5EF4-FFF2-40B4-BE49-F238E27FC236}">
                <a16:creationId xmlns:a16="http://schemas.microsoft.com/office/drawing/2014/main" id="{B8D78F98-7EC3-4204-90BF-5A77D9617D76}"/>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04</a:t>
            </a:r>
          </a:p>
        </p:txBody>
      </p:sp>
    </p:spTree>
    <p:extLst>
      <p:ext uri="{BB962C8B-B14F-4D97-AF65-F5344CB8AC3E}">
        <p14:creationId xmlns:p14="http://schemas.microsoft.com/office/powerpoint/2010/main" val="1787606047"/>
      </p:ext>
    </p:extLst>
  </p:cSld>
</p:sld>
</file>

<file path=ppt/slides/slide5.xml><?xml version="1.0" encoding="utf-8"?>
<p:sld xmlns:p="http://schemas.openxmlformats.org/presentationml/2006/main">
  <p:cSld>
    <p:bg>
      <p:bgPr>
        <a:solidFill xmlns:a="http://schemas.openxmlformats.org/drawingml/2006/main">
          <a:srgbClr val="0B172A"/>
        </a:solidFill>
      </p:bgPr>
    </p:bg>
    <p:spTree>
      <p:nvGrpSpPr>
        <p:cNvPr id="1" name=""/>
        <p:cNvGrpSpPr/>
        <p:nvPr/>
      </p:nvGrpSpPr>
      <p:grpSpPr>
        <a:xfrm xmlns:a="http://schemas.openxmlformats.org/drawingml/2006/main"/>
      </p:grpSpPr>
      <p:sp>
        <p:nvSpPr>
          <p:cNvPr id="38" name="slide-title">
            <a:extLst xmlns:a="http://schemas.openxmlformats.org/drawingml/2006/main">
              <a:ext uri="{FF2B5EF4-FFF2-40B4-BE49-F238E27FC236}">
                <a16:creationId xmlns:a16="http://schemas.microsoft.com/office/drawing/2014/main" id="{00E00439-BA1D-4F50-8F76-78FA3FE42305}"/>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300" b="1" i="0">
                <a:solidFill>
                  <a:srgbClr val="FFFFFF"/>
                </a:solidFill>
                <a:latin typeface="Arial"/>
                <a:ea typeface="Arial"/>
                <a:cs typeface="Arial"/>
              </a:defRPr>
            </a:pPr>
            <a:r>
              <a:rPr sz="3300" b="1" i="0">
                <a:solidFill>
                  <a:srgbClr val="FFFFFF"/>
                </a:solidFill>
                <a:latin typeface="Arial"/>
                <a:ea typeface="Arial"/>
                <a:cs typeface="Arial"/>
              </a:rPr>
              <a:t>Current FormulaBench workflow</a:t>
            </a:r>
          </a:p>
        </p:txBody>
      </p:sp>
      <p:sp>
        <p:nvSpPr>
          <p:cNvPr id="2" name="">
            <a:extLst xmlns:a="http://schemas.openxmlformats.org/drawingml/2006/main">
              <a:ext uri="{FF2B5EF4-FFF2-40B4-BE49-F238E27FC236}">
                <a16:creationId xmlns:a16="http://schemas.microsoft.com/office/drawing/2014/main" id="{43825EF8-E39A-46BC-AF8B-21F360BA5E2C}"/>
              </a:ext>
            </a:extLst>
          </p:cNvPr>
          <p:cNvSpPr>
            <a:spLocks xmlns:a="http://schemas.openxmlformats.org/drawingml/2006/main" noGrp="1"/>
          </p:cNvSpPr>
          <p:nvPr/>
        </p:nvSpPr>
        <p:spPr>
          <a:xfrm xmlns:a="http://schemas.openxmlformats.org/drawingml/2006/main">
            <a:off x="609600" y="1028700"/>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AAB6C5"/>
                </a:solidFill>
                <a:latin typeface="Arial"/>
                <a:ea typeface="Arial"/>
                <a:cs typeface="Arial"/>
              </a:defRPr>
            </a:pPr>
            <a:r>
              <a:rPr sz="1725" b="0" i="0">
                <a:solidFill>
                  <a:srgbClr val="AAB6C5"/>
                </a:solidFill>
                <a:latin typeface="Arial"/>
                <a:ea typeface="Arial"/>
                <a:cs typeface="Arial"/>
              </a:rPr>
              <a:t>FormulaBench requests one logical model sample between deterministic preparation and validation.</a:t>
            </a:r>
          </a:p>
        </p:txBody>
      </p:sp>
      <p:sp>
        <p:nvSpPr>
          <p:cNvPr id="3" name="">
            <a:extLst xmlns:a="http://schemas.openxmlformats.org/drawingml/2006/main">
              <a:ext uri="{FF2B5EF4-FFF2-40B4-BE49-F238E27FC236}">
                <a16:creationId xmlns:a16="http://schemas.microsoft.com/office/drawing/2014/main" id="{D4B92FEB-88B5-4312-BFC7-E5A475C2AB74}"/>
              </a:ext>
            </a:extLst>
          </p:cNvPr>
          <p:cNvSpPr>
            <a:spLocks xmlns:a="http://schemas.openxmlformats.org/drawingml/2006/main" noGrp="1"/>
          </p:cNvSpPr>
          <p:nvPr/>
        </p:nvSpPr>
        <p:spPr>
          <a:xfrm xmlns:a="http://schemas.openxmlformats.org/drawingml/2006/main">
            <a:off x="609600" y="1619250"/>
            <a:ext cx="342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1" i="0">
                <a:solidFill>
                  <a:srgbClr val="35C47A"/>
                </a:solidFill>
                <a:latin typeface="Arial"/>
                <a:ea typeface="Arial"/>
                <a:cs typeface="Arial"/>
              </a:defRPr>
            </a:pPr>
            <a:r>
              <a:rPr sz="1050" b="1" i="0">
                <a:solidFill>
                  <a:srgbClr val="35C47A"/>
                </a:solidFill>
                <a:latin typeface="Arial"/>
                <a:ea typeface="Arial"/>
                <a:cs typeface="Arial"/>
              </a:rPr>
              <a:t>DETERMINISTIC PREPARATION</a:t>
            </a:r>
          </a:p>
        </p:txBody>
      </p:sp>
      <p:sp>
        <p:nvSpPr>
          <p:cNvPr id="4" name="">
            <a:extLst xmlns:a="http://schemas.openxmlformats.org/drawingml/2006/main">
              <a:ext uri="{FF2B5EF4-FFF2-40B4-BE49-F238E27FC236}">
                <a16:creationId xmlns:a16="http://schemas.microsoft.com/office/drawing/2014/main" id="{A9350DDF-CBB8-4E34-8E2D-8B39DD3C93AF}"/>
              </a:ext>
            </a:extLst>
          </p:cNvPr>
          <p:cNvSpPr>
            <a:spLocks xmlns:a="http://schemas.openxmlformats.org/drawingml/2006/main" noGrp="1"/>
          </p:cNvSpPr>
          <p:nvPr/>
        </p:nvSpPr>
        <p:spPr>
          <a:xfrm xmlns:a="http://schemas.openxmlformats.org/drawingml/2006/main">
            <a:off x="609600" y="1924050"/>
            <a:ext cx="3429000" cy="0"/>
          </a:xfrm>
          <a:prstGeom xmlns:a="http://schemas.openxmlformats.org/drawingml/2006/main" prst="line">
            <a:avLst/>
          </a:prstGeom>
          <a:noFill xmlns:a="http://schemas.openxmlformats.org/drawingml/2006/main"/>
          <a:ln xmlns:a="http://schemas.openxmlformats.org/drawingml/2006/main" w="19050">
            <a:solidFill>
              <a:srgbClr val="344257"/>
            </a:solidFill>
            <a:prstDash val="solid"/>
          </a:ln>
        </p:spPr>
      </p:sp>
      <p:sp>
        <p:nvSpPr>
          <p:cNvPr id="5" name="">
            <a:extLst xmlns:a="http://schemas.openxmlformats.org/drawingml/2006/main">
              <a:ext uri="{FF2B5EF4-FFF2-40B4-BE49-F238E27FC236}">
                <a16:creationId xmlns:a16="http://schemas.microsoft.com/office/drawing/2014/main" id="{F34C8521-3B70-4F77-B86E-292EE74134E6}"/>
              </a:ext>
            </a:extLst>
          </p:cNvPr>
          <p:cNvSpPr>
            <a:spLocks xmlns:a="http://schemas.openxmlformats.org/drawingml/2006/main" noGrp="1"/>
          </p:cNvSpPr>
          <p:nvPr/>
        </p:nvSpPr>
        <p:spPr>
          <a:xfrm xmlns:a="http://schemas.openxmlformats.org/drawingml/2006/main">
            <a:off x="4648200" y="1619250"/>
            <a:ext cx="1381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050" b="1" i="0">
                <a:solidFill>
                  <a:srgbClr val="35C47A"/>
                </a:solidFill>
                <a:latin typeface="Arial"/>
                <a:ea typeface="Arial"/>
                <a:cs typeface="Arial"/>
              </a:defRPr>
            </a:pPr>
            <a:r>
              <a:rPr sz="1050" b="1" i="0">
                <a:solidFill>
                  <a:srgbClr val="35C47A"/>
                </a:solidFill>
                <a:latin typeface="Arial"/>
                <a:ea typeface="Arial"/>
                <a:cs typeface="Arial"/>
              </a:rPr>
              <a:t>MODEL STEP</a:t>
            </a:r>
          </a:p>
        </p:txBody>
      </p:sp>
      <p:sp>
        <p:nvSpPr>
          <p:cNvPr id="6" name="">
            <a:extLst xmlns:a="http://schemas.openxmlformats.org/drawingml/2006/main">
              <a:ext uri="{FF2B5EF4-FFF2-40B4-BE49-F238E27FC236}">
                <a16:creationId xmlns:a16="http://schemas.microsoft.com/office/drawing/2014/main" id="{9B267E16-1676-41AF-BEA1-5FE48B7ADEC2}"/>
              </a:ext>
            </a:extLst>
          </p:cNvPr>
          <p:cNvSpPr>
            <a:spLocks xmlns:a="http://schemas.openxmlformats.org/drawingml/2006/main" noGrp="1"/>
          </p:cNvSpPr>
          <p:nvPr/>
        </p:nvSpPr>
        <p:spPr>
          <a:xfrm xmlns:a="http://schemas.openxmlformats.org/drawingml/2006/main">
            <a:off x="4648200" y="1924050"/>
            <a:ext cx="1381125" cy="0"/>
          </a:xfrm>
          <a:prstGeom xmlns:a="http://schemas.openxmlformats.org/drawingml/2006/main" prst="line">
            <a:avLst/>
          </a:prstGeom>
          <a:noFill xmlns:a="http://schemas.openxmlformats.org/drawingml/2006/main"/>
          <a:ln xmlns:a="http://schemas.openxmlformats.org/drawingml/2006/main" w="28575">
            <a:solidFill>
              <a:srgbClr val="35C47A"/>
            </a:solidFill>
            <a:prstDash val="solid"/>
          </a:ln>
        </p:spPr>
      </p:sp>
      <p:sp>
        <p:nvSpPr>
          <p:cNvPr id="7" name="">
            <a:extLst xmlns:a="http://schemas.openxmlformats.org/drawingml/2006/main">
              <a:ext uri="{FF2B5EF4-FFF2-40B4-BE49-F238E27FC236}">
                <a16:creationId xmlns:a16="http://schemas.microsoft.com/office/drawing/2014/main" id="{ED175688-65A0-4421-B1F7-940BAA8B0063}"/>
              </a:ext>
            </a:extLst>
          </p:cNvPr>
          <p:cNvSpPr>
            <a:spLocks xmlns:a="http://schemas.openxmlformats.org/drawingml/2006/main" noGrp="1"/>
          </p:cNvSpPr>
          <p:nvPr/>
        </p:nvSpPr>
        <p:spPr>
          <a:xfrm xmlns:a="http://schemas.openxmlformats.org/drawingml/2006/main">
            <a:off x="6553200" y="161925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1" i="0">
                <a:solidFill>
                  <a:srgbClr val="35C47A"/>
                </a:solidFill>
                <a:latin typeface="Arial"/>
                <a:ea typeface="Arial"/>
                <a:cs typeface="Arial"/>
              </a:defRPr>
            </a:pPr>
            <a:r>
              <a:rPr sz="1050" b="1" i="0">
                <a:solidFill>
                  <a:srgbClr val="35C47A"/>
                </a:solidFill>
                <a:latin typeface="Arial"/>
                <a:ea typeface="Arial"/>
                <a:cs typeface="Arial"/>
              </a:rPr>
              <a:t>DETERMINISTIC VALIDATION</a:t>
            </a:r>
          </a:p>
        </p:txBody>
      </p:sp>
      <p:sp>
        <p:nvSpPr>
          <p:cNvPr id="8" name="">
            <a:extLst xmlns:a="http://schemas.openxmlformats.org/drawingml/2006/main">
              <a:ext uri="{FF2B5EF4-FFF2-40B4-BE49-F238E27FC236}">
                <a16:creationId xmlns:a16="http://schemas.microsoft.com/office/drawing/2014/main" id="{F1E30A14-D0C4-40F5-B926-541936849629}"/>
              </a:ext>
            </a:extLst>
          </p:cNvPr>
          <p:cNvSpPr>
            <a:spLocks xmlns:a="http://schemas.openxmlformats.org/drawingml/2006/main" noGrp="1"/>
          </p:cNvSpPr>
          <p:nvPr/>
        </p:nvSpPr>
        <p:spPr>
          <a:xfrm xmlns:a="http://schemas.openxmlformats.org/drawingml/2006/main">
            <a:off x="6553200" y="1924050"/>
            <a:ext cx="3714750" cy="0"/>
          </a:xfrm>
          <a:prstGeom xmlns:a="http://schemas.openxmlformats.org/drawingml/2006/main" prst="line">
            <a:avLst/>
          </a:prstGeom>
          <a:noFill xmlns:a="http://schemas.openxmlformats.org/drawingml/2006/main"/>
          <a:ln xmlns:a="http://schemas.openxmlformats.org/drawingml/2006/main" w="19050">
            <a:solidFill>
              <a:srgbClr val="344257"/>
            </a:solidFill>
            <a:prstDash val="solid"/>
          </a:ln>
        </p:spPr>
      </p:sp>
      <p:sp>
        <p:nvSpPr>
          <p:cNvPr id="9" name="">
            <a:extLst xmlns:a="http://schemas.openxmlformats.org/drawingml/2006/main">
              <a:ext uri="{FF2B5EF4-FFF2-40B4-BE49-F238E27FC236}">
                <a16:creationId xmlns:a16="http://schemas.microsoft.com/office/drawing/2014/main" id="{A27269F5-EC30-41D6-A154-76E07785892C}"/>
              </a:ext>
            </a:extLst>
          </p:cNvPr>
          <p:cNvSpPr>
            <a:spLocks xmlns:a="http://schemas.openxmlformats.org/drawingml/2006/main" noGrp="1"/>
          </p:cNvSpPr>
          <p:nvPr/>
        </p:nvSpPr>
        <p:spPr>
          <a:xfrm xmlns:a="http://schemas.openxmlformats.org/drawingml/2006/main">
            <a:off x="1066800" y="2647950"/>
            <a:ext cx="8553450" cy="0"/>
          </a:xfrm>
          <a:prstGeom xmlns:a="http://schemas.openxmlformats.org/drawingml/2006/main" prst="line">
            <a:avLst/>
          </a:prstGeom>
          <a:noFill xmlns:a="http://schemas.openxmlformats.org/drawingml/2006/main"/>
          <a:ln xmlns:a="http://schemas.openxmlformats.org/drawingml/2006/main" w="19050">
            <a:solidFill>
              <a:srgbClr val="35C47A"/>
            </a:solidFill>
            <a:prstDash val="solid"/>
          </a:ln>
        </p:spPr>
      </p:sp>
      <p:sp>
        <p:nvSpPr>
          <p:cNvPr id="10" name="">
            <a:extLst xmlns:a="http://schemas.openxmlformats.org/drawingml/2006/main">
              <a:ext uri="{FF2B5EF4-FFF2-40B4-BE49-F238E27FC236}">
                <a16:creationId xmlns:a16="http://schemas.microsoft.com/office/drawing/2014/main" id="{563D7CD6-167C-4978-8CB4-14CF06D3AC89}"/>
              </a:ext>
            </a:extLst>
          </p:cNvPr>
          <p:cNvSpPr>
            <a:spLocks xmlns:a="http://schemas.openxmlformats.org/drawingml/2006/main" noGrp="1"/>
          </p:cNvSpPr>
          <p:nvPr/>
        </p:nvSpPr>
        <p:spPr>
          <a:xfrm xmlns:a="http://schemas.openxmlformats.org/drawingml/2006/main">
            <a:off x="352425" y="209550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rial"/>
                <a:ea typeface="Arial"/>
                <a:cs typeface="Arial"/>
              </a:defRPr>
            </a:pPr>
            <a:r>
              <a:rPr sz="1650" b="1" i="0">
                <a:solidFill>
                  <a:srgbClr val="FFFFFF"/>
                </a:solidFill>
                <a:latin typeface="Arial"/>
                <a:ea typeface="Arial"/>
                <a:cs typeface="Arial"/>
              </a:rPr>
              <a:t>Inspect</a:t>
            </a:r>
          </a:p>
        </p:txBody>
      </p:sp>
      <p:sp>
        <p:nvSpPr>
          <p:cNvPr id="11" name="">
            <a:extLst xmlns:a="http://schemas.openxmlformats.org/drawingml/2006/main">
              <a:ext uri="{FF2B5EF4-FFF2-40B4-BE49-F238E27FC236}">
                <a16:creationId xmlns:a16="http://schemas.microsoft.com/office/drawing/2014/main" id="{B32EF677-073D-4229-A630-C2D1787CC738}"/>
              </a:ext>
            </a:extLst>
          </p:cNvPr>
          <p:cNvSpPr>
            <a:spLocks xmlns:a="http://schemas.openxmlformats.org/drawingml/2006/main" noGrp="1"/>
          </p:cNvSpPr>
          <p:nvPr/>
        </p:nvSpPr>
        <p:spPr>
          <a:xfrm xmlns:a="http://schemas.openxmlformats.org/drawingml/2006/main">
            <a:off x="981075" y="2562225"/>
            <a:ext cx="171450" cy="171450"/>
          </a:xfrm>
          <a:prstGeom xmlns:a="http://schemas.openxmlformats.org/drawingml/2006/main" prst="ellipse">
            <a:avLst/>
          </a:prstGeom>
          <a:solidFill xmlns:a="http://schemas.openxmlformats.org/drawingml/2006/main">
            <a:srgbClr val="0B172A"/>
          </a:solidFill>
          <a:ln xmlns:a="http://schemas.openxmlformats.org/drawingml/2006/main" w="19050">
            <a:solidFill>
              <a:srgbClr val="35C47A"/>
            </a:solidFill>
            <a:prstDash val="solid"/>
          </a:ln>
        </p:spPr>
      </p:sp>
      <p:sp>
        <p:nvSpPr>
          <p:cNvPr id="12" name="">
            <a:extLst xmlns:a="http://schemas.openxmlformats.org/drawingml/2006/main">
              <a:ext uri="{FF2B5EF4-FFF2-40B4-BE49-F238E27FC236}">
                <a16:creationId xmlns:a16="http://schemas.microsoft.com/office/drawing/2014/main" id="{97FD95FB-3EF6-4898-90F4-FC2CDFA922EE}"/>
              </a:ext>
            </a:extLst>
          </p:cNvPr>
          <p:cNvSpPr>
            <a:spLocks xmlns:a="http://schemas.openxmlformats.org/drawingml/2006/main" noGrp="1"/>
          </p:cNvSpPr>
          <p:nvPr/>
        </p:nvSpPr>
        <p:spPr>
          <a:xfrm xmlns:a="http://schemas.openxmlformats.org/drawingml/2006/main">
            <a:off x="352425" y="2933700"/>
            <a:ext cx="142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8000"/>
              </a:lnSpc>
              <a:buNone/>
              <a:defRPr sz="1200" b="0" i="0">
                <a:solidFill>
                  <a:srgbClr val="AAB6C5"/>
                </a:solidFill>
                <a:latin typeface="Arial"/>
                <a:ea typeface="Arial"/>
                <a:cs typeface="Arial"/>
              </a:defRPr>
            </a:pPr>
            <a:r>
              <a:rPr sz="1200" b="0" i="0">
                <a:solidFill>
                  <a:srgbClr val="AAB6C5"/>
                </a:solidFill>
                <a:latin typeface="Arial"/>
                <a:ea typeface="Arial"/>
                <a:cs typeface="Arial"/>
              </a:rPr>
              <a:t>Workbook and target cells</a:t>
            </a:r>
          </a:p>
        </p:txBody>
      </p:sp>
      <p:sp>
        <p:nvSpPr>
          <p:cNvPr id="13" name="">
            <a:extLst xmlns:a="http://schemas.openxmlformats.org/drawingml/2006/main">
              <a:ext uri="{FF2B5EF4-FFF2-40B4-BE49-F238E27FC236}">
                <a16:creationId xmlns:a16="http://schemas.microsoft.com/office/drawing/2014/main" id="{32C5BDAE-71E9-4BCB-ADBE-37863762E851}"/>
              </a:ext>
            </a:extLst>
          </p:cNvPr>
          <p:cNvSpPr>
            <a:spLocks xmlns:a="http://schemas.openxmlformats.org/drawingml/2006/main" noGrp="1"/>
          </p:cNvSpPr>
          <p:nvPr/>
        </p:nvSpPr>
        <p:spPr>
          <a:xfrm xmlns:a="http://schemas.openxmlformats.org/drawingml/2006/main">
            <a:off x="2238375" y="209550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rial"/>
                <a:ea typeface="Arial"/>
                <a:cs typeface="Arial"/>
              </a:defRPr>
            </a:pPr>
            <a:r>
              <a:rPr sz="1650" b="1" i="0">
                <a:solidFill>
                  <a:srgbClr val="FFFFFF"/>
                </a:solidFill>
                <a:latin typeface="Arial"/>
                <a:ea typeface="Arial"/>
                <a:cs typeface="Arial"/>
              </a:rPr>
              <a:t>Build context</a:t>
            </a:r>
          </a:p>
        </p:txBody>
      </p:sp>
      <p:sp>
        <p:nvSpPr>
          <p:cNvPr id="14" name="">
            <a:extLst xmlns:a="http://schemas.openxmlformats.org/drawingml/2006/main">
              <a:ext uri="{FF2B5EF4-FFF2-40B4-BE49-F238E27FC236}">
                <a16:creationId xmlns:a16="http://schemas.microsoft.com/office/drawing/2014/main" id="{DEDCFB37-8366-4A28-9963-30E664949F34}"/>
              </a:ext>
            </a:extLst>
          </p:cNvPr>
          <p:cNvSpPr>
            <a:spLocks xmlns:a="http://schemas.openxmlformats.org/drawingml/2006/main" noGrp="1"/>
          </p:cNvSpPr>
          <p:nvPr/>
        </p:nvSpPr>
        <p:spPr>
          <a:xfrm xmlns:a="http://schemas.openxmlformats.org/drawingml/2006/main">
            <a:off x="3057525" y="2562225"/>
            <a:ext cx="171450" cy="171450"/>
          </a:xfrm>
          <a:prstGeom xmlns:a="http://schemas.openxmlformats.org/drawingml/2006/main" prst="ellipse">
            <a:avLst/>
          </a:prstGeom>
          <a:solidFill xmlns:a="http://schemas.openxmlformats.org/drawingml/2006/main">
            <a:srgbClr val="0B172A"/>
          </a:solidFill>
          <a:ln xmlns:a="http://schemas.openxmlformats.org/drawingml/2006/main" w="19050">
            <a:solidFill>
              <a:srgbClr val="35C47A"/>
            </a:solidFill>
            <a:prstDash val="solid"/>
          </a:ln>
        </p:spPr>
      </p:sp>
      <p:sp>
        <p:nvSpPr>
          <p:cNvPr id="15" name="">
            <a:extLst xmlns:a="http://schemas.openxmlformats.org/drawingml/2006/main">
              <a:ext uri="{FF2B5EF4-FFF2-40B4-BE49-F238E27FC236}">
                <a16:creationId xmlns:a16="http://schemas.microsoft.com/office/drawing/2014/main" id="{2E46B91F-F3EA-4B6F-ACC5-5CBB9EF407BB}"/>
              </a:ext>
            </a:extLst>
          </p:cNvPr>
          <p:cNvSpPr>
            <a:spLocks xmlns:a="http://schemas.openxmlformats.org/drawingml/2006/main" noGrp="1"/>
          </p:cNvSpPr>
          <p:nvPr/>
        </p:nvSpPr>
        <p:spPr>
          <a:xfrm xmlns:a="http://schemas.openxmlformats.org/drawingml/2006/main">
            <a:off x="2238375" y="2933700"/>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8000"/>
              </a:lnSpc>
              <a:buNone/>
              <a:defRPr sz="1200" b="0" i="0">
                <a:solidFill>
                  <a:srgbClr val="AAB6C5"/>
                </a:solidFill>
                <a:latin typeface="Arial"/>
                <a:ea typeface="Arial"/>
                <a:cs typeface="Arial"/>
              </a:defRPr>
            </a:pPr>
            <a:r>
              <a:rPr sz="1200" b="0" i="0">
                <a:solidFill>
                  <a:srgbClr val="AAB6C5"/>
                </a:solidFill>
                <a:latin typeface="Arial"/>
                <a:ea typeface="Arial"/>
                <a:cs typeface="Arial"/>
              </a:rPr>
              <a:t>Existing formulas and last calculated values</a:t>
            </a:r>
          </a:p>
        </p:txBody>
      </p:sp>
      <p:sp>
        <p:nvSpPr>
          <p:cNvPr id="16" name="">
            <a:extLst xmlns:a="http://schemas.openxmlformats.org/drawingml/2006/main">
              <a:ext uri="{FF2B5EF4-FFF2-40B4-BE49-F238E27FC236}">
                <a16:creationId xmlns:a16="http://schemas.microsoft.com/office/drawing/2014/main" id="{A49DAE87-A50D-4146-BF3E-BFA8F8180FB9}"/>
              </a:ext>
            </a:extLst>
          </p:cNvPr>
          <p:cNvSpPr>
            <a:spLocks xmlns:a="http://schemas.openxmlformats.org/drawingml/2006/main" noGrp="1"/>
          </p:cNvSpPr>
          <p:nvPr/>
        </p:nvSpPr>
        <p:spPr>
          <a:xfrm xmlns:a="http://schemas.openxmlformats.org/drawingml/2006/main">
            <a:off x="4572000" y="20955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650" b="1" i="0">
                <a:solidFill>
                  <a:srgbClr val="35C47A"/>
                </a:solidFill>
                <a:latin typeface="Arial"/>
                <a:ea typeface="Arial"/>
                <a:cs typeface="Arial"/>
              </a:defRPr>
            </a:pPr>
            <a:r>
              <a:rPr sz="1650" b="1" i="0">
                <a:solidFill>
                  <a:srgbClr val="35C47A"/>
                </a:solidFill>
                <a:latin typeface="Arial"/>
                <a:ea typeface="Arial"/>
                <a:cs typeface="Arial"/>
              </a:rPr>
              <a:t>Generate</a:t>
            </a:r>
          </a:p>
        </p:txBody>
      </p:sp>
      <p:sp>
        <p:nvSpPr>
          <p:cNvPr id="17" name="">
            <a:extLst xmlns:a="http://schemas.openxmlformats.org/drawingml/2006/main">
              <a:ext uri="{FF2B5EF4-FFF2-40B4-BE49-F238E27FC236}">
                <a16:creationId xmlns:a16="http://schemas.microsoft.com/office/drawing/2014/main" id="{C918A066-D9D7-4BBB-BA9C-140ABF885CC9}"/>
              </a:ext>
            </a:extLst>
          </p:cNvPr>
          <p:cNvSpPr>
            <a:spLocks xmlns:a="http://schemas.openxmlformats.org/drawingml/2006/main" noGrp="1"/>
          </p:cNvSpPr>
          <p:nvPr/>
        </p:nvSpPr>
        <p:spPr>
          <a:xfrm xmlns:a="http://schemas.openxmlformats.org/drawingml/2006/main">
            <a:off x="5210175" y="2524125"/>
            <a:ext cx="247650" cy="247650"/>
          </a:xfrm>
          <a:prstGeom xmlns:a="http://schemas.openxmlformats.org/drawingml/2006/main" prst="ellipse">
            <a:avLst/>
          </a:prstGeom>
          <a:solidFill xmlns:a="http://schemas.openxmlformats.org/drawingml/2006/main">
            <a:srgbClr val="35C47A"/>
          </a:solidFill>
          <a:ln xmlns:a="http://schemas.openxmlformats.org/drawingml/2006/main" w="19050">
            <a:solidFill>
              <a:srgbClr val="35C47A"/>
            </a:solidFill>
            <a:prstDash val="solid"/>
          </a:ln>
        </p:spPr>
      </p:sp>
      <p:sp>
        <p:nvSpPr>
          <p:cNvPr id="18" name="">
            <a:extLst xmlns:a="http://schemas.openxmlformats.org/drawingml/2006/main">
              <a:ext uri="{FF2B5EF4-FFF2-40B4-BE49-F238E27FC236}">
                <a16:creationId xmlns:a16="http://schemas.microsoft.com/office/drawing/2014/main" id="{BFA0C774-F0E2-4A02-95D1-16F32561DB5B}"/>
              </a:ext>
            </a:extLst>
          </p:cNvPr>
          <p:cNvSpPr>
            <a:spLocks xmlns:a="http://schemas.openxmlformats.org/drawingml/2006/main" noGrp="1"/>
          </p:cNvSpPr>
          <p:nvPr/>
        </p:nvSpPr>
        <p:spPr>
          <a:xfrm xmlns:a="http://schemas.openxmlformats.org/drawingml/2006/main">
            <a:off x="4572000" y="2933700"/>
            <a:ext cx="152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8000"/>
              </a:lnSpc>
              <a:buNone/>
              <a:defRPr sz="1200" b="0" i="0">
                <a:solidFill>
                  <a:srgbClr val="AAB6C5"/>
                </a:solidFill>
                <a:latin typeface="Arial"/>
                <a:ea typeface="Arial"/>
                <a:cs typeface="Arial"/>
              </a:defRPr>
            </a:pPr>
            <a:r>
              <a:rPr sz="1200" b="0" i="0">
                <a:solidFill>
                  <a:srgbClr val="AAB6C5"/>
                </a:solidFill>
                <a:latin typeface="Arial"/>
                <a:ea typeface="Arial"/>
                <a:cs typeface="Arial"/>
              </a:rPr>
              <a:t>One Qwen3.8-27B response</a:t>
            </a:r>
          </a:p>
        </p:txBody>
      </p:sp>
      <p:sp>
        <p:nvSpPr>
          <p:cNvPr id="19" name="">
            <a:extLst xmlns:a="http://schemas.openxmlformats.org/drawingml/2006/main">
              <a:ext uri="{FF2B5EF4-FFF2-40B4-BE49-F238E27FC236}">
                <a16:creationId xmlns:a16="http://schemas.microsoft.com/office/drawing/2014/main" id="{32113E36-722F-44C5-944D-982B0D07DBAF}"/>
              </a:ext>
            </a:extLst>
          </p:cNvPr>
          <p:cNvSpPr>
            <a:spLocks xmlns:a="http://schemas.openxmlformats.org/drawingml/2006/main" noGrp="1"/>
          </p:cNvSpPr>
          <p:nvPr/>
        </p:nvSpPr>
        <p:spPr>
          <a:xfrm xmlns:a="http://schemas.openxmlformats.org/drawingml/2006/main">
            <a:off x="6619875" y="209550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rial"/>
                <a:ea typeface="Arial"/>
                <a:cs typeface="Arial"/>
              </a:defRPr>
            </a:pPr>
            <a:r>
              <a:rPr sz="1650" b="1" i="0">
                <a:solidFill>
                  <a:srgbClr val="FFFFFF"/>
                </a:solidFill>
                <a:latin typeface="Arial"/>
                <a:ea typeface="Arial"/>
                <a:cs typeface="Arial"/>
              </a:rPr>
              <a:t>Validate</a:t>
            </a:r>
          </a:p>
        </p:txBody>
      </p:sp>
      <p:sp>
        <p:nvSpPr>
          <p:cNvPr id="20" name="">
            <a:extLst xmlns:a="http://schemas.openxmlformats.org/drawingml/2006/main">
              <a:ext uri="{FF2B5EF4-FFF2-40B4-BE49-F238E27FC236}">
                <a16:creationId xmlns:a16="http://schemas.microsoft.com/office/drawing/2014/main" id="{E308222C-00B6-4AC9-851F-F0EFD893AFAB}"/>
              </a:ext>
            </a:extLst>
          </p:cNvPr>
          <p:cNvSpPr>
            <a:spLocks xmlns:a="http://schemas.openxmlformats.org/drawingml/2006/main" noGrp="1"/>
          </p:cNvSpPr>
          <p:nvPr/>
        </p:nvSpPr>
        <p:spPr>
          <a:xfrm xmlns:a="http://schemas.openxmlformats.org/drawingml/2006/main">
            <a:off x="7439025" y="2562225"/>
            <a:ext cx="171450" cy="171450"/>
          </a:xfrm>
          <a:prstGeom xmlns:a="http://schemas.openxmlformats.org/drawingml/2006/main" prst="ellipse">
            <a:avLst/>
          </a:prstGeom>
          <a:solidFill xmlns:a="http://schemas.openxmlformats.org/drawingml/2006/main">
            <a:srgbClr val="0B172A"/>
          </a:solidFill>
          <a:ln xmlns:a="http://schemas.openxmlformats.org/drawingml/2006/main" w="19050">
            <a:solidFill>
              <a:srgbClr val="35C47A"/>
            </a:solidFill>
            <a:prstDash val="solid"/>
          </a:ln>
        </p:spPr>
      </p:sp>
      <p:sp>
        <p:nvSpPr>
          <p:cNvPr id="21" name="">
            <a:extLst xmlns:a="http://schemas.openxmlformats.org/drawingml/2006/main">
              <a:ext uri="{FF2B5EF4-FFF2-40B4-BE49-F238E27FC236}">
                <a16:creationId xmlns:a16="http://schemas.microsoft.com/office/drawing/2014/main" id="{9A918AE3-4ADB-484C-A013-770E70813F77}"/>
              </a:ext>
            </a:extLst>
          </p:cNvPr>
          <p:cNvSpPr>
            <a:spLocks xmlns:a="http://schemas.openxmlformats.org/drawingml/2006/main" noGrp="1"/>
          </p:cNvSpPr>
          <p:nvPr/>
        </p:nvSpPr>
        <p:spPr>
          <a:xfrm xmlns:a="http://schemas.openxmlformats.org/drawingml/2006/main">
            <a:off x="6619875" y="2933700"/>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8000"/>
              </a:lnSpc>
              <a:buNone/>
              <a:defRPr sz="1200" b="0" i="0">
                <a:solidFill>
                  <a:srgbClr val="AAB6C5"/>
                </a:solidFill>
                <a:latin typeface="Arial"/>
                <a:ea typeface="Arial"/>
                <a:cs typeface="Arial"/>
              </a:defRPr>
            </a:pPr>
            <a:r>
              <a:rPr sz="1200" b="0" i="0">
                <a:solidFill>
                  <a:srgbClr val="AAB6C5"/>
                </a:solidFill>
                <a:latin typeface="Arial"/>
                <a:ea typeface="Arial"/>
                <a:cs typeface="Arial"/>
              </a:rPr>
              <a:t>Target coverage, value types and formula safety</a:t>
            </a:r>
          </a:p>
        </p:txBody>
      </p:sp>
      <p:sp>
        <p:nvSpPr>
          <p:cNvPr id="22" name="">
            <a:extLst xmlns:a="http://schemas.openxmlformats.org/drawingml/2006/main">
              <a:ext uri="{FF2B5EF4-FFF2-40B4-BE49-F238E27FC236}">
                <a16:creationId xmlns:a16="http://schemas.microsoft.com/office/drawing/2014/main" id="{952A83EE-6A5F-4FCC-827C-AE7F6B9E0862}"/>
              </a:ext>
            </a:extLst>
          </p:cNvPr>
          <p:cNvSpPr>
            <a:spLocks xmlns:a="http://schemas.openxmlformats.org/drawingml/2006/main" noGrp="1"/>
          </p:cNvSpPr>
          <p:nvPr/>
        </p:nvSpPr>
        <p:spPr>
          <a:xfrm xmlns:a="http://schemas.openxmlformats.org/drawingml/2006/main">
            <a:off x="8763000" y="2095500"/>
            <a:ext cx="171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rial"/>
                <a:ea typeface="Arial"/>
                <a:cs typeface="Arial"/>
              </a:defRPr>
            </a:pPr>
            <a:r>
              <a:rPr sz="1650" b="1" i="0">
                <a:solidFill>
                  <a:srgbClr val="FFFFFF"/>
                </a:solidFill>
                <a:latin typeface="Arial"/>
                <a:ea typeface="Arial"/>
                <a:cs typeface="Arial"/>
              </a:rPr>
              <a:t>Publish</a:t>
            </a:r>
          </a:p>
        </p:txBody>
      </p:sp>
      <p:sp>
        <p:nvSpPr>
          <p:cNvPr id="23" name="">
            <a:extLst xmlns:a="http://schemas.openxmlformats.org/drawingml/2006/main">
              <a:ext uri="{FF2B5EF4-FFF2-40B4-BE49-F238E27FC236}">
                <a16:creationId xmlns:a16="http://schemas.microsoft.com/office/drawing/2014/main" id="{5D65E1FE-04DC-4235-A62C-31F22BEC38B9}"/>
              </a:ext>
            </a:extLst>
          </p:cNvPr>
          <p:cNvSpPr>
            <a:spLocks xmlns:a="http://schemas.openxmlformats.org/drawingml/2006/main" noGrp="1"/>
          </p:cNvSpPr>
          <p:nvPr/>
        </p:nvSpPr>
        <p:spPr>
          <a:xfrm xmlns:a="http://schemas.openxmlformats.org/drawingml/2006/main">
            <a:off x="9534525" y="2562225"/>
            <a:ext cx="171450" cy="171450"/>
          </a:xfrm>
          <a:prstGeom xmlns:a="http://schemas.openxmlformats.org/drawingml/2006/main" prst="ellipse">
            <a:avLst/>
          </a:prstGeom>
          <a:solidFill xmlns:a="http://schemas.openxmlformats.org/drawingml/2006/main">
            <a:srgbClr val="0B172A"/>
          </a:solidFill>
          <a:ln xmlns:a="http://schemas.openxmlformats.org/drawingml/2006/main" w="19050">
            <a:solidFill>
              <a:srgbClr val="35C47A"/>
            </a:solidFill>
            <a:prstDash val="solid"/>
          </a:ln>
        </p:spPr>
      </p:sp>
      <p:sp>
        <p:nvSpPr>
          <p:cNvPr id="24" name="">
            <a:extLst xmlns:a="http://schemas.openxmlformats.org/drawingml/2006/main">
              <a:ext uri="{FF2B5EF4-FFF2-40B4-BE49-F238E27FC236}">
                <a16:creationId xmlns:a16="http://schemas.microsoft.com/office/drawing/2014/main" id="{C302DA7A-A303-4D35-8564-85A976C26A4B}"/>
              </a:ext>
            </a:extLst>
          </p:cNvPr>
          <p:cNvSpPr>
            <a:spLocks xmlns:a="http://schemas.openxmlformats.org/drawingml/2006/main" noGrp="1"/>
          </p:cNvSpPr>
          <p:nvPr/>
        </p:nvSpPr>
        <p:spPr>
          <a:xfrm xmlns:a="http://schemas.openxmlformats.org/drawingml/2006/main">
            <a:off x="9848850" y="2933700"/>
            <a:ext cx="171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8000"/>
              </a:lnSpc>
              <a:buNone/>
              <a:defRPr sz="1200" b="0" i="0">
                <a:solidFill>
                  <a:srgbClr val="AAB6C5"/>
                </a:solidFill>
                <a:latin typeface="Arial"/>
                <a:ea typeface="Arial"/>
                <a:cs typeface="Arial"/>
              </a:defRPr>
            </a:pPr>
            <a:r>
              <a:rPr sz="1200" b="0" i="0">
                <a:solidFill>
                  <a:srgbClr val="AAB6C5"/>
                </a:solidFill>
                <a:latin typeface="Arial"/>
                <a:ea typeface="Arial"/>
                <a:cs typeface="Arial"/>
              </a:rPr>
              <a:t>Save a fresh copy and reopen it</a:t>
            </a:r>
          </a:p>
        </p:txBody>
      </p:sp>
      <p:sp>
        <p:nvSpPr>
          <p:cNvPr id="25" name="">
            <a:extLst xmlns:a="http://schemas.openxmlformats.org/drawingml/2006/main">
              <a:ext uri="{FF2B5EF4-FFF2-40B4-BE49-F238E27FC236}">
                <a16:creationId xmlns:a16="http://schemas.microsoft.com/office/drawing/2014/main" id="{5FB6BB13-8DA7-497A-9518-4D6768549C8B}"/>
              </a:ext>
            </a:extLst>
          </p:cNvPr>
          <p:cNvSpPr>
            <a:spLocks xmlns:a="http://schemas.openxmlformats.org/drawingml/2006/main" noGrp="1"/>
          </p:cNvSpPr>
          <p:nvPr/>
        </p:nvSpPr>
        <p:spPr>
          <a:xfrm xmlns:a="http://schemas.openxmlformats.org/drawingml/2006/main">
            <a:off x="9620250" y="2733675"/>
            <a:ext cx="0" cy="914400"/>
          </a:xfrm>
          <a:prstGeom xmlns:a="http://schemas.openxmlformats.org/drawingml/2006/main" prst="line">
            <a:avLst/>
          </a:prstGeom>
          <a:noFill xmlns:a="http://schemas.openxmlformats.org/drawingml/2006/main"/>
          <a:ln xmlns:a="http://schemas.openxmlformats.org/drawingml/2006/main" w="19050">
            <a:solidFill>
              <a:srgbClr val="35C47A"/>
            </a:solidFill>
            <a:prstDash val="solid"/>
          </a:ln>
        </p:spPr>
      </p:sp>
      <p:sp>
        <p:nvSpPr>
          <p:cNvPr id="26" name="">
            <a:extLst xmlns:a="http://schemas.openxmlformats.org/drawingml/2006/main">
              <a:ext uri="{FF2B5EF4-FFF2-40B4-BE49-F238E27FC236}">
                <a16:creationId xmlns:a16="http://schemas.microsoft.com/office/drawing/2014/main" id="{27475AEC-5A19-4843-9442-D815FCE7DA85}"/>
              </a:ext>
            </a:extLst>
          </p:cNvPr>
          <p:cNvSpPr>
            <a:spLocks xmlns:a="http://schemas.openxmlformats.org/drawingml/2006/main" noGrp="1"/>
          </p:cNvSpPr>
          <p:nvPr/>
        </p:nvSpPr>
        <p:spPr>
          <a:xfrm xmlns:a="http://schemas.openxmlformats.org/drawingml/2006/main">
            <a:off x="9544050" y="3571875"/>
            <a:ext cx="152400" cy="152400"/>
          </a:xfrm>
          <a:prstGeom xmlns:a="http://schemas.openxmlformats.org/drawingml/2006/main" prst="ellipse">
            <a:avLst/>
          </a:prstGeom>
          <a:solidFill xmlns:a="http://schemas.openxmlformats.org/drawingml/2006/main">
            <a:srgbClr val="0B172A"/>
          </a:solidFill>
          <a:ln xmlns:a="http://schemas.openxmlformats.org/drawingml/2006/main" w="19050">
            <a:solidFill>
              <a:srgbClr val="35C47A"/>
            </a:solidFill>
            <a:prstDash val="solid"/>
          </a:ln>
        </p:spPr>
      </p:sp>
      <p:sp>
        <p:nvSpPr>
          <p:cNvPr id="27" name="">
            <a:extLst xmlns:a="http://schemas.openxmlformats.org/drawingml/2006/main">
              <a:ext uri="{FF2B5EF4-FFF2-40B4-BE49-F238E27FC236}">
                <a16:creationId xmlns:a16="http://schemas.microsoft.com/office/drawing/2014/main" id="{1C0F5326-9BE3-48E6-84C5-7AA617B308AB}"/>
              </a:ext>
            </a:extLst>
          </p:cNvPr>
          <p:cNvSpPr>
            <a:spLocks xmlns:a="http://schemas.openxmlformats.org/drawingml/2006/main" noGrp="1"/>
          </p:cNvSpPr>
          <p:nvPr/>
        </p:nvSpPr>
        <p:spPr>
          <a:xfrm xmlns:a="http://schemas.openxmlformats.org/drawingml/2006/main">
            <a:off x="9848850" y="3476625"/>
            <a:ext cx="171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975" b="1" i="0">
                <a:solidFill>
                  <a:srgbClr val="35C47A"/>
                </a:solidFill>
                <a:latin typeface="Arial"/>
                <a:ea typeface="Arial"/>
                <a:cs typeface="Arial"/>
              </a:defRPr>
            </a:pPr>
            <a:r>
              <a:rPr sz="975" b="1" i="0">
                <a:solidFill>
                  <a:srgbClr val="35C47A"/>
                </a:solidFill>
                <a:latin typeface="Arial"/>
                <a:ea typeface="Arial"/>
                <a:cs typeface="Arial"/>
              </a:rPr>
              <a:t>PUBLIC EVALUATION</a:t>
            </a:r>
          </a:p>
        </p:txBody>
      </p:sp>
      <p:sp>
        <p:nvSpPr>
          <p:cNvPr id="28" name="">
            <a:extLst xmlns:a="http://schemas.openxmlformats.org/drawingml/2006/main">
              <a:ext uri="{FF2B5EF4-FFF2-40B4-BE49-F238E27FC236}">
                <a16:creationId xmlns:a16="http://schemas.microsoft.com/office/drawing/2014/main" id="{85B66A86-E907-4994-8585-3A3CA76BD43A}"/>
              </a:ext>
            </a:extLst>
          </p:cNvPr>
          <p:cNvSpPr>
            <a:spLocks xmlns:a="http://schemas.openxmlformats.org/drawingml/2006/main" noGrp="1"/>
          </p:cNvSpPr>
          <p:nvPr/>
        </p:nvSpPr>
        <p:spPr>
          <a:xfrm xmlns:a="http://schemas.openxmlformats.org/drawingml/2006/main">
            <a:off x="9848850" y="3781425"/>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FFFFF"/>
                </a:solidFill>
                <a:latin typeface="Arial"/>
                <a:ea typeface="Arial"/>
                <a:cs typeface="Arial"/>
              </a:defRPr>
            </a:pPr>
            <a:r>
              <a:rPr sz="1650" b="1" i="0">
                <a:solidFill>
                  <a:srgbClr val="FFFFFF"/>
                </a:solidFill>
                <a:latin typeface="Arial"/>
                <a:ea typeface="Arial"/>
                <a:cs typeface="Arial"/>
              </a:rPr>
              <a:t>Score</a:t>
            </a:r>
          </a:p>
        </p:txBody>
      </p:sp>
      <p:sp>
        <p:nvSpPr>
          <p:cNvPr id="29" name="">
            <a:extLst xmlns:a="http://schemas.openxmlformats.org/drawingml/2006/main">
              <a:ext uri="{FF2B5EF4-FFF2-40B4-BE49-F238E27FC236}">
                <a16:creationId xmlns:a16="http://schemas.microsoft.com/office/drawing/2014/main" id="{9D5B3337-235A-4377-AE9D-226270BD7E81}"/>
              </a:ext>
            </a:extLst>
          </p:cNvPr>
          <p:cNvSpPr>
            <a:spLocks xmlns:a="http://schemas.openxmlformats.org/drawingml/2006/main" noGrp="1"/>
          </p:cNvSpPr>
          <p:nvPr/>
        </p:nvSpPr>
        <p:spPr>
          <a:xfrm xmlns:a="http://schemas.openxmlformats.org/drawingml/2006/main">
            <a:off x="9848850" y="4124325"/>
            <a:ext cx="171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238"/>
          </a:bodyPr>
          <a:lstStyle xmlns:a="http://schemas.openxmlformats.org/drawingml/2006/main"/>
          <a:p xmlns:a="http://schemas.openxmlformats.org/drawingml/2006/main">
            <a:pPr algn="l">
              <a:lnSpc>
                <a:spcPct val="105000"/>
              </a:lnSpc>
              <a:buNone/>
              <a:defRPr sz="1125" b="0" i="0">
                <a:solidFill>
                  <a:srgbClr val="AAB6C5"/>
                </a:solidFill>
                <a:latin typeface="Arial"/>
                <a:ea typeface="Arial"/>
                <a:cs typeface="Arial"/>
              </a:defRPr>
            </a:pPr>
            <a:r>
              <a:rPr sz="1125" b="0" i="0">
                <a:solidFill>
                  <a:srgbClr val="AAB6C5"/>
                </a:solidFill>
                <a:latin typeface="Arial"/>
                <a:ea typeface="Arial"/>
                <a:cs typeface="Arial"/>
              </a:rPr>
              <a:t>Organiser-supplied evaluator</a:t>
            </a:r>
          </a:p>
        </p:txBody>
      </p:sp>
      <p:sp>
        <p:nvSpPr>
          <p:cNvPr id="30" name="">
            <a:extLst xmlns:a="http://schemas.openxmlformats.org/drawingml/2006/main">
              <a:ext uri="{FF2B5EF4-FFF2-40B4-BE49-F238E27FC236}">
                <a16:creationId xmlns:a16="http://schemas.microsoft.com/office/drawing/2014/main" id="{49853053-AC82-4FFA-A698-CCF90D375C43}"/>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344257"/>
            </a:solidFill>
            <a:prstDash val="solid"/>
          </a:ln>
        </p:spPr>
      </p:sp>
      <p:sp>
        <p:nvSpPr>
          <p:cNvPr id="31" name="">
            <a:extLst xmlns:a="http://schemas.openxmlformats.org/drawingml/2006/main">
              <a:ext uri="{FF2B5EF4-FFF2-40B4-BE49-F238E27FC236}">
                <a16:creationId xmlns:a16="http://schemas.microsoft.com/office/drawing/2014/main" id="{91CDE8DB-549A-4227-B7F2-E6C27D2FDC71}"/>
              </a:ext>
            </a:extLst>
          </p:cNvPr>
          <p:cNvSpPr>
            <a:spLocks xmlns:a="http://schemas.openxmlformats.org/drawingml/2006/main" noGrp="1"/>
          </p:cNvSpPr>
          <p:nvPr/>
        </p:nvSpPr>
        <p:spPr>
          <a:xfrm xmlns:a="http://schemas.openxmlformats.org/drawingml/2006/main">
            <a:off x="3476625" y="4743450"/>
            <a:ext cx="247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050" b="1" i="0">
                <a:solidFill>
                  <a:srgbClr val="35C47A"/>
                </a:solidFill>
                <a:latin typeface="Arial"/>
                <a:ea typeface="Arial"/>
                <a:cs typeface="Arial"/>
              </a:defRPr>
            </a:pPr>
            <a:r>
              <a:rPr sz="1050" b="1" i="0">
                <a:solidFill>
                  <a:srgbClr val="35C47A"/>
                </a:solidFill>
                <a:latin typeface="Arial"/>
                <a:ea typeface="Arial"/>
                <a:cs typeface="Arial"/>
              </a:rPr>
              <a:t>MODEL SETTINGS</a:t>
            </a:r>
          </a:p>
        </p:txBody>
      </p:sp>
      <p:sp>
        <p:nvSpPr>
          <p:cNvPr id="32" name="">
            <a:extLst xmlns:a="http://schemas.openxmlformats.org/drawingml/2006/main">
              <a:ext uri="{FF2B5EF4-FFF2-40B4-BE49-F238E27FC236}">
                <a16:creationId xmlns:a16="http://schemas.microsoft.com/office/drawing/2014/main" id="{3A266011-4416-44C8-867B-0B46C9EE820F}"/>
              </a:ext>
            </a:extLst>
          </p:cNvPr>
          <p:cNvSpPr>
            <a:spLocks xmlns:a="http://schemas.openxmlformats.org/drawingml/2006/main" noGrp="1"/>
          </p:cNvSpPr>
          <p:nvPr/>
        </p:nvSpPr>
        <p:spPr>
          <a:xfrm xmlns:a="http://schemas.openxmlformats.org/drawingml/2006/main">
            <a:off x="2857500" y="5048250"/>
            <a:ext cx="371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ctr">
              <a:lnSpc>
                <a:spcPct val="112000"/>
              </a:lnSpc>
              <a:buNone/>
              <a:defRPr sz="1350" b="0" i="0">
                <a:solidFill>
                  <a:srgbClr val="FFFFFF"/>
                </a:solidFill>
                <a:latin typeface="Arial"/>
                <a:ea typeface="Arial"/>
                <a:cs typeface="Arial"/>
              </a:defRPr>
            </a:pPr>
            <a:r>
              <a:rPr sz="1350" b="0" i="0">
                <a:solidFill>
                  <a:srgbClr val="FFFFFF"/>
                </a:solidFill>
                <a:latin typeface="Arial"/>
                <a:ea typeface="Arial"/>
                <a:cs typeface="Arial"/>
              </a:rPr>
              <a:t>The model runs at temperature 0 with thinking disabled. It returns one response and has no unrestricted tools.</a:t>
            </a:r>
          </a:p>
        </p:txBody>
      </p:sp>
      <p:sp>
        <p:nvSpPr>
          <p:cNvPr id="33" name="">
            <a:extLst xmlns:a="http://schemas.openxmlformats.org/drawingml/2006/main">
              <a:ext uri="{FF2B5EF4-FFF2-40B4-BE49-F238E27FC236}">
                <a16:creationId xmlns:a16="http://schemas.microsoft.com/office/drawing/2014/main" id="{E98051BB-E614-4E36-92D4-54949D85658B}"/>
              </a:ext>
            </a:extLst>
          </p:cNvPr>
          <p:cNvSpPr>
            <a:spLocks xmlns:a="http://schemas.openxmlformats.org/drawingml/2006/main" noGrp="1"/>
          </p:cNvSpPr>
          <p:nvPr/>
        </p:nvSpPr>
        <p:spPr>
          <a:xfrm xmlns:a="http://schemas.openxmlformats.org/drawingml/2006/main">
            <a:off x="7667625" y="474345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050" b="1" i="0">
                <a:solidFill>
                  <a:srgbClr val="35C47A"/>
                </a:solidFill>
                <a:latin typeface="Arial"/>
                <a:ea typeface="Arial"/>
                <a:cs typeface="Arial"/>
              </a:defRPr>
            </a:pPr>
            <a:r>
              <a:rPr sz="1050" b="1" i="0">
                <a:solidFill>
                  <a:srgbClr val="35C47A"/>
                </a:solidFill>
                <a:latin typeface="Arial"/>
                <a:ea typeface="Arial"/>
                <a:cs typeface="Arial"/>
              </a:rPr>
              <a:t>DETERMINISTIC CONTROLS</a:t>
            </a:r>
          </a:p>
        </p:txBody>
      </p:sp>
      <p:sp>
        <p:nvSpPr>
          <p:cNvPr id="34" name="">
            <a:extLst xmlns:a="http://schemas.openxmlformats.org/drawingml/2006/main">
              <a:ext uri="{FF2B5EF4-FFF2-40B4-BE49-F238E27FC236}">
                <a16:creationId xmlns:a16="http://schemas.microsoft.com/office/drawing/2014/main" id="{71992063-3B7D-4956-BF12-898D356E37EB}"/>
              </a:ext>
            </a:extLst>
          </p:cNvPr>
          <p:cNvSpPr>
            <a:spLocks xmlns:a="http://schemas.openxmlformats.org/drawingml/2006/main" noGrp="1"/>
          </p:cNvSpPr>
          <p:nvPr/>
        </p:nvSpPr>
        <p:spPr>
          <a:xfrm xmlns:a="http://schemas.openxmlformats.org/drawingml/2006/main">
            <a:off x="7334250" y="5048250"/>
            <a:ext cx="371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12000"/>
              </a:lnSpc>
              <a:buNone/>
              <a:defRPr sz="1350" b="0" i="0">
                <a:solidFill>
                  <a:srgbClr val="FFFFFF"/>
                </a:solidFill>
                <a:latin typeface="Arial"/>
                <a:ea typeface="Arial"/>
                <a:cs typeface="Arial"/>
              </a:defRPr>
            </a:pPr>
            <a:r>
              <a:rPr sz="1350" b="0" i="0">
                <a:solidFill>
                  <a:srgbClr val="FFFFFF"/>
                </a:solidFill>
                <a:latin typeface="Arial"/>
                <a:ea typeface="Arial"/>
                <a:cs typeface="Arial"/>
              </a:rPr>
              <a:t>Exact target coverage and workbook checks run before the edited copy is published.</a:t>
            </a:r>
          </a:p>
        </p:txBody>
      </p:sp>
      <p:sp>
        <p:nvSpPr>
          <p:cNvPr id="35" name="">
            <a:extLst xmlns:a="http://schemas.openxmlformats.org/drawingml/2006/main">
              <a:ext uri="{FF2B5EF4-FFF2-40B4-BE49-F238E27FC236}">
                <a16:creationId xmlns:a16="http://schemas.microsoft.com/office/drawing/2014/main" id="{F8E270E9-4AF5-42E2-B71A-EE284C967305}"/>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344257"/>
            </a:solidFill>
            <a:prstDash val="solid"/>
          </a:ln>
        </p:spPr>
      </p:sp>
      <p:sp>
        <p:nvSpPr>
          <p:cNvPr id="36" name="">
            <a:extLst xmlns:a="http://schemas.openxmlformats.org/drawingml/2006/main">
              <a:ext uri="{FF2B5EF4-FFF2-40B4-BE49-F238E27FC236}">
                <a16:creationId xmlns:a16="http://schemas.microsoft.com/office/drawing/2014/main" id="{6264A624-AAF6-4EF1-AF11-7FB64C4339A6}"/>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AAB6C5"/>
                </a:solidFill>
                <a:latin typeface="Arial"/>
                <a:ea typeface="Arial"/>
                <a:cs typeface="Arial"/>
              </a:defRPr>
            </a:pPr>
            <a:r>
              <a:rPr sz="900" b="1" i="0">
                <a:solidFill>
                  <a:srgbClr val="AAB6C5"/>
                </a:solidFill>
                <a:latin typeface="Arial"/>
                <a:ea typeface="Arial"/>
                <a:cs typeface="Arial"/>
              </a:rPr>
              <a:t>FORMULABENCH  ·  RESEARCH: EXCEL FORMULA GENERATION</a:t>
            </a:r>
          </a:p>
        </p:txBody>
      </p:sp>
      <p:sp>
        <p:nvSpPr>
          <p:cNvPr id="37" name="">
            <a:extLst xmlns:a="http://schemas.openxmlformats.org/drawingml/2006/main">
              <a:ext uri="{FF2B5EF4-FFF2-40B4-BE49-F238E27FC236}">
                <a16:creationId xmlns:a16="http://schemas.microsoft.com/office/drawing/2014/main" id="{BB55BB77-BB84-483D-84ED-856EC88B39DB}"/>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AAB6C5"/>
                </a:solidFill>
                <a:latin typeface="Arial"/>
                <a:ea typeface="Arial"/>
                <a:cs typeface="Arial"/>
              </a:defRPr>
            </a:pPr>
            <a:r>
              <a:rPr sz="900" b="1" i="0">
                <a:solidFill>
                  <a:srgbClr val="AAB6C5"/>
                </a:solidFill>
                <a:latin typeface="Arial"/>
                <a:ea typeface="Arial"/>
                <a:cs typeface="Arial"/>
              </a:rPr>
              <a:t>05</a:t>
            </a:r>
          </a:p>
        </p:txBody>
      </p:sp>
    </p:spTree>
    <p:extLst>
      <p:ext uri="{BB962C8B-B14F-4D97-AF65-F5344CB8AC3E}">
        <p14:creationId xmlns:p14="http://schemas.microsoft.com/office/powerpoint/2010/main" val="175470730"/>
      </p:ext>
    </p:extLst>
  </p:cSld>
</p:sld>
</file>

<file path=ppt/slides/slide6.xml><?xml version="1.0" encoding="utf-8"?>
<p:sld xmlns:p="http://schemas.openxmlformats.org/presentationml/2006/main">
  <p:cSld>
    <p:bg>
      <p:bgPr>
        <a:solidFill xmlns:a="http://schemas.openxmlformats.org/drawingml/2006/main">
          <a:srgbClr val="F4F0E8"/>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D5F67725-FC31-431B-B016-4B6CA89C6604}"/>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300" b="1" i="0">
                <a:solidFill>
                  <a:srgbClr val="122033"/>
                </a:solidFill>
                <a:latin typeface="Arial"/>
                <a:ea typeface="Arial"/>
                <a:cs typeface="Arial"/>
              </a:defRPr>
            </a:pPr>
            <a:r>
              <a:rPr sz="3300" b="1" i="0">
                <a:solidFill>
                  <a:srgbClr val="122033"/>
                </a:solidFill>
                <a:latin typeface="Arial"/>
                <a:ea typeface="Arial"/>
                <a:cs typeface="Arial"/>
              </a:rPr>
              <a:t>Workbook checks before publication</a:t>
            </a:r>
          </a:p>
        </p:txBody>
      </p:sp>
      <p:sp>
        <p:nvSpPr>
          <p:cNvPr id="2" name="">
            <a:extLst xmlns:a="http://schemas.openxmlformats.org/drawingml/2006/main">
              <a:ext uri="{FF2B5EF4-FFF2-40B4-BE49-F238E27FC236}">
                <a16:creationId xmlns:a16="http://schemas.microsoft.com/office/drawing/2014/main" id="{355E3B45-AB08-4B53-8E46-041F1532EFB0}"/>
              </a:ext>
            </a:extLst>
          </p:cNvPr>
          <p:cNvSpPr>
            <a:spLocks xmlns:a="http://schemas.openxmlformats.org/drawingml/2006/main" noGrp="1"/>
          </p:cNvSpPr>
          <p:nvPr/>
        </p:nvSpPr>
        <p:spPr>
          <a:xfrm xmlns:a="http://schemas.openxmlformats.org/drawingml/2006/main">
            <a:off x="609600" y="1028700"/>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667487"/>
                </a:solidFill>
                <a:latin typeface="Arial"/>
                <a:ea typeface="Arial"/>
                <a:cs typeface="Arial"/>
              </a:defRPr>
            </a:pPr>
            <a:r>
              <a:rPr sz="1725" b="0" i="0">
                <a:solidFill>
                  <a:srgbClr val="667487"/>
                </a:solidFill>
                <a:latin typeface="Arial"/>
                <a:ea typeface="Arial"/>
                <a:cs typeface="Arial"/>
              </a:rPr>
              <a:t>FormulaBench publishes an edited workbook only after every check passes.</a:t>
            </a:r>
          </a:p>
        </p:txBody>
      </p:sp>
      <p:graphicFrame>
        <p:nvGraphicFramePr>
          <p:cNvPr id="10" name=""/>
          <p:cNvGraphicFramePr/>
          <p:nvPr/>
        </p:nvGraphicFramePr>
        <p:xfrm>
          <a:off xmlns:a="http://schemas.openxmlformats.org/drawingml/2006/main" x="609600" y="1638300"/>
          <a:ext xmlns:a="http://schemas.openxmlformats.org/drawingml/2006/main" cx="10972800" cy="3848100"/>
        </p:xfrm>
        <a:graphic xmlns:a="http://schemas.openxmlformats.org/drawingml/2006/main">
          <a:graphicData uri="http://schemas.openxmlformats.org/drawingml/2006/table">
            <a:tbl>
              <a:tblPr/>
              <a:tblGrid>
                <a:gridCol w="2143125"/>
                <a:gridCol w="5905500"/>
                <a:gridCol w="2924175"/>
              </a:tblGrid>
              <a:tr h="457200">
                <a:tc>
                  <a:txBody>
                    <a:bodyPr lIns="85725" tIns="66675" rIns="85725" bIns="66675">
                      <a:normAutofit/>
                    </a:bodyPr>
                    <a:lstStyle/>
                    <a:p>
                      <a:r>
                        <a:rPr sz="1275" b="1">
                          <a:solidFill>
                            <a:srgbClr val="FFFFFF"/>
                          </a:solidFill>
                          <a:latin typeface="Arial"/>
                          <a:ea typeface="Arial"/>
                          <a:cs typeface="Arial"/>
                        </a:rPr>
                        <a:t>Check</a:t>
                      </a:r>
                    </a:p>
                  </a:txBody>
                  <a:tcPr marL="91440" marR="91440" marT="45720" marB="45720" anchor="ctr">
                    <a:solidFill>
                      <a:srgbClr val="0B172A"/>
                    </a:solidFill>
                  </a:tcPr>
                </a:tc>
                <a:tc>
                  <a:txBody>
                    <a:bodyPr lIns="85725" tIns="66675" rIns="85725" bIns="66675">
                      <a:normAutofit/>
                    </a:bodyPr>
                    <a:lstStyle/>
                    <a:p>
                      <a:r>
                        <a:rPr sz="1275" b="1">
                          <a:solidFill>
                            <a:srgbClr val="FFFFFF"/>
                          </a:solidFill>
                          <a:latin typeface="Arial"/>
                          <a:ea typeface="Arial"/>
                          <a:cs typeface="Arial"/>
                        </a:rPr>
                        <a:t>Required evidence</a:t>
                      </a:r>
                    </a:p>
                  </a:txBody>
                  <a:tcPr marL="91440" marR="91440" marT="45720" marB="45720" anchor="ctr">
                    <a:solidFill>
                      <a:srgbClr val="0B172A"/>
                    </a:solidFill>
                  </a:tcPr>
                </a:tc>
                <a:tc>
                  <a:txBody>
                    <a:bodyPr lIns="85725" tIns="66675" rIns="85725" bIns="66675">
                      <a:normAutofit/>
                    </a:bodyPr>
                    <a:lstStyle/>
                    <a:p>
                      <a:r>
                        <a:rPr sz="1275" b="1">
                          <a:solidFill>
                            <a:srgbClr val="FFFFFF"/>
                          </a:solidFill>
                          <a:latin typeface="Arial"/>
                          <a:ea typeface="Arial"/>
                          <a:cs typeface="Arial"/>
                        </a:rPr>
                        <a:t>Failure behaviour</a:t>
                      </a:r>
                    </a:p>
                  </a:txBody>
                  <a:tcPr marL="91440" marR="91440" marT="45720" marB="45720" anchor="ctr">
                    <a:solidFill>
                      <a:srgbClr val="0B172A"/>
                    </a:solidFill>
                  </a:tcPr>
                </a:tc>
              </a:tr>
              <a:tr h="676275">
                <a:tc>
                  <a:txBody>
                    <a:bodyPr lIns="85725" tIns="66675" rIns="85725" bIns="66675">
                      <a:normAutofit/>
                    </a:bodyPr>
                    <a:lstStyle/>
                    <a:p>
                      <a:r>
                        <a:rPr sz="1350" b="1">
                          <a:solidFill>
                            <a:srgbClr val="122033"/>
                          </a:solidFill>
                          <a:latin typeface="Arial"/>
                          <a:ea typeface="Arial"/>
                          <a:cs typeface="Arial"/>
                        </a:rPr>
                        <a:t>Sheet + A1</a:t>
                      </a:r>
                    </a:p>
                  </a:txBody>
                  <a:tcPr marL="91440" marR="91440" marT="45720" marB="45720" anchor="ctr"/>
                </a:tc>
                <a:tc>
                  <a:txBody>
                    <a:bodyPr/>
                    <a:lstStyle/>
                    <a:p>
                      <a:r>
                        <a:rPr sz="1350" b="0">
                          <a:solidFill>
                            <a:srgbClr val="122033"/>
                          </a:solidFill>
                          <a:latin typeface="Arial"/>
                          <a:ea typeface="Arial"/>
                          <a:cs typeface="Arial"/>
                        </a:rPr>
                        <a:t>Every target carries an explicit worksheet and cell address.</a:t>
                      </a:r>
                    </a:p>
                  </a:txBody>
                  <a:tcPr marL="91440" marR="91440" marT="45720" marB="45720"/>
                </a:tc>
                <a:tc>
                  <a:txBody>
                    <a:bodyPr lIns="85725" tIns="66675" rIns="85725" bIns="66675">
                      <a:normAutofit/>
                    </a:bodyPr>
                    <a:lstStyle/>
                    <a:p>
                      <a:r>
                        <a:rPr sz="1350" b="1">
                          <a:solidFill>
                            <a:srgbClr val="176B43"/>
                          </a:solidFill>
                          <a:latin typeface="Arial"/>
                          <a:ea typeface="Arial"/>
                          <a:cs typeface="Arial"/>
                        </a:rPr>
                        <a:t>Reject the full response</a:t>
                      </a:r>
                    </a:p>
                  </a:txBody>
                  <a:tcPr marL="91440" marR="91440" marT="45720" marB="45720" anchor="ctr">
                    <a:solidFill>
                      <a:srgbClr val="DDF6E8"/>
                    </a:solidFill>
                  </a:tcPr>
                </a:tc>
              </a:tr>
              <a:tr h="676275">
                <a:tc>
                  <a:txBody>
                    <a:bodyPr lIns="85725" tIns="66675" rIns="85725" bIns="66675">
                      <a:normAutofit/>
                    </a:bodyPr>
                    <a:lstStyle/>
                    <a:p>
                      <a:r>
                        <a:rPr sz="1350" b="1">
                          <a:solidFill>
                            <a:srgbClr val="122033"/>
                          </a:solidFill>
                          <a:latin typeface="Arial"/>
                          <a:ea typeface="Arial"/>
                          <a:cs typeface="Arial"/>
                        </a:rPr>
                        <a:t>Exact coverage</a:t>
                      </a:r>
                    </a:p>
                  </a:txBody>
                  <a:tcPr marL="91440" marR="91440" marT="45720" marB="45720" anchor="ctr"/>
                </a:tc>
                <a:tc>
                  <a:txBody>
                    <a:bodyPr/>
                    <a:lstStyle/>
                    <a:p>
                      <a:r>
                        <a:rPr sz="1350" b="0">
                          <a:solidFill>
                            <a:srgbClr val="122033"/>
                          </a:solidFill>
                          <a:latin typeface="Arial"/>
                          <a:ea typeface="Arial"/>
                          <a:cs typeface="Arial"/>
                        </a:rPr>
                        <a:t>Finite targets contain no gaps, duplicates, overlaps or extra assignments.</a:t>
                      </a:r>
                    </a:p>
                  </a:txBody>
                  <a:tcPr marL="91440" marR="91440" marT="45720" marB="45720"/>
                </a:tc>
                <a:tc>
                  <a:txBody>
                    <a:bodyPr lIns="85725" tIns="66675" rIns="85725" bIns="66675">
                      <a:normAutofit/>
                    </a:bodyPr>
                    <a:lstStyle/>
                    <a:p>
                      <a:r>
                        <a:rPr sz="1350" b="1">
                          <a:solidFill>
                            <a:srgbClr val="176B43"/>
                          </a:solidFill>
                          <a:latin typeface="Arial"/>
                          <a:ea typeface="Arial"/>
                          <a:cs typeface="Arial"/>
                        </a:rPr>
                        <a:t>Reject the full response</a:t>
                      </a:r>
                    </a:p>
                  </a:txBody>
                  <a:tcPr marL="91440" marR="91440" marT="45720" marB="45720" anchor="ctr">
                    <a:solidFill>
                      <a:srgbClr val="DDF6E8"/>
                    </a:solidFill>
                  </a:tcPr>
                </a:tc>
              </a:tr>
              <a:tr h="676275">
                <a:tc>
                  <a:txBody>
                    <a:bodyPr lIns="85725" tIns="66675" rIns="85725" bIns="66675">
                      <a:normAutofit/>
                    </a:bodyPr>
                    <a:lstStyle/>
                    <a:p>
                      <a:r>
                        <a:rPr sz="1350" b="1">
                          <a:solidFill>
                            <a:srgbClr val="122033"/>
                          </a:solidFill>
                          <a:latin typeface="Arial"/>
                          <a:ea typeface="Arial"/>
                          <a:cs typeface="Arial"/>
                        </a:rPr>
                        <a:t>Typed values</a:t>
                      </a:r>
                    </a:p>
                  </a:txBody>
                  <a:tcPr marL="91440" marR="91440" marT="45720" marB="45720" anchor="ctr"/>
                </a:tc>
                <a:tc>
                  <a:txBody>
                    <a:bodyPr/>
                    <a:lstStyle/>
                    <a:p>
                      <a:r>
                        <a:rPr sz="1350" b="0">
                          <a:solidFill>
                            <a:srgbClr val="122033"/>
                          </a:solidFill>
                          <a:latin typeface="Arial"/>
                          <a:ea typeface="Arial"/>
                          <a:cs typeface="Arial"/>
                        </a:rPr>
                        <a:t>Dates and datetimes use explicit Excel value types rather than locale-dependent text.</a:t>
                      </a:r>
                    </a:p>
                  </a:txBody>
                  <a:tcPr marL="91440" marR="91440" marT="45720" marB="45720"/>
                </a:tc>
                <a:tc>
                  <a:txBody>
                    <a:bodyPr lIns="85725" tIns="66675" rIns="85725" bIns="66675">
                      <a:normAutofit/>
                    </a:bodyPr>
                    <a:lstStyle/>
                    <a:p>
                      <a:r>
                        <a:rPr sz="1350" b="1">
                          <a:solidFill>
                            <a:srgbClr val="176B43"/>
                          </a:solidFill>
                          <a:latin typeface="Arial"/>
                          <a:ea typeface="Arial"/>
                          <a:cs typeface="Arial"/>
                        </a:rPr>
                        <a:t>Reject invalid schema</a:t>
                      </a:r>
                    </a:p>
                  </a:txBody>
                  <a:tcPr marL="91440" marR="91440" marT="45720" marB="45720" anchor="ctr">
                    <a:solidFill>
                      <a:srgbClr val="DDF6E8"/>
                    </a:solidFill>
                  </a:tcPr>
                </a:tc>
              </a:tr>
              <a:tr h="676275">
                <a:tc>
                  <a:txBody>
                    <a:bodyPr lIns="85725" tIns="66675" rIns="85725" bIns="66675">
                      <a:normAutofit/>
                    </a:bodyPr>
                    <a:lstStyle/>
                    <a:p>
                      <a:r>
                        <a:rPr sz="1350" b="1">
                          <a:solidFill>
                            <a:srgbClr val="122033"/>
                          </a:solidFill>
                          <a:latin typeface="Arial"/>
                          <a:ea typeface="Arial"/>
                          <a:cs typeface="Arial"/>
                        </a:rPr>
                        <a:t>Formula gate</a:t>
                      </a:r>
                    </a:p>
                  </a:txBody>
                  <a:tcPr marL="91440" marR="91440" marT="45720" marB="45720" anchor="ctr"/>
                </a:tc>
                <a:tc>
                  <a:txBody>
                    <a:bodyPr/>
                    <a:lstStyle/>
                    <a:p>
                      <a:r>
                        <a:rPr sz="1350" b="0">
                          <a:solidFill>
                            <a:srgbClr val="122033"/>
                          </a:solidFill>
                          <a:latin typeface="Arial"/>
                          <a:ea typeface="Arial"/>
                          <a:cs typeface="Arial"/>
                        </a:rPr>
                        <a:t>External paths, URIs, DDE and high-risk executable or data functions remain blocked.</a:t>
                      </a:r>
                    </a:p>
                  </a:txBody>
                  <a:tcPr marL="91440" marR="91440" marT="45720" marB="45720"/>
                </a:tc>
                <a:tc>
                  <a:txBody>
                    <a:bodyPr lIns="85725" tIns="66675" rIns="85725" bIns="66675">
                      <a:normAutofit/>
                    </a:bodyPr>
                    <a:lstStyle/>
                    <a:p>
                      <a:r>
                        <a:rPr sz="1350" b="1">
                          <a:solidFill>
                            <a:srgbClr val="176B43"/>
                          </a:solidFill>
                          <a:latin typeface="Arial"/>
                          <a:ea typeface="Arial"/>
                          <a:cs typeface="Arial"/>
                        </a:rPr>
                        <a:t>Reject unsafe formula</a:t>
                      </a:r>
                    </a:p>
                  </a:txBody>
                  <a:tcPr marL="91440" marR="91440" marT="45720" marB="45720" anchor="ctr">
                    <a:solidFill>
                      <a:srgbClr val="DDF6E8"/>
                    </a:solidFill>
                  </a:tcPr>
                </a:tc>
              </a:tr>
              <a:tr h="676275">
                <a:tc>
                  <a:txBody>
                    <a:bodyPr lIns="85725" tIns="66675" rIns="85725" bIns="66675">
                      <a:normAutofit/>
                    </a:bodyPr>
                    <a:lstStyle/>
                    <a:p>
                      <a:r>
                        <a:rPr sz="1350" b="1">
                          <a:solidFill>
                            <a:srgbClr val="122033"/>
                          </a:solidFill>
                          <a:latin typeface="Arial"/>
                          <a:ea typeface="Arial"/>
                          <a:cs typeface="Arial"/>
                        </a:rPr>
                        <a:t>Save and reopen</a:t>
                      </a:r>
                    </a:p>
                  </a:txBody>
                  <a:tcPr marL="91440" marR="91440" marT="45720" marB="45720" anchor="ctr"/>
                </a:tc>
                <a:tc>
                  <a:txBody>
                    <a:bodyPr/>
                    <a:lstStyle/>
                    <a:p>
                      <a:r>
                        <a:rPr sz="1350" b="0">
                          <a:solidFill>
                            <a:srgbClr val="122033"/>
                          </a:solidFill>
                          <a:latin typeface="Arial"/>
                          <a:ea typeface="Arial"/>
                          <a:cs typeface="Arial"/>
                        </a:rPr>
                        <a:t>The system saves a fresh copy, reopens it and verifies the target cells.</a:t>
                      </a:r>
                    </a:p>
                  </a:txBody>
                  <a:tcPr marL="91440" marR="91440" marT="45720" marB="45720"/>
                </a:tc>
                <a:tc>
                  <a:txBody>
                    <a:bodyPr lIns="85725" tIns="66675" rIns="85725" bIns="66675">
                      <a:normAutofit/>
                    </a:bodyPr>
                    <a:lstStyle/>
                    <a:p>
                      <a:r>
                        <a:rPr sz="1350" b="1">
                          <a:solidFill>
                            <a:srgbClr val="176B43"/>
                          </a:solidFill>
                          <a:latin typeface="Arial"/>
                          <a:ea typeface="Arial"/>
                          <a:cs typeface="Arial"/>
                        </a:rPr>
                        <a:t>Return the untouched workbook</a:t>
                      </a:r>
                    </a:p>
                  </a:txBody>
                  <a:tcPr marL="91440" marR="91440" marT="45720" marB="45720" anchor="ctr">
                    <a:solidFill>
                      <a:srgbClr val="DDF6E8"/>
                    </a:solidFill>
                  </a:tcPr>
                </a:tc>
              </a:tr>
            </a:tbl>
          </a:graphicData>
        </a:graphic>
      </p:graphicFrame>
      <p:sp>
        <p:nvSpPr>
          <p:cNvPr id="4" name="">
            <a:extLst xmlns:a="http://schemas.openxmlformats.org/drawingml/2006/main">
              <a:ext uri="{FF2B5EF4-FFF2-40B4-BE49-F238E27FC236}">
                <a16:creationId xmlns:a16="http://schemas.microsoft.com/office/drawing/2014/main" id="{B7303F93-78B3-464C-8549-30BDC42D1BC7}"/>
              </a:ext>
            </a:extLst>
          </p:cNvPr>
          <p:cNvSpPr>
            <a:spLocks xmlns:a="http://schemas.openxmlformats.org/drawingml/2006/main" noGrp="1"/>
          </p:cNvSpPr>
          <p:nvPr/>
        </p:nvSpPr>
        <p:spPr>
          <a:xfrm xmlns:a="http://schemas.openxmlformats.org/drawingml/2006/main">
            <a:off x="609600" y="5772150"/>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1" i="0">
                <a:solidFill>
                  <a:srgbClr val="122033"/>
                </a:solidFill>
                <a:latin typeface="Arial"/>
                <a:ea typeface="Arial"/>
                <a:cs typeface="Arial"/>
              </a:defRPr>
            </a:pPr>
            <a:r>
              <a:rPr sz="1725" b="1" i="0">
                <a:solidFill>
                  <a:srgbClr val="122033"/>
                </a:solidFill>
                <a:latin typeface="Arial"/>
                <a:ea typeface="Arial"/>
                <a:cs typeface="Arial"/>
              </a:rPr>
              <a:t>Rejected responses leave the supplied workbook unchanged.</a:t>
            </a:r>
          </a:p>
        </p:txBody>
      </p:sp>
      <p:sp>
        <p:nvSpPr>
          <p:cNvPr id="5" name="">
            <a:extLst xmlns:a="http://schemas.openxmlformats.org/drawingml/2006/main">
              <a:ext uri="{FF2B5EF4-FFF2-40B4-BE49-F238E27FC236}">
                <a16:creationId xmlns:a16="http://schemas.microsoft.com/office/drawing/2014/main" id="{14CAC2AA-0AE4-4EA7-BF04-65A6F1880820}"/>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6" name="">
            <a:extLst xmlns:a="http://schemas.openxmlformats.org/drawingml/2006/main">
              <a:ext uri="{FF2B5EF4-FFF2-40B4-BE49-F238E27FC236}">
                <a16:creationId xmlns:a16="http://schemas.microsoft.com/office/drawing/2014/main" id="{B2C81DBB-D331-46CB-AE16-753C0EAA728E}"/>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FORMULABENCH  ·  RESEARCH: EXCEL FORMULA GENERATION</a:t>
            </a:r>
          </a:p>
        </p:txBody>
      </p:sp>
      <p:sp>
        <p:nvSpPr>
          <p:cNvPr id="7" name="">
            <a:extLst xmlns:a="http://schemas.openxmlformats.org/drawingml/2006/main">
              <a:ext uri="{FF2B5EF4-FFF2-40B4-BE49-F238E27FC236}">
                <a16:creationId xmlns:a16="http://schemas.microsoft.com/office/drawing/2014/main" id="{1DC73467-FEA3-4DCA-8DE0-BB40FC96EF0D}"/>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06</a:t>
            </a:r>
          </a:p>
        </p:txBody>
      </p:sp>
    </p:spTree>
    <p:extLst>
      <p:ext uri="{BB962C8B-B14F-4D97-AF65-F5344CB8AC3E}">
        <p14:creationId xmlns:p14="http://schemas.microsoft.com/office/powerpoint/2010/main" val="1334526558"/>
      </p:ext>
    </p:extLst>
  </p:cSld>
</p:sld>
</file>

<file path=ppt/slides/slide7.xml><?xml version="1.0" encoding="utf-8"?>
<p:sld xmlns:p="http://schemas.openxmlformats.org/presentationml/2006/main">
  <p:cSld>
    <p:bg>
      <p:bgPr>
        <a:solidFill xmlns:a="http://schemas.openxmlformats.org/drawingml/2006/main">
          <a:srgbClr val="F4F0E8"/>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704E61C5-1211-4FEB-901D-5CB5DE8B036A}"/>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150" b="1" i="0">
                <a:solidFill>
                  <a:srgbClr val="122033"/>
                </a:solidFill>
                <a:latin typeface="Arial"/>
                <a:ea typeface="Arial"/>
                <a:cs typeface="Arial"/>
              </a:defRPr>
            </a:pPr>
            <a:r>
              <a:rPr sz="3150" b="1" i="0">
                <a:solidFill>
                  <a:srgbClr val="122033"/>
                </a:solidFill>
                <a:latin typeface="Arial"/>
                <a:ea typeface="Arial"/>
                <a:cs typeface="Arial"/>
              </a:rPr>
              <a:t>Most wrong cells were in structurally valid responses</a:t>
            </a:r>
          </a:p>
        </p:txBody>
      </p:sp>
      <p:sp>
        <p:nvSpPr>
          <p:cNvPr id="2" name="">
            <a:extLst xmlns:a="http://schemas.openxmlformats.org/drawingml/2006/main">
              <a:ext uri="{FF2B5EF4-FFF2-40B4-BE49-F238E27FC236}">
                <a16:creationId xmlns:a16="http://schemas.microsoft.com/office/drawing/2014/main" id="{A131167F-A08E-43D6-AD5C-378693439BC9}"/>
              </a:ext>
            </a:extLst>
          </p:cNvPr>
          <p:cNvSpPr>
            <a:spLocks xmlns:a="http://schemas.openxmlformats.org/drawingml/2006/main" noGrp="1"/>
          </p:cNvSpPr>
          <p:nvPr/>
        </p:nvSpPr>
        <p:spPr>
          <a:xfrm xmlns:a="http://schemas.openxmlformats.org/drawingml/2006/main">
            <a:off x="609600" y="102870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37"/>
          </a:bodyPr>
          <a:lstStyle xmlns:a="http://schemas.openxmlformats.org/drawingml/2006/main"/>
          <a:p xmlns:a="http://schemas.openxmlformats.org/drawingml/2006/main">
            <a:pPr algn="l">
              <a:lnSpc>
                <a:spcPct val="105000"/>
              </a:lnSpc>
              <a:buNone/>
              <a:defRPr sz="1725" b="0" i="0">
                <a:solidFill>
                  <a:srgbClr val="667487"/>
                </a:solidFill>
                <a:latin typeface="Arial"/>
                <a:ea typeface="Arial"/>
                <a:cs typeface="Arial"/>
              </a:defRPr>
            </a:pPr>
            <a:r>
              <a:rPr sz="1725" b="0" i="0">
                <a:solidFill>
                  <a:srgbClr val="667487"/>
                </a:solidFill>
                <a:latin typeface="Arial"/>
                <a:ea typeface="Arial"/>
                <a:cs typeface="Arial"/>
              </a:rPr>
              <a:t>Responses that passed structural checks contained 94.84% of wrong cells. Rejected responses contained 5.16%.</a:t>
            </a:r>
          </a:p>
        </p:txBody>
      </p:sp>
      <p:graphicFrame>
        <p:nvGraphicFramePr>
          <p:cNvPr id="16" name="Chart"/>
          <p:cNvGraphicFramePr/>
          <p:nvPr/>
        </p:nvGraphicFramePr>
        <p:xfrm>
          <a:off xmlns:a="http://schemas.openxmlformats.org/drawingml/2006/main" x="419100" y="1638300"/>
          <a:ext xmlns:a="http://schemas.openxmlformats.org/drawingml/2006/main" cx="4953000" cy="4000500"/>
        </p:xfrm>
        <a:graphic xmlns:a="http://schemas.openxmlformats.org/drawingml/2006/main">
          <a:graphicData uri="http://schemas.openxmlformats.org/drawingml/2006/chart">
            <c:chart xmlns:r="http://schemas.openxmlformats.org/officeDocument/2006/relationships" xmlns:c="http://schemas.openxmlformats.org/drawingml/2006/chart" r:id="R1c9b869482df41ca"/>
          </a:graphicData>
        </a:graphic>
      </p:graphicFrame>
      <p:sp>
        <p:nvSpPr>
          <p:cNvPr id="4" name="">
            <a:extLst xmlns:a="http://schemas.openxmlformats.org/drawingml/2006/main">
              <a:ext uri="{FF2B5EF4-FFF2-40B4-BE49-F238E27FC236}">
                <a16:creationId xmlns:a16="http://schemas.microsoft.com/office/drawing/2014/main" id="{B89BA99A-4366-439A-ABC4-8001C56600B2}"/>
              </a:ext>
            </a:extLst>
          </p:cNvPr>
          <p:cNvSpPr>
            <a:spLocks xmlns:a="http://schemas.openxmlformats.org/drawingml/2006/main" noGrp="1"/>
          </p:cNvSpPr>
          <p:nvPr/>
        </p:nvSpPr>
        <p:spPr>
          <a:xfrm xmlns:a="http://schemas.openxmlformats.org/drawingml/2006/main">
            <a:off x="6000750" y="1762125"/>
            <a:ext cx="4572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5100" b="1" i="0">
                <a:solidFill>
                  <a:srgbClr val="E76464"/>
                </a:solidFill>
                <a:latin typeface="Arial"/>
                <a:ea typeface="Arial"/>
                <a:cs typeface="Arial"/>
              </a:defRPr>
            </a:pPr>
            <a:r>
              <a:rPr sz="5100" b="1" i="0">
                <a:solidFill>
                  <a:srgbClr val="E76464"/>
                </a:solidFill>
                <a:latin typeface="Arial"/>
                <a:ea typeface="Arial"/>
                <a:cs typeface="Arial"/>
              </a:rPr>
              <a:t>94.84%</a:t>
            </a:r>
          </a:p>
        </p:txBody>
      </p:sp>
      <p:sp>
        <p:nvSpPr>
          <p:cNvPr id="5" name="">
            <a:extLst xmlns:a="http://schemas.openxmlformats.org/drawingml/2006/main">
              <a:ext uri="{FF2B5EF4-FFF2-40B4-BE49-F238E27FC236}">
                <a16:creationId xmlns:a16="http://schemas.microsoft.com/office/drawing/2014/main" id="{822A63B8-C0DC-419C-B09B-CE85516B74C1}"/>
              </a:ext>
            </a:extLst>
          </p:cNvPr>
          <p:cNvSpPr>
            <a:spLocks xmlns:a="http://schemas.openxmlformats.org/drawingml/2006/main" noGrp="1"/>
          </p:cNvSpPr>
          <p:nvPr/>
        </p:nvSpPr>
        <p:spPr>
          <a:xfrm xmlns:a="http://schemas.openxmlformats.org/drawingml/2006/main">
            <a:off x="6038850" y="2657475"/>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122033"/>
                </a:solidFill>
                <a:latin typeface="Arial"/>
                <a:ea typeface="Arial"/>
                <a:cs typeface="Arial"/>
              </a:defRPr>
            </a:pPr>
            <a:r>
              <a:rPr sz="1725" b="0" i="0">
                <a:solidFill>
                  <a:srgbClr val="122033"/>
                </a:solidFill>
                <a:latin typeface="Arial"/>
                <a:ea typeface="Arial"/>
                <a:cs typeface="Arial"/>
              </a:rPr>
              <a:t>221 structurally valid responses still contained incorrect cells.</a:t>
            </a:r>
          </a:p>
        </p:txBody>
      </p:sp>
      <p:sp>
        <p:nvSpPr>
          <p:cNvPr id="6" name="">
            <a:extLst xmlns:a="http://schemas.openxmlformats.org/drawingml/2006/main">
              <a:ext uri="{FF2B5EF4-FFF2-40B4-BE49-F238E27FC236}">
                <a16:creationId xmlns:a16="http://schemas.microsoft.com/office/drawing/2014/main" id="{EA187D65-05BE-4462-AA89-BE12EA47F9A4}"/>
              </a:ext>
            </a:extLst>
          </p:cNvPr>
          <p:cNvSpPr>
            <a:spLocks xmlns:a="http://schemas.openxmlformats.org/drawingml/2006/main" noGrp="1"/>
          </p:cNvSpPr>
          <p:nvPr/>
        </p:nvSpPr>
        <p:spPr>
          <a:xfrm xmlns:a="http://schemas.openxmlformats.org/drawingml/2006/main">
            <a:off x="6038850" y="3600450"/>
            <a:ext cx="49530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7" name="">
            <a:extLst xmlns:a="http://schemas.openxmlformats.org/drawingml/2006/main">
              <a:ext uri="{FF2B5EF4-FFF2-40B4-BE49-F238E27FC236}">
                <a16:creationId xmlns:a16="http://schemas.microsoft.com/office/drawing/2014/main" id="{46218CAD-6F42-4B87-87E5-8084BCA95B01}"/>
              </a:ext>
            </a:extLst>
          </p:cNvPr>
          <p:cNvSpPr>
            <a:spLocks xmlns:a="http://schemas.openxmlformats.org/drawingml/2006/main" noGrp="1"/>
          </p:cNvSpPr>
          <p:nvPr/>
        </p:nvSpPr>
        <p:spPr>
          <a:xfrm xmlns:a="http://schemas.openxmlformats.org/drawingml/2006/main">
            <a:off x="6038850" y="3857625"/>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850" b="1" i="0">
                <a:solidFill>
                  <a:srgbClr val="122033"/>
                </a:solidFill>
                <a:latin typeface="Arial"/>
                <a:ea typeface="Arial"/>
                <a:cs typeface="Arial"/>
              </a:defRPr>
            </a:pPr>
            <a:r>
              <a:rPr sz="2850" b="1" i="0">
                <a:solidFill>
                  <a:srgbClr val="122033"/>
                </a:solidFill>
                <a:latin typeface="Arial"/>
                <a:ea typeface="Arial"/>
                <a:cs typeface="Arial"/>
              </a:rPr>
              <a:t>84.76%</a:t>
            </a:r>
          </a:p>
        </p:txBody>
      </p:sp>
      <p:sp>
        <p:nvSpPr>
          <p:cNvPr id="8" name="">
            <a:extLst xmlns:a="http://schemas.openxmlformats.org/drawingml/2006/main">
              <a:ext uri="{FF2B5EF4-FFF2-40B4-BE49-F238E27FC236}">
                <a16:creationId xmlns:a16="http://schemas.microsoft.com/office/drawing/2014/main" id="{C702C957-9DE7-424C-A076-ECC2F96342DD}"/>
              </a:ext>
            </a:extLst>
          </p:cNvPr>
          <p:cNvSpPr>
            <a:spLocks xmlns:a="http://schemas.openxmlformats.org/drawingml/2006/main" noGrp="1"/>
          </p:cNvSpPr>
          <p:nvPr/>
        </p:nvSpPr>
        <p:spPr>
          <a:xfrm xmlns:a="http://schemas.openxmlformats.org/drawingml/2006/main">
            <a:off x="8039100" y="3829050"/>
            <a:ext cx="295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67487"/>
                </a:solidFill>
                <a:latin typeface="Arial"/>
                <a:ea typeface="Arial"/>
                <a:cs typeface="Arial"/>
              </a:defRPr>
            </a:pPr>
            <a:r>
              <a:rPr sz="1425" b="0" i="0">
                <a:solidFill>
                  <a:srgbClr val="667487"/>
                </a:solidFill>
                <a:latin typeface="Arial"/>
                <a:ea typeface="Arial"/>
                <a:cs typeface="Arial"/>
              </a:rPr>
              <a:t>of all wrong cells came from four transformations with more than 10,000 target cells.</a:t>
            </a:r>
          </a:p>
        </p:txBody>
      </p:sp>
      <p:sp>
        <p:nvSpPr>
          <p:cNvPr id="9" name="">
            <a:extLst xmlns:a="http://schemas.openxmlformats.org/drawingml/2006/main">
              <a:ext uri="{FF2B5EF4-FFF2-40B4-BE49-F238E27FC236}">
                <a16:creationId xmlns:a16="http://schemas.microsoft.com/office/drawing/2014/main" id="{2BC21A05-A16A-4216-8A7E-63CE2B29FB41}"/>
              </a:ext>
            </a:extLst>
          </p:cNvPr>
          <p:cNvSpPr>
            <a:spLocks xmlns:a="http://schemas.openxmlformats.org/drawingml/2006/main" noGrp="1"/>
          </p:cNvSpPr>
          <p:nvPr/>
        </p:nvSpPr>
        <p:spPr>
          <a:xfrm xmlns:a="http://schemas.openxmlformats.org/drawingml/2006/main">
            <a:off x="6038850" y="489585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20000"/>
              </a:lnSpc>
              <a:buNone/>
              <a:defRPr sz="1350" b="0" i="0">
                <a:solidFill>
                  <a:srgbClr val="122033"/>
                </a:solidFill>
                <a:latin typeface="Arial"/>
                <a:ea typeface="Arial"/>
                <a:cs typeface="Arial"/>
              </a:defRPr>
            </a:pPr>
            <a:r>
              <a:rPr sz="1350" b="0" i="0">
                <a:solidFill>
                  <a:srgbClr val="122033"/>
                </a:solidFill>
                <a:latin typeface="Arial"/>
                <a:ea typeface="Arial"/>
                <a:cs typeface="Arial"/>
              </a:rPr>
              <a:t>Context truncation pass rate: 24.10%</a:t>
            </a:r>
          </a:p>
          <a:p xmlns:a="http://schemas.openxmlformats.org/drawingml/2006/main">
            <a:pPr algn="l">
              <a:lnSpc>
                <a:spcPct val="120000"/>
              </a:lnSpc>
              <a:buNone/>
              <a:defRPr sz="1350" b="0" i="0">
                <a:solidFill>
                  <a:srgbClr val="122033"/>
                </a:solidFill>
                <a:latin typeface="Arial"/>
                <a:ea typeface="Arial"/>
                <a:cs typeface="Arial"/>
              </a:defRPr>
            </a:pPr>
            <a:r>
              <a:rPr sz="1350" b="0" i="0">
                <a:solidFill>
                  <a:srgbClr val="122033"/>
                </a:solidFill>
                <a:latin typeface="Arial"/>
                <a:ea typeface="Arial"/>
                <a:cs typeface="Arial"/>
              </a:rPr>
              <a:t>No truncation pass rate: 41.95%</a:t>
            </a:r>
          </a:p>
        </p:txBody>
      </p:sp>
      <p:sp>
        <p:nvSpPr>
          <p:cNvPr id="10" name="">
            <a:extLst xmlns:a="http://schemas.openxmlformats.org/drawingml/2006/main">
              <a:ext uri="{FF2B5EF4-FFF2-40B4-BE49-F238E27FC236}">
                <a16:creationId xmlns:a16="http://schemas.microsoft.com/office/drawing/2014/main" id="{E01F044B-2549-4DC3-BA09-374E04AA1328}"/>
              </a:ext>
            </a:extLst>
          </p:cNvPr>
          <p:cNvSpPr>
            <a:spLocks xmlns:a="http://schemas.openxmlformats.org/drawingml/2006/main" noGrp="1"/>
          </p:cNvSpPr>
          <p:nvPr/>
        </p:nvSpPr>
        <p:spPr>
          <a:xfrm xmlns:a="http://schemas.openxmlformats.org/drawingml/2006/main">
            <a:off x="6038850" y="56197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0" i="1">
                <a:solidFill>
                  <a:srgbClr val="667487"/>
                </a:solidFill>
                <a:latin typeface="Arial"/>
                <a:ea typeface="Arial"/>
                <a:cs typeface="Arial"/>
              </a:defRPr>
            </a:pPr>
            <a:r>
              <a:rPr sz="1200" b="0" i="1">
                <a:solidFill>
                  <a:srgbClr val="667487"/>
                </a:solidFill>
                <a:latin typeface="Arial"/>
                <a:ea typeface="Arial"/>
                <a:cs typeface="Arial"/>
              </a:rPr>
              <a:t>This association does not establish causation.</a:t>
            </a:r>
          </a:p>
        </p:txBody>
      </p:sp>
      <p:sp>
        <p:nvSpPr>
          <p:cNvPr id="11" name="">
            <a:extLst xmlns:a="http://schemas.openxmlformats.org/drawingml/2006/main">
              <a:ext uri="{FF2B5EF4-FFF2-40B4-BE49-F238E27FC236}">
                <a16:creationId xmlns:a16="http://schemas.microsoft.com/office/drawing/2014/main" id="{CA27E7BD-55C7-46BB-8648-CA1D7FE16249}"/>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12" name="">
            <a:extLst xmlns:a="http://schemas.openxmlformats.org/drawingml/2006/main">
              <a:ext uri="{FF2B5EF4-FFF2-40B4-BE49-F238E27FC236}">
                <a16:creationId xmlns:a16="http://schemas.microsoft.com/office/drawing/2014/main" id="{8375EBDC-AA2D-4B3D-A969-4136FC70FE55}"/>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FORMULABENCH  ·  RESEARCH: EXCEL FORMULA GENERATION</a:t>
            </a:r>
          </a:p>
        </p:txBody>
      </p:sp>
      <p:sp>
        <p:nvSpPr>
          <p:cNvPr id="13" name="">
            <a:extLst xmlns:a="http://schemas.openxmlformats.org/drawingml/2006/main">
              <a:ext uri="{FF2B5EF4-FFF2-40B4-BE49-F238E27FC236}">
                <a16:creationId xmlns:a16="http://schemas.microsoft.com/office/drawing/2014/main" id="{355FC8EA-005B-4D85-8716-ECCAF8BD4AFE}"/>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07</a:t>
            </a:r>
          </a:p>
        </p:txBody>
      </p:sp>
    </p:spTree>
    <p:extLst>
      <p:ext uri="{BB962C8B-B14F-4D97-AF65-F5344CB8AC3E}">
        <p14:creationId xmlns:p14="http://schemas.microsoft.com/office/powerpoint/2010/main" val="2130973044"/>
      </p:ext>
    </p:extLst>
  </p:cSld>
</p:sld>
</file>

<file path=ppt/slides/slide8.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1DE016D5-161E-43AB-92EB-A4D6D45388C4}"/>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0599"/>
          </a:bodyPr>
          <a:lstStyle xmlns:a="http://schemas.openxmlformats.org/drawingml/2006/main"/>
          <a:p xmlns:a="http://schemas.openxmlformats.org/drawingml/2006/main">
            <a:pPr algn="l">
              <a:lnSpc>
                <a:spcPct val="105000"/>
              </a:lnSpc>
              <a:buNone/>
              <a:defRPr sz="3300" b="1" i="0">
                <a:solidFill>
                  <a:srgbClr val="122033"/>
                </a:solidFill>
                <a:latin typeface="Arial"/>
                <a:ea typeface="Arial"/>
                <a:cs typeface="Arial"/>
              </a:defRPr>
            </a:pPr>
            <a:r>
              <a:rPr sz="3300" b="1" i="0">
                <a:solidFill>
                  <a:srgbClr val="122033"/>
                </a:solidFill>
                <a:latin typeface="Arial"/>
                <a:ea typeface="Arial"/>
                <a:cs typeface="Arial"/>
              </a:rPr>
              <a:t>Organiser reference and FormulaBench use different test conditions</a:t>
            </a:r>
          </a:p>
        </p:txBody>
      </p:sp>
      <p:sp>
        <p:nvSpPr>
          <p:cNvPr id="2" name="">
            <a:extLst xmlns:a="http://schemas.openxmlformats.org/drawingml/2006/main">
              <a:ext uri="{FF2B5EF4-FFF2-40B4-BE49-F238E27FC236}">
                <a16:creationId xmlns:a16="http://schemas.microsoft.com/office/drawing/2014/main" id="{6FFECA48-31F7-4318-B694-96C4DCAABA87}"/>
              </a:ext>
            </a:extLst>
          </p:cNvPr>
          <p:cNvSpPr>
            <a:spLocks xmlns:a="http://schemas.openxmlformats.org/drawingml/2006/main" noGrp="1"/>
          </p:cNvSpPr>
          <p:nvPr/>
        </p:nvSpPr>
        <p:spPr>
          <a:xfrm xmlns:a="http://schemas.openxmlformats.org/drawingml/2006/main">
            <a:off x="609600" y="1028700"/>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667487"/>
                </a:solidFill>
                <a:latin typeface="Arial"/>
                <a:ea typeface="Arial"/>
                <a:cs typeface="Arial"/>
              </a:defRPr>
            </a:pPr>
            <a:r>
              <a:rPr sz="1725" b="0" i="0">
                <a:solidFill>
                  <a:srgbClr val="667487"/>
                </a:solidFill>
                <a:latin typeface="Arial"/>
                <a:ea typeface="Arial"/>
                <a:cs typeface="Arial"/>
              </a:rPr>
              <a:t>The base model is the same. The inference setup and requested output differ.</a:t>
            </a:r>
          </a:p>
        </p:txBody>
      </p:sp>
      <p:sp>
        <p:nvSpPr>
          <p:cNvPr id="3" name="">
            <a:extLst xmlns:a="http://schemas.openxmlformats.org/drawingml/2006/main">
              <a:ext uri="{FF2B5EF4-FFF2-40B4-BE49-F238E27FC236}">
                <a16:creationId xmlns:a16="http://schemas.microsoft.com/office/drawing/2014/main" id="{E57E45BE-436E-417C-9D6F-325E194D4898}"/>
              </a:ext>
            </a:extLst>
          </p:cNvPr>
          <p:cNvSpPr>
            <a:spLocks xmlns:a="http://schemas.openxmlformats.org/drawingml/2006/main" noGrp="1"/>
          </p:cNvSpPr>
          <p:nvPr/>
        </p:nvSpPr>
        <p:spPr>
          <a:xfrm xmlns:a="http://schemas.openxmlformats.org/drawingml/2006/main">
            <a:off x="609600" y="1619250"/>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200" b="1" i="0">
                <a:solidFill>
                  <a:srgbClr val="122033"/>
                </a:solidFill>
                <a:latin typeface="Arial"/>
                <a:ea typeface="Arial"/>
                <a:cs typeface="Arial"/>
              </a:defRPr>
            </a:pPr>
            <a:r>
              <a:rPr sz="4200" b="1" i="0">
                <a:solidFill>
                  <a:srgbClr val="122033"/>
                </a:solidFill>
                <a:latin typeface="Arial"/>
                <a:ea typeface="Arial"/>
                <a:cs typeface="Arial"/>
              </a:rPr>
              <a:t>≈59%</a:t>
            </a:r>
          </a:p>
        </p:txBody>
      </p:sp>
      <p:sp>
        <p:nvSpPr>
          <p:cNvPr id="4" name="">
            <a:extLst xmlns:a="http://schemas.openxmlformats.org/drawingml/2006/main">
              <a:ext uri="{FF2B5EF4-FFF2-40B4-BE49-F238E27FC236}">
                <a16:creationId xmlns:a16="http://schemas.microsoft.com/office/drawing/2014/main" id="{7C559A7D-AC5D-4663-AFB2-A07C2B9911BE}"/>
              </a:ext>
            </a:extLst>
          </p:cNvPr>
          <p:cNvSpPr>
            <a:spLocks xmlns:a="http://schemas.openxmlformats.org/drawingml/2006/main" noGrp="1"/>
          </p:cNvSpPr>
          <p:nvPr/>
        </p:nvSpPr>
        <p:spPr>
          <a:xfrm xmlns:a="http://schemas.openxmlformats.org/drawingml/2006/main">
            <a:off x="647700" y="22860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0" i="0">
                <a:solidFill>
                  <a:srgbClr val="667487"/>
                </a:solidFill>
                <a:latin typeface="Arial"/>
                <a:ea typeface="Arial"/>
                <a:cs typeface="Arial"/>
              </a:defRPr>
            </a:pPr>
            <a:r>
              <a:rPr sz="1275" b="0" i="0">
                <a:solidFill>
                  <a:srgbClr val="667487"/>
                </a:solidFill>
                <a:latin typeface="Arial"/>
                <a:ea typeface="Arial"/>
                <a:cs typeface="Arial"/>
              </a:rPr>
              <a:t>organiser reference</a:t>
            </a:r>
          </a:p>
        </p:txBody>
      </p:sp>
      <p:sp>
        <p:nvSpPr>
          <p:cNvPr id="5" name="">
            <a:extLst xmlns:a="http://schemas.openxmlformats.org/drawingml/2006/main">
              <a:ext uri="{FF2B5EF4-FFF2-40B4-BE49-F238E27FC236}">
                <a16:creationId xmlns:a16="http://schemas.microsoft.com/office/drawing/2014/main" id="{4CB07FA5-C005-4BC8-912C-A63E3547655A}"/>
              </a:ext>
            </a:extLst>
          </p:cNvPr>
          <p:cNvSpPr>
            <a:spLocks xmlns:a="http://schemas.openxmlformats.org/drawingml/2006/main" noGrp="1"/>
          </p:cNvSpPr>
          <p:nvPr/>
        </p:nvSpPr>
        <p:spPr>
          <a:xfrm xmlns:a="http://schemas.openxmlformats.org/drawingml/2006/main">
            <a:off x="6191250" y="1619250"/>
            <a:ext cx="285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200" b="1" i="0">
                <a:solidFill>
                  <a:srgbClr val="35C47A"/>
                </a:solidFill>
                <a:latin typeface="Arial"/>
                <a:ea typeface="Arial"/>
                <a:cs typeface="Arial"/>
              </a:defRPr>
            </a:pPr>
            <a:r>
              <a:rPr sz="4200" b="1" i="0">
                <a:solidFill>
                  <a:srgbClr val="35C47A"/>
                </a:solidFill>
                <a:latin typeface="Arial"/>
                <a:ea typeface="Arial"/>
                <a:cs typeface="Arial"/>
              </a:rPr>
              <a:t>33.25%</a:t>
            </a:r>
          </a:p>
        </p:txBody>
      </p:sp>
      <p:sp>
        <p:nvSpPr>
          <p:cNvPr id="6" name="">
            <a:extLst xmlns:a="http://schemas.openxmlformats.org/drawingml/2006/main">
              <a:ext uri="{FF2B5EF4-FFF2-40B4-BE49-F238E27FC236}">
                <a16:creationId xmlns:a16="http://schemas.microsoft.com/office/drawing/2014/main" id="{FAF5D0D3-0FB1-41E1-8E80-4A5C80A64D7F}"/>
              </a:ext>
            </a:extLst>
          </p:cNvPr>
          <p:cNvSpPr>
            <a:spLocks xmlns:a="http://schemas.openxmlformats.org/drawingml/2006/main" noGrp="1"/>
          </p:cNvSpPr>
          <p:nvPr/>
        </p:nvSpPr>
        <p:spPr>
          <a:xfrm xmlns:a="http://schemas.openxmlformats.org/drawingml/2006/main">
            <a:off x="6229350" y="2286000"/>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0" i="0">
                <a:solidFill>
                  <a:srgbClr val="667487"/>
                </a:solidFill>
                <a:latin typeface="Arial"/>
                <a:ea typeface="Arial"/>
                <a:cs typeface="Arial"/>
              </a:defRPr>
            </a:pPr>
            <a:r>
              <a:rPr sz="1275" b="0" i="0">
                <a:solidFill>
                  <a:srgbClr val="667487"/>
                </a:solidFill>
                <a:latin typeface="Arial"/>
                <a:ea typeface="Arial"/>
                <a:cs typeface="Arial"/>
              </a:rPr>
              <a:t>FormulaBench public self-evaluation</a:t>
            </a:r>
          </a:p>
        </p:txBody>
      </p:sp>
      <p:graphicFrame>
        <p:nvGraphicFramePr>
          <p:cNvPr id="18" name=""/>
          <p:cNvGraphicFramePr/>
          <p:nvPr/>
        </p:nvGraphicFramePr>
        <p:xfrm>
          <a:off xmlns:a="http://schemas.openxmlformats.org/drawingml/2006/main" x="609600" y="3048000"/>
          <a:ext xmlns:a="http://schemas.openxmlformats.org/drawingml/2006/main" cx="10972800" cy="2381250"/>
        </p:xfrm>
        <a:graphic xmlns:a="http://schemas.openxmlformats.org/drawingml/2006/main">
          <a:graphicData uri="http://schemas.openxmlformats.org/drawingml/2006/table">
            <a:tbl>
              <a:tblPr/>
              <a:tblGrid>
                <a:gridCol w="1809750"/>
                <a:gridCol w="3105150"/>
                <a:gridCol w="2571750"/>
                <a:gridCol w="3486150"/>
              </a:tblGrid>
              <a:tr h="457200">
                <a:tc>
                  <a:txBody>
                    <a:bodyPr lIns="85725" tIns="66675" rIns="85725" bIns="66675">
                      <a:normAutofit/>
                    </a:bodyPr>
                    <a:lstStyle/>
                    <a:p>
                      <a:r>
                        <a:rPr sz="1275" b="1">
                          <a:solidFill>
                            <a:srgbClr val="FFFFFF"/>
                          </a:solidFill>
                          <a:latin typeface="Arial"/>
                          <a:ea typeface="Arial"/>
                          <a:cs typeface="Arial"/>
                        </a:rPr>
                        <a:t>System</a:t>
                      </a:r>
                    </a:p>
                  </a:txBody>
                  <a:tcPr marL="91440" marR="91440" marT="45720" marB="45720" anchor="ctr">
                    <a:solidFill>
                      <a:srgbClr val="0B172A"/>
                    </a:solidFill>
                  </a:tcPr>
                </a:tc>
                <a:tc>
                  <a:txBody>
                    <a:bodyPr lIns="85725" tIns="66675" rIns="85725" bIns="66675">
                      <a:normAutofit/>
                    </a:bodyPr>
                    <a:lstStyle/>
                    <a:p>
                      <a:r>
                        <a:rPr sz="1275" b="1">
                          <a:solidFill>
                            <a:srgbClr val="FFFFFF"/>
                          </a:solidFill>
                          <a:latin typeface="Arial"/>
                          <a:ea typeface="Arial"/>
                          <a:cs typeface="Arial"/>
                        </a:rPr>
                        <a:t>Inference mode</a:t>
                      </a:r>
                    </a:p>
                  </a:txBody>
                  <a:tcPr marL="91440" marR="91440" marT="45720" marB="45720" anchor="ctr">
                    <a:solidFill>
                      <a:srgbClr val="0B172A"/>
                    </a:solidFill>
                  </a:tcPr>
                </a:tc>
                <a:tc>
                  <a:txBody>
                    <a:bodyPr lIns="85725" tIns="66675" rIns="85725" bIns="66675">
                      <a:normAutofit/>
                    </a:bodyPr>
                    <a:lstStyle/>
                    <a:p>
                      <a:r>
                        <a:rPr sz="1275" b="1">
                          <a:solidFill>
                            <a:srgbClr val="FFFFFF"/>
                          </a:solidFill>
                          <a:latin typeface="Arial"/>
                          <a:ea typeface="Arial"/>
                          <a:cs typeface="Arial"/>
                        </a:rPr>
                        <a:t>Requested output</a:t>
                      </a:r>
                    </a:p>
                  </a:txBody>
                  <a:tcPr marL="91440" marR="91440" marT="45720" marB="45720" anchor="ctr">
                    <a:solidFill>
                      <a:srgbClr val="0B172A"/>
                    </a:solidFill>
                  </a:tcPr>
                </a:tc>
                <a:tc>
                  <a:txBody>
                    <a:bodyPr lIns="85725" tIns="66675" rIns="85725" bIns="66675">
                      <a:normAutofit/>
                    </a:bodyPr>
                    <a:lstStyle/>
                    <a:p>
                      <a:r>
                        <a:rPr sz="1275" b="1">
                          <a:solidFill>
                            <a:srgbClr val="FFFFFF"/>
                          </a:solidFill>
                          <a:latin typeface="Arial"/>
                          <a:ea typeface="Arial"/>
                          <a:cs typeface="Arial"/>
                        </a:rPr>
                        <a:t>Validation evidence</a:t>
                      </a:r>
                    </a:p>
                  </a:txBody>
                  <a:tcPr marL="91440" marR="91440" marT="45720" marB="45720" anchor="ctr">
                    <a:solidFill>
                      <a:srgbClr val="0B172A"/>
                    </a:solidFill>
                  </a:tcPr>
                </a:tc>
              </a:tr>
              <a:tr h="962025">
                <a:tc>
                  <a:txBody>
                    <a:bodyPr/>
                    <a:lstStyle/>
                    <a:p>
                      <a:r>
                        <a:rPr sz="1350" b="0">
                          <a:solidFill>
                            <a:srgbClr val="122033"/>
                          </a:solidFill>
                          <a:latin typeface="Arial"/>
                          <a:ea typeface="Arial"/>
                          <a:cs typeface="Arial"/>
                        </a:rPr>
                        <a:t>Organiser reference</a:t>
                      </a:r>
                    </a:p>
                  </a:txBody>
                  <a:tcPr marL="91440" marR="91440" marT="45720" marB="45720"/>
                </a:tc>
                <a:tc>
                  <a:txBody>
                    <a:bodyPr/>
                    <a:lstStyle/>
                    <a:p>
                      <a:r>
                        <a:rPr sz="1350" b="0">
                          <a:solidFill>
                            <a:srgbClr val="122033"/>
                          </a:solidFill>
                          <a:latin typeface="Arial"/>
                          <a:ea typeface="Arial"/>
                          <a:cs typeface="Arial"/>
                        </a:rPr>
                        <a:t>xhigh reasoning inferred from the published runner and cookbook</a:t>
                      </a:r>
                    </a:p>
                  </a:txBody>
                  <a:tcPr marL="91440" marR="91440" marT="45720" marB="45720"/>
                </a:tc>
                <a:tc>
                  <a:txBody>
                    <a:bodyPr/>
                    <a:lstStyle/>
                    <a:p>
                      <a:r>
                        <a:rPr sz="1350" b="0">
                          <a:solidFill>
                            <a:srgbClr val="122033"/>
                          </a:solidFill>
                          <a:latin typeface="Arial"/>
                          <a:ea typeface="Arial"/>
                          <a:cs typeface="Arial"/>
                        </a:rPr>
                        <a:t>Final scalar values</a:t>
                      </a:r>
                    </a:p>
                  </a:txBody>
                  <a:tcPr marL="91440" marR="91440" marT="45720" marB="45720"/>
                </a:tc>
                <a:tc>
                  <a:txBody>
                    <a:bodyPr/>
                    <a:lstStyle/>
                    <a:p>
                      <a:r>
                        <a:rPr sz="1350" b="0">
                          <a:solidFill>
                            <a:srgbClr val="122033"/>
                          </a:solidFill>
                          <a:latin typeface="Arial"/>
                          <a:ea typeface="Arial"/>
                          <a:cs typeface="Arial"/>
                        </a:rPr>
                        <a:t>≈59% reported. Run traces and renderer metadata not published</a:t>
                      </a:r>
                    </a:p>
                  </a:txBody>
                  <a:tcPr marL="91440" marR="91440" marT="45720" marB="45720"/>
                </a:tc>
              </a:tr>
              <a:tr h="962025">
                <a:tc>
                  <a:txBody>
                    <a:bodyPr lIns="85725" tIns="66675" rIns="85725" bIns="66675">
                      <a:normAutofit/>
                    </a:bodyPr>
                    <a:lstStyle/>
                    <a:p>
                      <a:pPr>
                        <a:lnSpc>
                          <a:spcPct val="100000"/>
                        </a:lnSpc>
                        <a:buNone/>
                      </a:pPr>
                      <a:r>
                        <a:rPr sz="1275" b="1">
                          <a:solidFill>
                            <a:srgbClr val="122033"/>
                          </a:solidFill>
                          <a:latin typeface="Arial"/>
                          <a:ea typeface="Arial"/>
                          <a:cs typeface="Arial"/>
                        </a:rPr>
                        <a:t>FormulaBench</a:t>
                      </a:r>
                    </a:p>
                  </a:txBody>
                  <a:tcPr marL="91440" marR="91440" marT="45720" marB="45720" anchor="ctr">
                    <a:solidFill>
                      <a:srgbClr val="35C47A"/>
                    </a:solidFill>
                  </a:tcPr>
                </a:tc>
                <a:tc>
                  <a:txBody>
                    <a:bodyPr lIns="85725" tIns="66675" rIns="85725" bIns="66675">
                      <a:normAutofit/>
                    </a:bodyPr>
                    <a:lstStyle/>
                    <a:p>
                      <a:pPr>
                        <a:lnSpc>
                          <a:spcPct val="100000"/>
                        </a:lnSpc>
                        <a:buNone/>
                      </a:pPr>
                      <a:r>
                        <a:rPr sz="1275" b="0">
                          <a:solidFill>
                            <a:srgbClr val="122033"/>
                          </a:solidFill>
                          <a:latin typeface="Arial"/>
                          <a:ea typeface="Arial"/>
                          <a:cs typeface="Arial"/>
                        </a:rPr>
                        <a:t>One native Tinker sample at temperature 0 with thinking disabled</a:t>
                      </a:r>
                    </a:p>
                  </a:txBody>
                  <a:tcPr marL="91440" marR="91440" marT="45720" marB="45720" anchor="ctr">
                    <a:solidFill>
                      <a:srgbClr val="DDF6E8"/>
                    </a:solidFill>
                  </a:tcPr>
                </a:tc>
                <a:tc>
                  <a:txBody>
                    <a:bodyPr lIns="85725" tIns="66675" rIns="85725" bIns="66675">
                      <a:normAutofit/>
                    </a:bodyPr>
                    <a:lstStyle/>
                    <a:p>
                      <a:pPr>
                        <a:lnSpc>
                          <a:spcPct val="100000"/>
                        </a:lnSpc>
                        <a:buNone/>
                      </a:pPr>
                      <a:r>
                        <a:rPr sz="1275" b="0">
                          <a:solidFill>
                            <a:srgbClr val="122033"/>
                          </a:solidFill>
                          <a:latin typeface="Arial"/>
                          <a:ea typeface="Arial"/>
                          <a:cs typeface="Arial"/>
                        </a:rPr>
                        <a:t>Executable formulas and typed transformations</a:t>
                      </a:r>
                    </a:p>
                  </a:txBody>
                  <a:tcPr marL="91440" marR="91440" marT="45720" marB="45720" anchor="ctr">
                    <a:solidFill>
                      <a:srgbClr val="DDF6E8"/>
                    </a:solidFill>
                  </a:tcPr>
                </a:tc>
                <a:tc>
                  <a:txBody>
                    <a:bodyPr lIns="85725" tIns="66675" rIns="85725" bIns="66675">
                      <a:normAutofit/>
                    </a:bodyPr>
                    <a:lstStyle/>
                    <a:p>
                      <a:pPr>
                        <a:lnSpc>
                          <a:spcPct val="100000"/>
                        </a:lnSpc>
                        <a:buNone/>
                      </a:pPr>
                      <a:r>
                        <a:rPr sz="1275" b="0">
                          <a:solidFill>
                            <a:srgbClr val="122033"/>
                          </a:solidFill>
                          <a:latin typeface="Arial"/>
                          <a:ea typeface="Arial"/>
                          <a:cs typeface="Arial"/>
                        </a:rPr>
                        <a:t>Organiser-supplied evaluator. Exact coverage checks and full traces are available</a:t>
                      </a:r>
                    </a:p>
                  </a:txBody>
                  <a:tcPr marL="91440" marR="91440" marT="45720" marB="45720" anchor="ctr">
                    <a:solidFill>
                      <a:srgbClr val="DDF6E8"/>
                    </a:solidFill>
                  </a:tcPr>
                </a:tc>
              </a:tr>
            </a:tbl>
          </a:graphicData>
        </a:graphic>
      </p:graphicFrame>
      <p:sp>
        <p:nvSpPr>
          <p:cNvPr id="8" name="">
            <a:extLst xmlns:a="http://schemas.openxmlformats.org/drawingml/2006/main">
              <a:ext uri="{FF2B5EF4-FFF2-40B4-BE49-F238E27FC236}">
                <a16:creationId xmlns:a16="http://schemas.microsoft.com/office/drawing/2014/main" id="{2E453589-2329-4EAF-BF82-D71F79345FBE}"/>
              </a:ext>
            </a:extLst>
          </p:cNvPr>
          <p:cNvSpPr>
            <a:spLocks xmlns:a="http://schemas.openxmlformats.org/drawingml/2006/main" noGrp="1"/>
          </p:cNvSpPr>
          <p:nvPr/>
        </p:nvSpPr>
        <p:spPr>
          <a:xfrm xmlns:a="http://schemas.openxmlformats.org/drawingml/2006/main">
            <a:off x="609600" y="57435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22033"/>
                </a:solidFill>
                <a:latin typeface="Arial"/>
                <a:ea typeface="Arial"/>
                <a:cs typeface="Arial"/>
              </a:defRPr>
            </a:pPr>
            <a:r>
              <a:rPr sz="1575" b="1" i="0">
                <a:solidFill>
                  <a:srgbClr val="122033"/>
                </a:solidFill>
                <a:latin typeface="Arial"/>
                <a:ea typeface="Arial"/>
                <a:cs typeface="Arial"/>
              </a:rPr>
              <a:t>The published evidence does not isolate the effect of any one component.</a:t>
            </a:r>
          </a:p>
        </p:txBody>
      </p:sp>
      <p:sp>
        <p:nvSpPr>
          <p:cNvPr id="9" name="">
            <a:extLst xmlns:a="http://schemas.openxmlformats.org/drawingml/2006/main">
              <a:ext uri="{FF2B5EF4-FFF2-40B4-BE49-F238E27FC236}">
                <a16:creationId xmlns:a16="http://schemas.microsoft.com/office/drawing/2014/main" id="{2D4B3A54-FF2B-4A86-9FB3-35BC03B6CD07}"/>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10" name="">
            <a:extLst xmlns:a="http://schemas.openxmlformats.org/drawingml/2006/main">
              <a:ext uri="{FF2B5EF4-FFF2-40B4-BE49-F238E27FC236}">
                <a16:creationId xmlns:a16="http://schemas.microsoft.com/office/drawing/2014/main" id="{84238108-8721-4CD8-86FC-4DCB6AD2B7E1}"/>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FORMULABENCH  ·  RESEARCH: EXCEL FORMULA GENERATION</a:t>
            </a:r>
          </a:p>
        </p:txBody>
      </p:sp>
      <p:sp>
        <p:nvSpPr>
          <p:cNvPr id="11" name="">
            <a:extLst xmlns:a="http://schemas.openxmlformats.org/drawingml/2006/main">
              <a:ext uri="{FF2B5EF4-FFF2-40B4-BE49-F238E27FC236}">
                <a16:creationId xmlns:a16="http://schemas.microsoft.com/office/drawing/2014/main" id="{F685B69B-0CE8-4F6D-924C-D4E673EA632E}"/>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08</a:t>
            </a:r>
          </a:p>
        </p:txBody>
      </p:sp>
    </p:spTree>
    <p:extLst>
      <p:ext uri="{BB962C8B-B14F-4D97-AF65-F5344CB8AC3E}">
        <p14:creationId xmlns:p14="http://schemas.microsoft.com/office/powerpoint/2010/main" val="324878919"/>
      </p:ext>
    </p:extLst>
  </p:cSld>
</p:sld>
</file>

<file path=ppt/slides/slide9.xml><?xml version="1.0" encoding="utf-8"?>
<p:sld xmlns:p="http://schemas.openxmlformats.org/presentationml/2006/main">
  <p:cSld>
    <p:bg>
      <p:bgPr>
        <a:solidFill xmlns:a="http://schemas.openxmlformats.org/drawingml/2006/main">
          <a:srgbClr val="F4F0E8"/>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70D43567-66B2-4D46-8831-689D1F8D3E5D}"/>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300" b="1" i="0">
                <a:solidFill>
                  <a:srgbClr val="122033"/>
                </a:solidFill>
                <a:latin typeface="Arial"/>
                <a:ea typeface="Arial"/>
                <a:cs typeface="Arial"/>
              </a:defRPr>
            </a:pPr>
            <a:r>
              <a:rPr sz="3300" b="1" i="0">
                <a:solidFill>
                  <a:srgbClr val="122033"/>
                </a:solidFill>
                <a:latin typeface="Arial"/>
                <a:ea typeface="Arial"/>
                <a:cs typeface="Arial"/>
              </a:rPr>
              <a:t>Tinker LoRA training session</a:t>
            </a:r>
          </a:p>
        </p:txBody>
      </p:sp>
      <p:sp>
        <p:nvSpPr>
          <p:cNvPr id="2" name="">
            <a:extLst xmlns:a="http://schemas.openxmlformats.org/drawingml/2006/main">
              <a:ext uri="{FF2B5EF4-FFF2-40B4-BE49-F238E27FC236}">
                <a16:creationId xmlns:a16="http://schemas.microsoft.com/office/drawing/2014/main" id="{784C8E43-9FF0-48CA-9B03-F01866818578}"/>
              </a:ext>
            </a:extLst>
          </p:cNvPr>
          <p:cNvSpPr>
            <a:spLocks xmlns:a="http://schemas.openxmlformats.org/drawingml/2006/main" noGrp="1"/>
          </p:cNvSpPr>
          <p:nvPr/>
        </p:nvSpPr>
        <p:spPr>
          <a:xfrm xmlns:a="http://schemas.openxmlformats.org/drawingml/2006/main">
            <a:off x="609600" y="1028700"/>
            <a:ext cx="971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667487"/>
                </a:solidFill>
                <a:latin typeface="Arial"/>
                <a:ea typeface="Arial"/>
                <a:cs typeface="Arial"/>
              </a:defRPr>
            </a:pPr>
            <a:r>
              <a:rPr sz="1725" b="0" i="0">
                <a:solidFill>
                  <a:srgbClr val="667487"/>
                </a:solidFill>
                <a:latin typeface="Arial"/>
                <a:ea typeface="Arial"/>
                <a:cs typeface="Arial"/>
              </a:rPr>
              <a:t>Provider evidence for the completed development run on Qwen3.8-27B.</a:t>
            </a:r>
          </a:p>
        </p:txBody>
      </p:sp>
      <p:sp>
        <p:nvSpPr>
          <p:cNvPr id="3" name="">
            <a:extLst xmlns:a="http://schemas.openxmlformats.org/drawingml/2006/main">
              <a:ext uri="{FF2B5EF4-FFF2-40B4-BE49-F238E27FC236}">
                <a16:creationId xmlns:a16="http://schemas.microsoft.com/office/drawing/2014/main" id="{D6E18D3D-C025-4CC9-A746-ED30716F759D}"/>
              </a:ext>
            </a:extLst>
          </p:cNvPr>
          <p:cNvSpPr>
            <a:spLocks xmlns:a="http://schemas.openxmlformats.org/drawingml/2006/main" noGrp="1"/>
          </p:cNvSpPr>
          <p:nvPr/>
        </p:nvSpPr>
        <p:spPr>
          <a:xfrm xmlns:a="http://schemas.openxmlformats.org/drawingml/2006/main">
            <a:off x="609600" y="1638300"/>
            <a:ext cx="8096250" cy="3314700"/>
          </a:xfrm>
          <a:prstGeom xmlns:a="http://schemas.openxmlformats.org/drawingml/2006/main" prst="rect">
            <a:avLst/>
          </a:prstGeom>
          <a:solidFill xmlns:a="http://schemas.openxmlformats.org/drawingml/2006/main">
            <a:srgbClr val="FFFFFF"/>
          </a:solidFill>
          <a:ln xmlns:a="http://schemas.openxmlformats.org/drawingml/2006/main" w="9525">
            <a:solidFill>
              <a:srgbClr val="C9D1D9"/>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57a5f40dcbc4b30"/>
          <a:stretch xmlns:a="http://schemas.openxmlformats.org/drawingml/2006/main"/>
        </p:blipFill>
        <p:spPr>
          <a:xfrm xmlns:a="http://schemas.openxmlformats.org/drawingml/2006/main">
            <a:off x="609600" y="1639599"/>
            <a:ext cx="8096250" cy="3312102"/>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CF99DC3-46DA-4C50-A7AB-F7F9121931B6}"/>
              </a:ext>
            </a:extLst>
          </p:cNvPr>
          <p:cNvSpPr>
            <a:spLocks xmlns:a="http://schemas.openxmlformats.org/drawingml/2006/main" noGrp="1"/>
          </p:cNvSpPr>
          <p:nvPr/>
        </p:nvSpPr>
        <p:spPr>
          <a:xfrm xmlns:a="http://schemas.openxmlformats.org/drawingml/2006/main">
            <a:off x="9124950" y="1743075"/>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600" b="1" i="0">
                <a:solidFill>
                  <a:srgbClr val="122033"/>
                </a:solidFill>
                <a:latin typeface="Arial"/>
                <a:ea typeface="Arial"/>
                <a:cs typeface="Arial"/>
              </a:defRPr>
            </a:pPr>
            <a:r>
              <a:rPr sz="3600" b="1" i="0">
                <a:solidFill>
                  <a:srgbClr val="122033"/>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4980EC7F-0C01-4620-806B-2A55C530F0D7}"/>
              </a:ext>
            </a:extLst>
          </p:cNvPr>
          <p:cNvSpPr>
            <a:spLocks xmlns:a="http://schemas.openxmlformats.org/drawingml/2006/main" noGrp="1"/>
          </p:cNvSpPr>
          <p:nvPr/>
        </p:nvSpPr>
        <p:spPr>
          <a:xfrm xmlns:a="http://schemas.openxmlformats.org/drawingml/2006/main">
            <a:off x="9144000" y="2276475"/>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1" i="0">
                <a:solidFill>
                  <a:srgbClr val="35C47A"/>
                </a:solidFill>
                <a:latin typeface="Arial"/>
                <a:ea typeface="Arial"/>
                <a:cs typeface="Arial"/>
              </a:defRPr>
            </a:pPr>
            <a:r>
              <a:rPr sz="1275" b="1" i="0">
                <a:solidFill>
                  <a:srgbClr val="35C47A"/>
                </a:solidFill>
                <a:latin typeface="Arial"/>
                <a:ea typeface="Arial"/>
                <a:cs typeface="Arial"/>
              </a:rPr>
              <a:t>training examples</a:t>
            </a:r>
          </a:p>
        </p:txBody>
      </p:sp>
      <p:sp>
        <p:nvSpPr>
          <p:cNvPr id="7" name="">
            <a:extLst xmlns:a="http://schemas.openxmlformats.org/drawingml/2006/main">
              <a:ext uri="{FF2B5EF4-FFF2-40B4-BE49-F238E27FC236}">
                <a16:creationId xmlns:a16="http://schemas.microsoft.com/office/drawing/2014/main" id="{DE0F24E6-C695-46E8-8815-EB789FD19E74}"/>
              </a:ext>
            </a:extLst>
          </p:cNvPr>
          <p:cNvSpPr>
            <a:spLocks xmlns:a="http://schemas.openxmlformats.org/drawingml/2006/main" noGrp="1"/>
          </p:cNvSpPr>
          <p:nvPr/>
        </p:nvSpPr>
        <p:spPr>
          <a:xfrm xmlns:a="http://schemas.openxmlformats.org/drawingml/2006/main">
            <a:off x="9124950" y="2724150"/>
            <a:ext cx="245745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8" name="">
            <a:extLst xmlns:a="http://schemas.openxmlformats.org/drawingml/2006/main">
              <a:ext uri="{FF2B5EF4-FFF2-40B4-BE49-F238E27FC236}">
                <a16:creationId xmlns:a16="http://schemas.microsoft.com/office/drawing/2014/main" id="{A55667C7-4F09-4108-A7FE-E9D98BD2CACC}"/>
              </a:ext>
            </a:extLst>
          </p:cNvPr>
          <p:cNvSpPr>
            <a:spLocks xmlns:a="http://schemas.openxmlformats.org/drawingml/2006/main" noGrp="1"/>
          </p:cNvSpPr>
          <p:nvPr/>
        </p:nvSpPr>
        <p:spPr>
          <a:xfrm xmlns:a="http://schemas.openxmlformats.org/drawingml/2006/main">
            <a:off x="9124950" y="2914650"/>
            <a:ext cx="209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925" b="1" i="0">
                <a:solidFill>
                  <a:srgbClr val="122033"/>
                </a:solidFill>
                <a:latin typeface="Arial"/>
                <a:ea typeface="Arial"/>
                <a:cs typeface="Arial"/>
              </a:defRPr>
            </a:pPr>
            <a:r>
              <a:rPr sz="2925" b="1" i="0">
                <a:solidFill>
                  <a:srgbClr val="122033"/>
                </a:solidFill>
                <a:latin typeface="Arial"/>
                <a:ea typeface="Arial"/>
                <a:cs typeface="Arial"/>
              </a:rPr>
              <a:t>15 / 15</a:t>
            </a:r>
          </a:p>
        </p:txBody>
      </p:sp>
      <p:sp>
        <p:nvSpPr>
          <p:cNvPr id="9" name="">
            <a:extLst xmlns:a="http://schemas.openxmlformats.org/drawingml/2006/main">
              <a:ext uri="{FF2B5EF4-FFF2-40B4-BE49-F238E27FC236}">
                <a16:creationId xmlns:a16="http://schemas.microsoft.com/office/drawing/2014/main" id="{0187C9B4-4416-477A-9AB1-767C148A09EB}"/>
              </a:ext>
            </a:extLst>
          </p:cNvPr>
          <p:cNvSpPr>
            <a:spLocks xmlns:a="http://schemas.openxmlformats.org/drawingml/2006/main" noGrp="1"/>
          </p:cNvSpPr>
          <p:nvPr/>
        </p:nvSpPr>
        <p:spPr>
          <a:xfrm xmlns:a="http://schemas.openxmlformats.org/drawingml/2006/main">
            <a:off x="9144000" y="34290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1" i="0">
                <a:solidFill>
                  <a:srgbClr val="35C47A"/>
                </a:solidFill>
                <a:latin typeface="Arial"/>
                <a:ea typeface="Arial"/>
                <a:cs typeface="Arial"/>
              </a:defRPr>
            </a:pPr>
            <a:r>
              <a:rPr sz="1275" b="1" i="0">
                <a:solidFill>
                  <a:srgbClr val="35C47A"/>
                </a:solidFill>
                <a:latin typeface="Arial"/>
                <a:ea typeface="Arial"/>
                <a:cs typeface="Arial"/>
              </a:rPr>
              <a:t>optimiser steps completed</a:t>
            </a:r>
          </a:p>
        </p:txBody>
      </p:sp>
      <p:sp>
        <p:nvSpPr>
          <p:cNvPr id="10" name="">
            <a:extLst xmlns:a="http://schemas.openxmlformats.org/drawingml/2006/main">
              <a:ext uri="{FF2B5EF4-FFF2-40B4-BE49-F238E27FC236}">
                <a16:creationId xmlns:a16="http://schemas.microsoft.com/office/drawing/2014/main" id="{1AE34F8F-5210-4EAD-A70E-AC973D9D45CF}"/>
              </a:ext>
            </a:extLst>
          </p:cNvPr>
          <p:cNvSpPr>
            <a:spLocks xmlns:a="http://schemas.openxmlformats.org/drawingml/2006/main" noGrp="1"/>
          </p:cNvSpPr>
          <p:nvPr/>
        </p:nvSpPr>
        <p:spPr>
          <a:xfrm xmlns:a="http://schemas.openxmlformats.org/drawingml/2006/main">
            <a:off x="9124950" y="3886200"/>
            <a:ext cx="245745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11" name="">
            <a:extLst xmlns:a="http://schemas.openxmlformats.org/drawingml/2006/main">
              <a:ext uri="{FF2B5EF4-FFF2-40B4-BE49-F238E27FC236}">
                <a16:creationId xmlns:a16="http://schemas.microsoft.com/office/drawing/2014/main" id="{E02FAA2E-B0E0-4287-B4B0-57A315BCA8A5}"/>
              </a:ext>
            </a:extLst>
          </p:cNvPr>
          <p:cNvSpPr>
            <a:spLocks xmlns:a="http://schemas.openxmlformats.org/drawingml/2006/main" noGrp="1"/>
          </p:cNvSpPr>
          <p:nvPr/>
        </p:nvSpPr>
        <p:spPr>
          <a:xfrm xmlns:a="http://schemas.openxmlformats.org/drawingml/2006/main">
            <a:off x="9124950" y="4076700"/>
            <a:ext cx="238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550" b="1" i="0">
                <a:solidFill>
                  <a:srgbClr val="122033"/>
                </a:solidFill>
                <a:latin typeface="Arial"/>
                <a:ea typeface="Arial"/>
                <a:cs typeface="Arial"/>
              </a:defRPr>
            </a:pPr>
            <a:r>
              <a:rPr sz="2550" b="1" i="0">
                <a:solidFill>
                  <a:srgbClr val="122033"/>
                </a:solidFill>
                <a:latin typeface="Arial"/>
                <a:ea typeface="Arial"/>
                <a:cs typeface="Arial"/>
              </a:rPr>
              <a:t>468,690</a:t>
            </a:r>
          </a:p>
        </p:txBody>
      </p:sp>
      <p:sp>
        <p:nvSpPr>
          <p:cNvPr id="12" name="">
            <a:extLst xmlns:a="http://schemas.openxmlformats.org/drawingml/2006/main">
              <a:ext uri="{FF2B5EF4-FFF2-40B4-BE49-F238E27FC236}">
                <a16:creationId xmlns:a16="http://schemas.microsoft.com/office/drawing/2014/main" id="{8097AE53-A6D2-40F8-9C16-668D8A7BE0A4}"/>
              </a:ext>
            </a:extLst>
          </p:cNvPr>
          <p:cNvSpPr>
            <a:spLocks xmlns:a="http://schemas.openxmlformats.org/drawingml/2006/main" noGrp="1"/>
          </p:cNvSpPr>
          <p:nvPr/>
        </p:nvSpPr>
        <p:spPr>
          <a:xfrm xmlns:a="http://schemas.openxmlformats.org/drawingml/2006/main">
            <a:off x="9144000" y="45339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1" i="0">
                <a:solidFill>
                  <a:srgbClr val="35C47A"/>
                </a:solidFill>
                <a:latin typeface="Arial"/>
                <a:ea typeface="Arial"/>
                <a:cs typeface="Arial"/>
              </a:defRPr>
            </a:pPr>
            <a:r>
              <a:rPr sz="1275" b="1" i="0">
                <a:solidFill>
                  <a:srgbClr val="35C47A"/>
                </a:solidFill>
                <a:latin typeface="Arial"/>
                <a:ea typeface="Arial"/>
                <a:cs typeface="Arial"/>
              </a:rPr>
              <a:t>training tokens</a:t>
            </a:r>
          </a:p>
        </p:txBody>
      </p:sp>
      <p:sp>
        <p:nvSpPr>
          <p:cNvPr id="13" name="">
            <a:extLst xmlns:a="http://schemas.openxmlformats.org/drawingml/2006/main">
              <a:ext uri="{FF2B5EF4-FFF2-40B4-BE49-F238E27FC236}">
                <a16:creationId xmlns:a16="http://schemas.microsoft.com/office/drawing/2014/main" id="{2C6813A2-6D3B-41A2-89EA-222165F35FD6}"/>
              </a:ext>
            </a:extLst>
          </p:cNvPr>
          <p:cNvSpPr>
            <a:spLocks xmlns:a="http://schemas.openxmlformats.org/drawingml/2006/main" noGrp="1"/>
          </p:cNvSpPr>
          <p:nvPr/>
        </p:nvSpPr>
        <p:spPr>
          <a:xfrm xmlns:a="http://schemas.openxmlformats.org/drawingml/2006/main">
            <a:off x="609600" y="52673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00" b="0" i="0">
                <a:solidFill>
                  <a:srgbClr val="122033"/>
                </a:solidFill>
                <a:latin typeface="Arial"/>
                <a:ea typeface="Arial"/>
                <a:cs typeface="Arial"/>
              </a:defRPr>
            </a:pPr>
            <a:r>
              <a:rPr sz="1500" b="0" i="0">
                <a:solidFill>
                  <a:srgbClr val="122033"/>
                </a:solidFill>
                <a:latin typeface="Arial"/>
                <a:ea typeface="Arial"/>
                <a:cs typeface="Arial"/>
              </a:rPr>
              <a:t>The charts record training activity. Tinker did not export one exact average throughput or utilisation figure, and neither metric measures workbook correctness.</a:t>
            </a:r>
          </a:p>
        </p:txBody>
      </p:sp>
      <p:sp>
        <p:nvSpPr>
          <p:cNvPr id="14" name="">
            <a:extLst xmlns:a="http://schemas.openxmlformats.org/drawingml/2006/main">
              <a:ext uri="{FF2B5EF4-FFF2-40B4-BE49-F238E27FC236}">
                <a16:creationId xmlns:a16="http://schemas.microsoft.com/office/drawing/2014/main" id="{B277C840-D7DA-4D9F-BF62-B7839AF31253}"/>
              </a:ext>
            </a:extLst>
          </p:cNvPr>
          <p:cNvSpPr>
            <a:spLocks xmlns:a="http://schemas.openxmlformats.org/drawingml/2006/main" noGrp="1"/>
          </p:cNvSpPr>
          <p:nvPr/>
        </p:nvSpPr>
        <p:spPr>
          <a:xfrm xmlns:a="http://schemas.openxmlformats.org/drawingml/2006/main">
            <a:off x="609600" y="596265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0" i="0">
                <a:solidFill>
                  <a:srgbClr val="667487"/>
                </a:solidFill>
                <a:latin typeface="Arial"/>
                <a:ea typeface="Arial"/>
                <a:cs typeface="Arial"/>
              </a:defRPr>
            </a:pPr>
            <a:r>
              <a:rPr sz="1275" b="0" i="0">
                <a:solidFill>
                  <a:srgbClr val="667487"/>
                </a:solidFill>
                <a:latin typeface="Arial"/>
                <a:ea typeface="Arial"/>
                <a:cs typeface="Arial"/>
              </a:rPr>
              <a:t>Validation NLL decreased from 0.060939 to 0.015557. This measures label prediction, not spreadsheet accuracy.</a:t>
            </a:r>
          </a:p>
        </p:txBody>
      </p:sp>
      <p:sp>
        <p:nvSpPr>
          <p:cNvPr id="15" name="">
            <a:extLst xmlns:a="http://schemas.openxmlformats.org/drawingml/2006/main">
              <a:ext uri="{FF2B5EF4-FFF2-40B4-BE49-F238E27FC236}">
                <a16:creationId xmlns:a16="http://schemas.microsoft.com/office/drawing/2014/main" id="{61A4DA2E-3DFC-4F8B-A9C0-00323BE225B4}"/>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16" name="">
            <a:extLst xmlns:a="http://schemas.openxmlformats.org/drawingml/2006/main">
              <a:ext uri="{FF2B5EF4-FFF2-40B4-BE49-F238E27FC236}">
                <a16:creationId xmlns:a16="http://schemas.microsoft.com/office/drawing/2014/main" id="{26E89899-954A-4D84-8EF0-9C5BCCAF9653}"/>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FORMULABENCH  ·  RESEARCH: EXCEL FORMULA GENERATION</a:t>
            </a:r>
          </a:p>
        </p:txBody>
      </p:sp>
      <p:sp>
        <p:nvSpPr>
          <p:cNvPr id="17" name="">
            <a:extLst xmlns:a="http://schemas.openxmlformats.org/drawingml/2006/main">
              <a:ext uri="{FF2B5EF4-FFF2-40B4-BE49-F238E27FC236}">
                <a16:creationId xmlns:a16="http://schemas.microsoft.com/office/drawing/2014/main" id="{2E3A49E9-A918-4980-88D9-3017A2D75C49}"/>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09</a:t>
            </a:r>
          </a:p>
        </p:txBody>
      </p:sp>
    </p:spTree>
    <p:extLst>
      <p:ext uri="{BB962C8B-B14F-4D97-AF65-F5344CB8AC3E}">
        <p14:creationId xmlns:p14="http://schemas.microsoft.com/office/powerpoint/2010/main" val="1057270694"/>
      </p:ext>
    </p:extLst>
  </p:cSld>
</p:sld>
</file>

<file path=ppt/slides/slide10.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22" name="slide-title">
            <a:extLst xmlns:a="http://schemas.openxmlformats.org/drawingml/2006/main">
              <a:ext uri="{FF2B5EF4-FFF2-40B4-BE49-F238E27FC236}">
                <a16:creationId xmlns:a16="http://schemas.microsoft.com/office/drawing/2014/main" id="{40793D80-A367-4001-BC99-6C91E6D588C2}"/>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0894"/>
          </a:bodyPr>
          <a:lstStyle xmlns:a="http://schemas.openxmlformats.org/drawingml/2006/main"/>
          <a:p xmlns:a="http://schemas.openxmlformats.org/drawingml/2006/main">
            <a:pPr algn="l">
              <a:lnSpc>
                <a:spcPct val="105000"/>
              </a:lnSpc>
              <a:buNone/>
              <a:defRPr sz="3300" b="1" i="0">
                <a:solidFill>
                  <a:srgbClr val="122033"/>
                </a:solidFill>
                <a:latin typeface="Arial"/>
                <a:ea typeface="Arial"/>
                <a:cs typeface="Arial"/>
              </a:defRPr>
            </a:pPr>
            <a:r>
              <a:rPr sz="3300" b="1" i="0">
                <a:solidFill>
                  <a:srgbClr val="122033"/>
                </a:solidFill>
                <a:latin typeface="Arial"/>
                <a:ea typeface="Arial"/>
                <a:cs typeface="Arial"/>
              </a:rPr>
              <a:t>The LoRA checkpoint passed two more of the same 15 tasks</a:t>
            </a:r>
          </a:p>
        </p:txBody>
      </p:sp>
      <p:sp>
        <p:nvSpPr>
          <p:cNvPr id="2" name="">
            <a:extLst xmlns:a="http://schemas.openxmlformats.org/drawingml/2006/main">
              <a:ext uri="{FF2B5EF4-FFF2-40B4-BE49-F238E27FC236}">
                <a16:creationId xmlns:a16="http://schemas.microsoft.com/office/drawing/2014/main" id="{3F267CFC-0BF6-4A3D-8D14-3D75D158E12F}"/>
              </a:ext>
            </a:extLst>
          </p:cNvPr>
          <p:cNvSpPr>
            <a:spLocks xmlns:a="http://schemas.openxmlformats.org/drawingml/2006/main" noGrp="1"/>
          </p:cNvSpPr>
          <p:nvPr/>
        </p:nvSpPr>
        <p:spPr>
          <a:xfrm xmlns:a="http://schemas.openxmlformats.org/drawingml/2006/main">
            <a:off x="609600" y="1028700"/>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667487"/>
                </a:solidFill>
                <a:latin typeface="Arial"/>
                <a:ea typeface="Arial"/>
                <a:cs typeface="Arial"/>
              </a:defRPr>
            </a:pPr>
            <a:r>
              <a:rPr sz="1725" b="0" i="0">
                <a:solidFill>
                  <a:srgbClr val="667487"/>
                </a:solidFill>
                <a:latin typeface="Arial"/>
                <a:ea typeface="Arial"/>
                <a:cs typeface="Arial"/>
              </a:rPr>
              <a:t>Base and checkpoint used the same prompts, settings, workbook pipeline and organiser evaluator.</a:t>
            </a:r>
          </a:p>
        </p:txBody>
      </p:sp>
      <p:sp>
        <p:nvSpPr>
          <p:cNvPr id="3" name="">
            <a:extLst xmlns:a="http://schemas.openxmlformats.org/drawingml/2006/main">
              <a:ext uri="{FF2B5EF4-FFF2-40B4-BE49-F238E27FC236}">
                <a16:creationId xmlns:a16="http://schemas.microsoft.com/office/drawing/2014/main" id="{7E40C298-42B8-4B4A-855B-4E2E5550FF02}"/>
              </a:ext>
            </a:extLst>
          </p:cNvPr>
          <p:cNvSpPr>
            <a:spLocks xmlns:a="http://schemas.openxmlformats.org/drawingml/2006/main" noGrp="1"/>
          </p:cNvSpPr>
          <p:nvPr/>
        </p:nvSpPr>
        <p:spPr>
          <a:xfrm xmlns:a="http://schemas.openxmlformats.org/drawingml/2006/main">
            <a:off x="609600" y="1752600"/>
            <a:ext cx="1809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900" b="1" i="0">
                <a:solidFill>
                  <a:srgbClr val="122033"/>
                </a:solidFill>
                <a:latin typeface="Arial"/>
                <a:ea typeface="Arial"/>
                <a:cs typeface="Arial"/>
              </a:defRPr>
            </a:pPr>
            <a:r>
              <a:rPr sz="3900" b="1" i="0">
                <a:solidFill>
                  <a:srgbClr val="122033"/>
                </a:solidFill>
                <a:latin typeface="Arial"/>
                <a:ea typeface="Arial"/>
                <a:cs typeface="Arial"/>
              </a:rPr>
              <a:t>7 / 15</a:t>
            </a:r>
          </a:p>
        </p:txBody>
      </p:sp>
      <p:sp>
        <p:nvSpPr>
          <p:cNvPr id="4" name="">
            <a:extLst xmlns:a="http://schemas.openxmlformats.org/drawingml/2006/main">
              <a:ext uri="{FF2B5EF4-FFF2-40B4-BE49-F238E27FC236}">
                <a16:creationId xmlns:a16="http://schemas.microsoft.com/office/drawing/2014/main" id="{383A4856-C9F8-467C-A60E-B3BF3CD99ECC}"/>
              </a:ext>
            </a:extLst>
          </p:cNvPr>
          <p:cNvSpPr>
            <a:spLocks xmlns:a="http://schemas.openxmlformats.org/drawingml/2006/main" noGrp="1"/>
          </p:cNvSpPr>
          <p:nvPr/>
        </p:nvSpPr>
        <p:spPr>
          <a:xfrm xmlns:a="http://schemas.openxmlformats.org/drawingml/2006/main">
            <a:off x="647700" y="23431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1" i="0">
                <a:solidFill>
                  <a:srgbClr val="667487"/>
                </a:solidFill>
                <a:latin typeface="Arial"/>
                <a:ea typeface="Arial"/>
                <a:cs typeface="Arial"/>
              </a:defRPr>
            </a:pPr>
            <a:r>
              <a:rPr sz="1275" b="1" i="0">
                <a:solidFill>
                  <a:srgbClr val="667487"/>
                </a:solidFill>
                <a:latin typeface="Arial"/>
                <a:ea typeface="Arial"/>
                <a:cs typeface="Arial"/>
              </a:rPr>
              <a:t>base model</a:t>
            </a:r>
          </a:p>
        </p:txBody>
      </p:sp>
      <p:sp>
        <p:nvSpPr>
          <p:cNvPr id="5" name="">
            <a:extLst xmlns:a="http://schemas.openxmlformats.org/drawingml/2006/main">
              <a:ext uri="{FF2B5EF4-FFF2-40B4-BE49-F238E27FC236}">
                <a16:creationId xmlns:a16="http://schemas.microsoft.com/office/drawing/2014/main" id="{5A4F1B3E-DC33-4A01-821E-CFB4B756B9E8}"/>
              </a:ext>
            </a:extLst>
          </p:cNvPr>
          <p:cNvSpPr>
            <a:spLocks xmlns:a="http://schemas.openxmlformats.org/drawingml/2006/main" noGrp="1"/>
          </p:cNvSpPr>
          <p:nvPr/>
        </p:nvSpPr>
        <p:spPr>
          <a:xfrm xmlns:a="http://schemas.openxmlformats.org/drawingml/2006/main">
            <a:off x="2895600" y="1752600"/>
            <a:ext cx="1809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3900" b="1" i="0">
                <a:solidFill>
                  <a:srgbClr val="35C47A"/>
                </a:solidFill>
                <a:latin typeface="Arial"/>
                <a:ea typeface="Arial"/>
                <a:cs typeface="Arial"/>
              </a:defRPr>
            </a:pPr>
            <a:r>
              <a:rPr sz="3900" b="1" i="0">
                <a:solidFill>
                  <a:srgbClr val="35C47A"/>
                </a:solidFill>
                <a:latin typeface="Arial"/>
                <a:ea typeface="Arial"/>
                <a:cs typeface="Arial"/>
              </a:rPr>
              <a:t>9 / 15</a:t>
            </a:r>
          </a:p>
        </p:txBody>
      </p:sp>
      <p:sp>
        <p:nvSpPr>
          <p:cNvPr id="6" name="">
            <a:extLst xmlns:a="http://schemas.openxmlformats.org/drawingml/2006/main">
              <a:ext uri="{FF2B5EF4-FFF2-40B4-BE49-F238E27FC236}">
                <a16:creationId xmlns:a16="http://schemas.microsoft.com/office/drawing/2014/main" id="{C6EBB546-54CA-4900-97DC-E68E4F67AD5E}"/>
              </a:ext>
            </a:extLst>
          </p:cNvPr>
          <p:cNvSpPr>
            <a:spLocks xmlns:a="http://schemas.openxmlformats.org/drawingml/2006/main" noGrp="1"/>
          </p:cNvSpPr>
          <p:nvPr/>
        </p:nvSpPr>
        <p:spPr>
          <a:xfrm xmlns:a="http://schemas.openxmlformats.org/drawingml/2006/main">
            <a:off x="2933700" y="234315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1" i="0">
                <a:solidFill>
                  <a:srgbClr val="35C47A"/>
                </a:solidFill>
                <a:latin typeface="Arial"/>
                <a:ea typeface="Arial"/>
                <a:cs typeface="Arial"/>
              </a:defRPr>
            </a:pPr>
            <a:r>
              <a:rPr sz="1275" b="1" i="0">
                <a:solidFill>
                  <a:srgbClr val="35C47A"/>
                </a:solidFill>
                <a:latin typeface="Arial"/>
                <a:ea typeface="Arial"/>
                <a:cs typeface="Arial"/>
              </a:rPr>
              <a:t>LoRA checkpoint</a:t>
            </a:r>
          </a:p>
        </p:txBody>
      </p:sp>
      <p:sp>
        <p:nvSpPr>
          <p:cNvPr id="7" name="">
            <a:extLst xmlns:a="http://schemas.openxmlformats.org/drawingml/2006/main">
              <a:ext uri="{FF2B5EF4-FFF2-40B4-BE49-F238E27FC236}">
                <a16:creationId xmlns:a16="http://schemas.microsoft.com/office/drawing/2014/main" id="{4BFB856A-E88E-43D5-AE98-B89DA3D6159C}"/>
              </a:ext>
            </a:extLst>
          </p:cNvPr>
          <p:cNvSpPr>
            <a:spLocks xmlns:a="http://schemas.openxmlformats.org/drawingml/2006/main" noGrp="1"/>
          </p:cNvSpPr>
          <p:nvPr/>
        </p:nvSpPr>
        <p:spPr>
          <a:xfrm xmlns:a="http://schemas.openxmlformats.org/drawingml/2006/main">
            <a:off x="609600" y="2838450"/>
            <a:ext cx="417195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8" name="">
            <a:extLst xmlns:a="http://schemas.openxmlformats.org/drawingml/2006/main">
              <a:ext uri="{FF2B5EF4-FFF2-40B4-BE49-F238E27FC236}">
                <a16:creationId xmlns:a16="http://schemas.microsoft.com/office/drawing/2014/main" id="{1395699C-1BCD-4403-BC1D-4491176CC09B}"/>
              </a:ext>
            </a:extLst>
          </p:cNvPr>
          <p:cNvSpPr>
            <a:spLocks xmlns:a="http://schemas.openxmlformats.org/drawingml/2006/main" noGrp="1"/>
          </p:cNvSpPr>
          <p:nvPr/>
        </p:nvSpPr>
        <p:spPr>
          <a:xfrm xmlns:a="http://schemas.openxmlformats.org/drawingml/2006/main">
            <a:off x="609600" y="3057525"/>
            <a:ext cx="266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850" b="1" i="0">
                <a:solidFill>
                  <a:srgbClr val="122033"/>
                </a:solidFill>
                <a:latin typeface="Arial"/>
                <a:ea typeface="Arial"/>
                <a:cs typeface="Arial"/>
              </a:defRPr>
            </a:pPr>
            <a:r>
              <a:rPr sz="2850" b="1" i="0">
                <a:solidFill>
                  <a:srgbClr val="122033"/>
                </a:solidFill>
                <a:latin typeface="Arial"/>
                <a:ea typeface="Arial"/>
                <a:cs typeface="Arial"/>
              </a:rPr>
              <a:t>+13.33 pp</a:t>
            </a:r>
          </a:p>
        </p:txBody>
      </p:sp>
      <p:sp>
        <p:nvSpPr>
          <p:cNvPr id="9" name="">
            <a:extLst xmlns:a="http://schemas.openxmlformats.org/drawingml/2006/main">
              <a:ext uri="{FF2B5EF4-FFF2-40B4-BE49-F238E27FC236}">
                <a16:creationId xmlns:a16="http://schemas.microsoft.com/office/drawing/2014/main" id="{0BCA5D31-5114-4448-877E-ABBF884D57D7}"/>
              </a:ext>
            </a:extLst>
          </p:cNvPr>
          <p:cNvSpPr>
            <a:spLocks xmlns:a="http://schemas.openxmlformats.org/drawingml/2006/main" noGrp="1"/>
          </p:cNvSpPr>
          <p:nvPr/>
        </p:nvSpPr>
        <p:spPr>
          <a:xfrm xmlns:a="http://schemas.openxmlformats.org/drawingml/2006/main">
            <a:off x="647700" y="35528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667487"/>
                </a:solidFill>
                <a:latin typeface="Arial"/>
                <a:ea typeface="Arial"/>
                <a:cs typeface="Arial"/>
              </a:defRPr>
            </a:pPr>
            <a:r>
              <a:rPr sz="1350" b="0" i="0">
                <a:solidFill>
                  <a:srgbClr val="667487"/>
                </a:solidFill>
                <a:latin typeface="Arial"/>
                <a:ea typeface="Arial"/>
                <a:cs typeface="Arial"/>
              </a:rPr>
              <a:t>task pass rate, 46.67% and 60.00%</a:t>
            </a:r>
          </a:p>
        </p:txBody>
      </p:sp>
      <p:sp>
        <p:nvSpPr>
          <p:cNvPr id="10" name="">
            <a:extLst xmlns:a="http://schemas.openxmlformats.org/drawingml/2006/main">
              <a:ext uri="{FF2B5EF4-FFF2-40B4-BE49-F238E27FC236}">
                <a16:creationId xmlns:a16="http://schemas.microsoft.com/office/drawing/2014/main" id="{CC877931-58AE-473F-8DB4-04B60B9A4D06}"/>
              </a:ext>
            </a:extLst>
          </p:cNvPr>
          <p:cNvSpPr>
            <a:spLocks xmlns:a="http://schemas.openxmlformats.org/drawingml/2006/main" noGrp="1"/>
          </p:cNvSpPr>
          <p:nvPr/>
        </p:nvSpPr>
        <p:spPr>
          <a:xfrm xmlns:a="http://schemas.openxmlformats.org/drawingml/2006/main">
            <a:off x="609600" y="4114800"/>
            <a:ext cx="209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325" b="1" i="0">
                <a:solidFill>
                  <a:srgbClr val="122033"/>
                </a:solidFill>
                <a:latin typeface="Arial"/>
                <a:ea typeface="Arial"/>
                <a:cs typeface="Arial"/>
              </a:defRPr>
            </a:pPr>
            <a:r>
              <a:rPr sz="2325" b="1" i="0">
                <a:solidFill>
                  <a:srgbClr val="122033"/>
                </a:solidFill>
                <a:latin typeface="Arial"/>
                <a:ea typeface="Arial"/>
                <a:cs typeface="Arial"/>
              </a:rPr>
              <a:t>432 / 582</a:t>
            </a:r>
          </a:p>
        </p:txBody>
      </p:sp>
      <p:sp>
        <p:nvSpPr>
          <p:cNvPr id="11" name="">
            <a:extLst xmlns:a="http://schemas.openxmlformats.org/drawingml/2006/main">
              <a:ext uri="{FF2B5EF4-FFF2-40B4-BE49-F238E27FC236}">
                <a16:creationId xmlns:a16="http://schemas.microsoft.com/office/drawing/2014/main" id="{BE6FCE93-1E59-499C-83F6-A31FC6B755E5}"/>
              </a:ext>
            </a:extLst>
          </p:cNvPr>
          <p:cNvSpPr>
            <a:spLocks xmlns:a="http://schemas.openxmlformats.org/drawingml/2006/main" noGrp="1"/>
          </p:cNvSpPr>
          <p:nvPr/>
        </p:nvSpPr>
        <p:spPr>
          <a:xfrm xmlns:a="http://schemas.openxmlformats.org/drawingml/2006/main">
            <a:off x="2895600" y="4114800"/>
            <a:ext cx="209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325" b="1" i="0">
                <a:solidFill>
                  <a:srgbClr val="35C47A"/>
                </a:solidFill>
                <a:latin typeface="Arial"/>
                <a:ea typeface="Arial"/>
                <a:cs typeface="Arial"/>
              </a:defRPr>
            </a:pPr>
            <a:r>
              <a:rPr sz="2325" b="1" i="0">
                <a:solidFill>
                  <a:srgbClr val="35C47A"/>
                </a:solidFill>
                <a:latin typeface="Arial"/>
                <a:ea typeface="Arial"/>
                <a:cs typeface="Arial"/>
              </a:rPr>
              <a:t>449 / 582</a:t>
            </a:r>
          </a:p>
        </p:txBody>
      </p:sp>
      <p:sp>
        <p:nvSpPr>
          <p:cNvPr id="12" name="">
            <a:extLst xmlns:a="http://schemas.openxmlformats.org/drawingml/2006/main">
              <a:ext uri="{FF2B5EF4-FFF2-40B4-BE49-F238E27FC236}">
                <a16:creationId xmlns:a16="http://schemas.microsoft.com/office/drawing/2014/main" id="{6BEC8157-5887-454E-98AA-9E6C23C7E7FC}"/>
              </a:ext>
            </a:extLst>
          </p:cNvPr>
          <p:cNvSpPr>
            <a:spLocks xmlns:a="http://schemas.openxmlformats.org/drawingml/2006/main" noGrp="1"/>
          </p:cNvSpPr>
          <p:nvPr/>
        </p:nvSpPr>
        <p:spPr>
          <a:xfrm xmlns:a="http://schemas.openxmlformats.org/drawingml/2006/main">
            <a:off x="647700" y="4581525"/>
            <a:ext cx="390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667487"/>
                </a:solidFill>
                <a:latin typeface="Arial"/>
                <a:ea typeface="Arial"/>
                <a:cs typeface="Arial"/>
              </a:defRPr>
            </a:pPr>
            <a:r>
              <a:rPr sz="1350" b="0" i="0">
                <a:solidFill>
                  <a:srgbClr val="667487"/>
                </a:solidFill>
                <a:latin typeface="Arial"/>
                <a:ea typeface="Arial"/>
                <a:cs typeface="Arial"/>
              </a:rPr>
              <a:t>correct cells increased by 17</a:t>
            </a:r>
          </a:p>
        </p:txBody>
      </p:sp>
      <p:sp>
        <p:nvSpPr>
          <p:cNvPr id="13" name="">
            <a:extLst xmlns:a="http://schemas.openxmlformats.org/drawingml/2006/main">
              <a:ext uri="{FF2B5EF4-FFF2-40B4-BE49-F238E27FC236}">
                <a16:creationId xmlns:a16="http://schemas.microsoft.com/office/drawing/2014/main" id="{2CECCD5C-3DFD-48D1-901C-437CA196420F}"/>
              </a:ext>
            </a:extLst>
          </p:cNvPr>
          <p:cNvSpPr>
            <a:spLocks xmlns:a="http://schemas.openxmlformats.org/drawingml/2006/main" noGrp="1"/>
          </p:cNvSpPr>
          <p:nvPr/>
        </p:nvSpPr>
        <p:spPr>
          <a:xfrm xmlns:a="http://schemas.openxmlformats.org/drawingml/2006/main">
            <a:off x="609600" y="5048250"/>
            <a:ext cx="428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1636"/>
          </a:bodyPr>
          <a:lstStyle xmlns:a="http://schemas.openxmlformats.org/drawingml/2006/main"/>
          <a:p xmlns:a="http://schemas.openxmlformats.org/drawingml/2006/main">
            <a:pPr algn="l">
              <a:lnSpc>
                <a:spcPct val="112000"/>
              </a:lnSpc>
              <a:buNone/>
              <a:defRPr sz="1350" b="0" i="0">
                <a:solidFill>
                  <a:srgbClr val="122033"/>
                </a:solidFill>
                <a:latin typeface="Arial"/>
                <a:ea typeface="Arial"/>
                <a:cs typeface="Arial"/>
              </a:defRPr>
            </a:pPr>
            <a:r>
              <a:rPr sz="1350" b="0" i="0">
                <a:solidFill>
                  <a:srgbClr val="122033"/>
                </a:solidFill>
                <a:latin typeface="Arial"/>
                <a:ea typeface="Arial"/>
                <a:cs typeface="Arial"/>
              </a:rPr>
              <a:t>Three failures became passes. One previous pass regressed. Accepted predictions increased from 14/15 to 15/15.</a:t>
            </a:r>
          </a:p>
        </p:txBody>
      </p:sp>
      <p:sp>
        <p:nvSpPr>
          <p:cNvPr id="14" name="">
            <a:extLst xmlns:a="http://schemas.openxmlformats.org/drawingml/2006/main">
              <a:ext uri="{FF2B5EF4-FFF2-40B4-BE49-F238E27FC236}">
                <a16:creationId xmlns:a16="http://schemas.microsoft.com/office/drawing/2014/main" id="{BEABFF20-51A8-4240-9B8F-99B4CDB70DA9}"/>
              </a:ext>
            </a:extLst>
          </p:cNvPr>
          <p:cNvSpPr>
            <a:spLocks xmlns:a="http://schemas.openxmlformats.org/drawingml/2006/main" noGrp="1"/>
          </p:cNvSpPr>
          <p:nvPr/>
        </p:nvSpPr>
        <p:spPr>
          <a:xfrm xmlns:a="http://schemas.openxmlformats.org/drawingml/2006/main">
            <a:off x="5219700" y="1657350"/>
            <a:ext cx="6362700" cy="3114675"/>
          </a:xfrm>
          <a:prstGeom xmlns:a="http://schemas.openxmlformats.org/drawingml/2006/main" prst="rect">
            <a:avLst/>
          </a:prstGeom>
          <a:solidFill xmlns:a="http://schemas.openxmlformats.org/drawingml/2006/main">
            <a:srgbClr val="F4F0E8"/>
          </a:solidFill>
          <a:ln xmlns:a="http://schemas.openxmlformats.org/drawingml/2006/main" w="9525">
            <a:solidFill>
              <a:srgbClr val="C9D1D9"/>
            </a:solidFill>
            <a:prstDash val="solid"/>
          </a:ln>
        </p:spPr>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6e68d26c8e904e0a"/>
          <a:stretch xmlns:a="http://schemas.openxmlformats.org/drawingml/2006/main"/>
        </p:blipFill>
        <p:spPr>
          <a:xfrm xmlns:a="http://schemas.openxmlformats.org/drawingml/2006/main">
            <a:off x="5219700" y="1659361"/>
            <a:ext cx="6362700" cy="3110653"/>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ECAF7B1A-1485-4B4D-A9A0-1D538495C64C}"/>
              </a:ext>
            </a:extLst>
          </p:cNvPr>
          <p:cNvSpPr>
            <a:spLocks xmlns:a="http://schemas.openxmlformats.org/drawingml/2006/main" noGrp="1"/>
          </p:cNvSpPr>
          <p:nvPr/>
        </p:nvSpPr>
        <p:spPr>
          <a:xfrm xmlns:a="http://schemas.openxmlformats.org/drawingml/2006/main">
            <a:off x="5238750" y="4895850"/>
            <a:ext cx="6343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0" i="0">
                <a:solidFill>
                  <a:srgbClr val="667487"/>
                </a:solidFill>
                <a:latin typeface="Arial"/>
                <a:ea typeface="Arial"/>
                <a:cs typeface="Arial"/>
              </a:defRPr>
            </a:pPr>
            <a:r>
              <a:rPr sz="1200" b="0" i="0">
                <a:solidFill>
                  <a:srgbClr val="667487"/>
                </a:solidFill>
                <a:latin typeface="Arial"/>
                <a:ea typeface="Arial"/>
                <a:cs typeface="Arial"/>
              </a:rPr>
              <a:t>The image is the public result summary, not a separate evaluation.</a:t>
            </a:r>
          </a:p>
        </p:txBody>
      </p:sp>
      <p:sp>
        <p:nvSpPr>
          <p:cNvPr id="17" name="">
            <a:extLst xmlns:a="http://schemas.openxmlformats.org/drawingml/2006/main">
              <a:ext uri="{FF2B5EF4-FFF2-40B4-BE49-F238E27FC236}">
                <a16:creationId xmlns:a16="http://schemas.microsoft.com/office/drawing/2014/main" id="{C4958116-BEED-4FA0-98FF-3B429BE833DF}"/>
              </a:ext>
            </a:extLst>
          </p:cNvPr>
          <p:cNvSpPr>
            <a:spLocks xmlns:a="http://schemas.openxmlformats.org/drawingml/2006/main" noGrp="1"/>
          </p:cNvSpPr>
          <p:nvPr/>
        </p:nvSpPr>
        <p:spPr>
          <a:xfrm xmlns:a="http://schemas.openxmlformats.org/drawingml/2006/main">
            <a:off x="5219700" y="5314950"/>
            <a:ext cx="6362700" cy="876300"/>
          </a:xfrm>
          <a:prstGeom xmlns:a="http://schemas.openxmlformats.org/drawingml/2006/main" prst="rect">
            <a:avLst/>
          </a:prstGeom>
          <a:solidFill xmlns:a="http://schemas.openxmlformats.org/drawingml/2006/main">
            <a:srgbClr val="0B172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2BD3FD5-529C-48AA-AAF4-79FACB31A776}"/>
              </a:ext>
            </a:extLst>
          </p:cNvPr>
          <p:cNvSpPr>
            <a:spLocks xmlns:a="http://schemas.openxmlformats.org/drawingml/2006/main" noGrp="1"/>
          </p:cNvSpPr>
          <p:nvPr/>
        </p:nvSpPr>
        <p:spPr>
          <a:xfrm xmlns:a="http://schemas.openxmlformats.org/drawingml/2006/main">
            <a:off x="5476875" y="5495925"/>
            <a:ext cx="58483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6491"/>
          </a:bodyPr>
          <a:lstStyle xmlns:a="http://schemas.openxmlformats.org/drawingml/2006/main"/>
          <a:p xmlns:a="http://schemas.openxmlformats.org/drawingml/2006/main">
            <a:pPr algn="l">
              <a:lnSpc>
                <a:spcPct val="112000"/>
              </a:lnSpc>
              <a:buNone/>
              <a:defRPr sz="1275" b="1" i="0">
                <a:solidFill>
                  <a:srgbClr val="FFFFFF"/>
                </a:solidFill>
                <a:latin typeface="Arial"/>
                <a:ea typeface="Arial"/>
                <a:cs typeface="Arial"/>
              </a:defRPr>
            </a:pPr>
            <a:r>
              <a:rPr sz="1275" b="1" i="0">
                <a:solidFill>
                  <a:srgbClr val="FFFFFF"/>
                </a:solidFill>
                <a:latin typeface="Arial"/>
                <a:ea typeface="Arial"/>
                <a:cs typeface="Arial"/>
              </a:rPr>
              <a:t>Development checkpoint selection only. One sample per task in each arm. Six examples above 500 target cells were excluded. The frozen 400-task pass rate remains 33.25%.</a:t>
            </a:r>
          </a:p>
        </p:txBody>
      </p:sp>
      <p:sp>
        <p:nvSpPr>
          <p:cNvPr id="19" name="">
            <a:extLst xmlns:a="http://schemas.openxmlformats.org/drawingml/2006/main">
              <a:ext uri="{FF2B5EF4-FFF2-40B4-BE49-F238E27FC236}">
                <a16:creationId xmlns:a16="http://schemas.microsoft.com/office/drawing/2014/main" id="{DA6765D9-BB68-4794-AADF-3DD7FABFF701}"/>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20" name="">
            <a:extLst xmlns:a="http://schemas.openxmlformats.org/drawingml/2006/main">
              <a:ext uri="{FF2B5EF4-FFF2-40B4-BE49-F238E27FC236}">
                <a16:creationId xmlns:a16="http://schemas.microsoft.com/office/drawing/2014/main" id="{AC8D2EF5-486B-4267-8ADF-7E9E561BCCE8}"/>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FORMULABENCH  ·  RESEARCH: EXCEL FORMULA GENERATION</a:t>
            </a:r>
          </a:p>
        </p:txBody>
      </p:sp>
      <p:sp>
        <p:nvSpPr>
          <p:cNvPr id="21" name="">
            <a:extLst xmlns:a="http://schemas.openxmlformats.org/drawingml/2006/main">
              <a:ext uri="{FF2B5EF4-FFF2-40B4-BE49-F238E27FC236}">
                <a16:creationId xmlns:a16="http://schemas.microsoft.com/office/drawing/2014/main" id="{ACD0A56F-F6E1-48A0-A295-9FCD392AE9CC}"/>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667487"/>
                </a:solidFill>
                <a:latin typeface="Arial"/>
                <a:ea typeface="Arial"/>
                <a:cs typeface="Arial"/>
              </a:defRPr>
            </a:pPr>
            <a:r>
              <a:rPr sz="900" b="1" i="0">
                <a:solidFill>
                  <a:srgbClr val="667487"/>
                </a:solidFill>
                <a:latin typeface="Arial"/>
                <a:ea typeface="Arial"/>
                <a:cs typeface="Arial"/>
              </a:rPr>
              <a:t>10</a:t>
            </a:r>
          </a:p>
        </p:txBody>
      </p:sp>
    </p:spTree>
    <p:extLst>
      <p:ext uri="{BB962C8B-B14F-4D97-AF65-F5344CB8AC3E}">
        <p14:creationId xmlns:p14="http://schemas.microsoft.com/office/powerpoint/2010/main" val="1998962102"/>
      </p:ext>
    </p:extLst>
  </p:cSld>
</p:sld>
</file>

<file path=ppt/slides/slide11.xml><?xml version="1.0" encoding="utf-8"?>
<p:sld xmlns:p="http://schemas.openxmlformats.org/presentationml/2006/main">
  <p:cSld>
    <p:bg>
      <p:bgPr>
        <a:solidFill xmlns:a="http://schemas.openxmlformats.org/drawingml/2006/main">
          <a:srgbClr val="0B172A"/>
        </a:solidFill>
      </p:bgPr>
    </p:bg>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FA4C20DA-F415-4D65-8BE5-8D24EDCE9EE6}"/>
              </a:ext>
            </a:extLst>
          </p:cNvPr>
          <p:cNvSpPr>
            <a:spLocks xmlns:a="http://schemas.openxmlformats.org/drawingml/2006/main" noGrp="1"/>
          </p:cNvSpPr>
          <p:nvPr/>
        </p:nvSpPr>
        <p:spPr>
          <a:xfrm xmlns:a="http://schemas.openxmlformats.org/drawingml/2006/main">
            <a:off x="609600" y="4286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74317"/>
          </a:bodyPr>
          <a:lstStyle xmlns:a="http://schemas.openxmlformats.org/drawingml/2006/main"/>
          <a:p xmlns:a="http://schemas.openxmlformats.org/drawingml/2006/main">
            <a:pPr algn="l">
              <a:lnSpc>
                <a:spcPct val="105000"/>
              </a:lnSpc>
              <a:buNone/>
              <a:defRPr sz="3300" b="1" i="0">
                <a:solidFill>
                  <a:srgbClr val="FFFFFF"/>
                </a:solidFill>
                <a:latin typeface="Arial"/>
                <a:ea typeface="Arial"/>
                <a:cs typeface="Arial"/>
              </a:defRPr>
            </a:pPr>
            <a:r>
              <a:rPr sz="3300" b="1" i="0">
                <a:solidFill>
                  <a:srgbClr val="FFFFFF"/>
                </a:solidFill>
                <a:latin typeface="Arial"/>
                <a:ea typeface="Arial"/>
                <a:cs typeface="Arial"/>
              </a:rPr>
              <a:t>Next architecture: separate formula generation from large transformations</a:t>
            </a:r>
          </a:p>
        </p:txBody>
      </p:sp>
      <p:sp>
        <p:nvSpPr>
          <p:cNvPr id="2" name="">
            <a:extLst xmlns:a="http://schemas.openxmlformats.org/drawingml/2006/main">
              <a:ext uri="{FF2B5EF4-FFF2-40B4-BE49-F238E27FC236}">
                <a16:creationId xmlns:a16="http://schemas.microsoft.com/office/drawing/2014/main" id="{B4864103-DA55-41A1-AD99-51990685CA1F}"/>
              </a:ext>
            </a:extLst>
          </p:cNvPr>
          <p:cNvSpPr>
            <a:spLocks xmlns:a="http://schemas.openxmlformats.org/drawingml/2006/main" noGrp="1"/>
          </p:cNvSpPr>
          <p:nvPr/>
        </p:nvSpPr>
        <p:spPr>
          <a:xfrm xmlns:a="http://schemas.openxmlformats.org/drawingml/2006/main">
            <a:off x="609600" y="1028700"/>
            <a:ext cx="952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0" i="0">
                <a:solidFill>
                  <a:srgbClr val="AAB6C5"/>
                </a:solidFill>
                <a:latin typeface="Arial"/>
                <a:ea typeface="Arial"/>
                <a:cs typeface="Arial"/>
              </a:defRPr>
            </a:pPr>
            <a:r>
              <a:rPr sz="1725" b="0" i="0">
                <a:solidFill>
                  <a:srgbClr val="AAB6C5"/>
                </a:solidFill>
                <a:latin typeface="Arial"/>
                <a:ea typeface="Arial"/>
                <a:cs typeface="Arial"/>
              </a:rPr>
              <a:t>Formula tasks use the model. Large transformations use fixed operations.</a:t>
            </a:r>
          </a:p>
        </p:txBody>
      </p:sp>
      <p:sp>
        <p:nvSpPr>
          <p:cNvPr id="3" name="">
            <a:extLst xmlns:a="http://schemas.openxmlformats.org/drawingml/2006/main">
              <a:ext uri="{FF2B5EF4-FFF2-40B4-BE49-F238E27FC236}">
                <a16:creationId xmlns:a16="http://schemas.microsoft.com/office/drawing/2014/main" id="{606C2841-0DCD-4200-9229-1A1870927506}"/>
              </a:ext>
            </a:extLst>
          </p:cNvPr>
          <p:cNvSpPr>
            <a:spLocks xmlns:a="http://schemas.openxmlformats.org/drawingml/2006/main" noGrp="1"/>
          </p:cNvSpPr>
          <p:nvPr/>
        </p:nvSpPr>
        <p:spPr>
          <a:xfrm xmlns:a="http://schemas.openxmlformats.org/drawingml/2006/main">
            <a:off x="609600" y="1847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125" b="1" i="0">
                <a:solidFill>
                  <a:srgbClr val="35C47A"/>
                </a:solidFill>
                <a:latin typeface="Arial"/>
                <a:ea typeface="Arial"/>
                <a:cs typeface="Arial"/>
              </a:defRPr>
            </a:pPr>
            <a:r>
              <a:rPr sz="1125" b="1" i="0">
                <a:solidFill>
                  <a:srgbClr val="35C47A"/>
                </a:solidFill>
                <a:latin typeface="Arial"/>
                <a:ea typeface="Arial"/>
                <a:cs typeface="Arial"/>
              </a:rPr>
              <a:t>FORMULA TASKS</a:t>
            </a:r>
          </a:p>
        </p:txBody>
      </p:sp>
      <p:sp>
        <p:nvSpPr>
          <p:cNvPr id="4" name="">
            <a:extLst xmlns:a="http://schemas.openxmlformats.org/drawingml/2006/main">
              <a:ext uri="{FF2B5EF4-FFF2-40B4-BE49-F238E27FC236}">
                <a16:creationId xmlns:a16="http://schemas.microsoft.com/office/drawing/2014/main" id="{C4E7BBAE-4A92-44FF-90F6-42BBD1BB0E36}"/>
              </a:ext>
            </a:extLst>
          </p:cNvPr>
          <p:cNvSpPr>
            <a:spLocks xmlns:a="http://schemas.openxmlformats.org/drawingml/2006/main" noGrp="1"/>
          </p:cNvSpPr>
          <p:nvPr/>
        </p:nvSpPr>
        <p:spPr>
          <a:xfrm xmlns:a="http://schemas.openxmlformats.org/drawingml/2006/main">
            <a:off x="609600" y="2247900"/>
            <a:ext cx="447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325" b="1" i="0">
                <a:solidFill>
                  <a:srgbClr val="FFFFFF"/>
                </a:solidFill>
                <a:latin typeface="Arial"/>
                <a:ea typeface="Arial"/>
                <a:cs typeface="Arial"/>
              </a:defRPr>
            </a:pPr>
            <a:r>
              <a:rPr sz="2325" b="1" i="0">
                <a:solidFill>
                  <a:srgbClr val="FFFFFF"/>
                </a:solidFill>
                <a:latin typeface="Arial"/>
                <a:ea typeface="Arial"/>
                <a:cs typeface="Arial"/>
              </a:rPr>
              <a:t>Generate a formula</a:t>
            </a:r>
          </a:p>
        </p:txBody>
      </p:sp>
      <p:sp>
        <p:nvSpPr>
          <p:cNvPr id="5" name="">
            <a:extLst xmlns:a="http://schemas.openxmlformats.org/drawingml/2006/main">
              <a:ext uri="{FF2B5EF4-FFF2-40B4-BE49-F238E27FC236}">
                <a16:creationId xmlns:a16="http://schemas.microsoft.com/office/drawing/2014/main" id="{87B1F82B-F9D9-445B-9CDC-5E63068F8AF9}"/>
              </a:ext>
            </a:extLst>
          </p:cNvPr>
          <p:cNvSpPr>
            <a:spLocks xmlns:a="http://schemas.openxmlformats.org/drawingml/2006/main" noGrp="1"/>
          </p:cNvSpPr>
          <p:nvPr/>
        </p:nvSpPr>
        <p:spPr>
          <a:xfrm xmlns:a="http://schemas.openxmlformats.org/drawingml/2006/main">
            <a:off x="609600" y="2819400"/>
            <a:ext cx="4572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75" b="0" i="0">
                <a:solidFill>
                  <a:srgbClr val="C6D2DF"/>
                </a:solidFill>
                <a:latin typeface="Arial"/>
                <a:ea typeface="Arial"/>
                <a:cs typeface="Arial"/>
              </a:defRPr>
            </a:pPr>
            <a:r>
              <a:rPr sz="1575" b="0" i="0">
                <a:solidFill>
                  <a:srgbClr val="C6D2DF"/>
                </a:solidFill>
                <a:latin typeface="Arial"/>
                <a:ea typeface="Arial"/>
                <a:cs typeface="Arial"/>
              </a:rPr>
              <a:t>Recalculate locally and run task-specific checks before publishing the workbook.</a:t>
            </a:r>
          </a:p>
        </p:txBody>
      </p:sp>
      <p:sp>
        <p:nvSpPr>
          <p:cNvPr id="6" name="">
            <a:extLst xmlns:a="http://schemas.openxmlformats.org/drawingml/2006/main">
              <a:ext uri="{FF2B5EF4-FFF2-40B4-BE49-F238E27FC236}">
                <a16:creationId xmlns:a16="http://schemas.microsoft.com/office/drawing/2014/main" id="{5B17A3D4-F5EB-423E-B896-0A2C21C1700F}"/>
              </a:ext>
            </a:extLst>
          </p:cNvPr>
          <p:cNvSpPr>
            <a:spLocks xmlns:a="http://schemas.openxmlformats.org/drawingml/2006/main" noGrp="1"/>
          </p:cNvSpPr>
          <p:nvPr/>
        </p:nvSpPr>
        <p:spPr>
          <a:xfrm xmlns:a="http://schemas.openxmlformats.org/drawingml/2006/main">
            <a:off x="6343650" y="184785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125" b="1" i="0">
                <a:solidFill>
                  <a:srgbClr val="35C47A"/>
                </a:solidFill>
                <a:latin typeface="Arial"/>
                <a:ea typeface="Arial"/>
                <a:cs typeface="Arial"/>
              </a:defRPr>
            </a:pPr>
            <a:r>
              <a:rPr sz="1125" b="1" i="0">
                <a:solidFill>
                  <a:srgbClr val="35C47A"/>
                </a:solidFill>
                <a:latin typeface="Arial"/>
                <a:ea typeface="Arial"/>
                <a:cs typeface="Arial"/>
              </a:rPr>
              <a:t>LARGE TRANSFORMATIONS</a:t>
            </a:r>
          </a:p>
        </p:txBody>
      </p:sp>
      <p:sp>
        <p:nvSpPr>
          <p:cNvPr id="7" name="">
            <a:extLst xmlns:a="http://schemas.openxmlformats.org/drawingml/2006/main">
              <a:ext uri="{FF2B5EF4-FFF2-40B4-BE49-F238E27FC236}">
                <a16:creationId xmlns:a16="http://schemas.microsoft.com/office/drawing/2014/main" id="{350FDCED-532E-4C9E-9579-1867F7DA6A39}"/>
              </a:ext>
            </a:extLst>
          </p:cNvPr>
          <p:cNvSpPr>
            <a:spLocks xmlns:a="http://schemas.openxmlformats.org/drawingml/2006/main" noGrp="1"/>
          </p:cNvSpPr>
          <p:nvPr/>
        </p:nvSpPr>
        <p:spPr>
          <a:xfrm xmlns:a="http://schemas.openxmlformats.org/drawingml/2006/main">
            <a:off x="6343650" y="2247900"/>
            <a:ext cx="476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325" b="1" i="0">
                <a:solidFill>
                  <a:srgbClr val="FFFFFF"/>
                </a:solidFill>
                <a:latin typeface="Arial"/>
                <a:ea typeface="Arial"/>
                <a:cs typeface="Arial"/>
              </a:defRPr>
            </a:pPr>
            <a:r>
              <a:rPr sz="2325" b="1" i="0">
                <a:solidFill>
                  <a:srgbClr val="FFFFFF"/>
                </a:solidFill>
                <a:latin typeface="Arial"/>
                <a:ea typeface="Arial"/>
                <a:cs typeface="Arial"/>
              </a:rPr>
              <a:t>Apply a fixed operation</a:t>
            </a:r>
          </a:p>
        </p:txBody>
      </p:sp>
      <p:sp>
        <p:nvSpPr>
          <p:cNvPr id="8" name="">
            <a:extLst xmlns:a="http://schemas.openxmlformats.org/drawingml/2006/main">
              <a:ext uri="{FF2B5EF4-FFF2-40B4-BE49-F238E27FC236}">
                <a16:creationId xmlns:a16="http://schemas.microsoft.com/office/drawing/2014/main" id="{489CFEDD-80F8-4368-8B3C-58B14C46A5EE}"/>
              </a:ext>
            </a:extLst>
          </p:cNvPr>
          <p:cNvSpPr>
            <a:spLocks xmlns:a="http://schemas.openxmlformats.org/drawingml/2006/main" noGrp="1"/>
          </p:cNvSpPr>
          <p:nvPr/>
        </p:nvSpPr>
        <p:spPr>
          <a:xfrm xmlns:a="http://schemas.openxmlformats.org/drawingml/2006/main">
            <a:off x="6343650" y="281940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75" b="0" i="0">
                <a:solidFill>
                  <a:srgbClr val="C6D2DF"/>
                </a:solidFill>
                <a:latin typeface="Arial"/>
                <a:ea typeface="Arial"/>
                <a:cs typeface="Arial"/>
              </a:defRPr>
            </a:pPr>
            <a:r>
              <a:rPr sz="1575" b="0" i="0">
                <a:solidFill>
                  <a:srgbClr val="C6D2DF"/>
                </a:solidFill>
                <a:latin typeface="Arial"/>
                <a:ea typeface="Arial"/>
                <a:cs typeface="Arial"/>
              </a:rPr>
              <a:t>Use rule-based code for filtering, sorting, appending, grouping, deduplicating and clearing.</a:t>
            </a:r>
          </a:p>
        </p:txBody>
      </p:sp>
      <p:sp>
        <p:nvSpPr>
          <p:cNvPr id="9" name="">
            <a:extLst xmlns:a="http://schemas.openxmlformats.org/drawingml/2006/main">
              <a:ext uri="{FF2B5EF4-FFF2-40B4-BE49-F238E27FC236}">
                <a16:creationId xmlns:a16="http://schemas.microsoft.com/office/drawing/2014/main" id="{760EDB80-77DE-4B5D-9A86-3518FC44AA27}"/>
              </a:ext>
            </a:extLst>
          </p:cNvPr>
          <p:cNvSpPr>
            <a:spLocks xmlns:a="http://schemas.openxmlformats.org/drawingml/2006/main" noGrp="1"/>
          </p:cNvSpPr>
          <p:nvPr/>
        </p:nvSpPr>
        <p:spPr>
          <a:xfrm xmlns:a="http://schemas.openxmlformats.org/drawingml/2006/main">
            <a:off x="5772150" y="1790700"/>
            <a:ext cx="0" cy="2000250"/>
          </a:xfrm>
          <a:prstGeom xmlns:a="http://schemas.openxmlformats.org/drawingml/2006/main" prst="line">
            <a:avLst/>
          </a:prstGeom>
          <a:noFill xmlns:a="http://schemas.openxmlformats.org/drawingml/2006/main"/>
          <a:ln xmlns:a="http://schemas.openxmlformats.org/drawingml/2006/main" w="9525">
            <a:solidFill>
              <a:srgbClr val="344257"/>
            </a:solidFill>
            <a:prstDash val="solid"/>
          </a:ln>
        </p:spPr>
      </p:sp>
      <p:sp>
        <p:nvSpPr>
          <p:cNvPr id="10" name="">
            <a:extLst xmlns:a="http://schemas.openxmlformats.org/drawingml/2006/main">
              <a:ext uri="{FF2B5EF4-FFF2-40B4-BE49-F238E27FC236}">
                <a16:creationId xmlns:a16="http://schemas.microsoft.com/office/drawing/2014/main" id="{74D887C8-8311-4D53-ADBE-FAC4F631696F}"/>
              </a:ext>
            </a:extLst>
          </p:cNvPr>
          <p:cNvSpPr>
            <a:spLocks xmlns:a="http://schemas.openxmlformats.org/drawingml/2006/main" noGrp="1"/>
          </p:cNvSpPr>
          <p:nvPr/>
        </p:nvSpPr>
        <p:spPr>
          <a:xfrm xmlns:a="http://schemas.openxmlformats.org/drawingml/2006/main">
            <a:off x="609600" y="4238625"/>
            <a:ext cx="10972800" cy="1409700"/>
          </a:xfrm>
          <a:prstGeom xmlns:a="http://schemas.openxmlformats.org/drawingml/2006/main" prst="rect">
            <a:avLst/>
          </a:prstGeom>
          <a:solidFill xmlns:a="http://schemas.openxmlformats.org/drawingml/2006/main">
            <a:srgbClr val="13243B"/>
          </a:solidFill>
          <a:ln xmlns:a="http://schemas.openxmlformats.org/drawingml/2006/main" w="9525">
            <a:solidFill>
              <a:srgbClr val="344257"/>
            </a:solidFill>
            <a:prstDash val="solid"/>
          </a:ln>
        </p:spPr>
      </p:sp>
      <p:sp>
        <p:nvSpPr>
          <p:cNvPr id="11" name="">
            <a:extLst xmlns:a="http://schemas.openxmlformats.org/drawingml/2006/main">
              <a:ext uri="{FF2B5EF4-FFF2-40B4-BE49-F238E27FC236}">
                <a16:creationId xmlns:a16="http://schemas.microsoft.com/office/drawing/2014/main" id="{8FFAE56F-FE1E-49D1-BB1B-2FA93A2DB8AA}"/>
              </a:ext>
            </a:extLst>
          </p:cNvPr>
          <p:cNvSpPr>
            <a:spLocks xmlns:a="http://schemas.openxmlformats.org/drawingml/2006/main" noGrp="1"/>
          </p:cNvSpPr>
          <p:nvPr/>
        </p:nvSpPr>
        <p:spPr>
          <a:xfrm xmlns:a="http://schemas.openxmlformats.org/drawingml/2006/main">
            <a:off x="876300" y="4476750"/>
            <a:ext cx="247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1" i="0">
                <a:solidFill>
                  <a:srgbClr val="35C47A"/>
                </a:solidFill>
                <a:latin typeface="Arial"/>
                <a:ea typeface="Arial"/>
                <a:cs typeface="Arial"/>
              </a:defRPr>
            </a:pPr>
            <a:r>
              <a:rPr sz="1050" b="1" i="0">
                <a:solidFill>
                  <a:srgbClr val="35C47A"/>
                </a:solidFill>
                <a:latin typeface="Arial"/>
                <a:ea typeface="Arial"/>
                <a:cs typeface="Arial"/>
              </a:rPr>
              <a:t>LIVE RESEARCH DEMO</a:t>
            </a:r>
          </a:p>
        </p:txBody>
      </p:sp>
      <p:sp>
        <p:nvSpPr>
          <p:cNvPr id="12" name="">
            <a:extLst xmlns:a="http://schemas.openxmlformats.org/drawingml/2006/main">
              <a:ext uri="{FF2B5EF4-FFF2-40B4-BE49-F238E27FC236}">
                <a16:creationId xmlns:a16="http://schemas.microsoft.com/office/drawing/2014/main" id="{7E00ED1F-D770-41D0-810B-5A25AF149396}"/>
              </a:ext>
            </a:extLst>
          </p:cNvPr>
          <p:cNvSpPr>
            <a:spLocks xmlns:a="http://schemas.openxmlformats.org/drawingml/2006/main" noGrp="1"/>
          </p:cNvSpPr>
          <p:nvPr/>
        </p:nvSpPr>
        <p:spPr>
          <a:xfrm xmlns:a="http://schemas.openxmlformats.org/drawingml/2006/main">
            <a:off x="876300" y="4810125"/>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725" b="1" i="0">
                <a:solidFill>
                  <a:srgbClr val="FFFFFF"/>
                </a:solidFill>
                <a:latin typeface="Arial"/>
                <a:ea typeface="Arial"/>
                <a:cs typeface="Arial"/>
              </a:defRPr>
            </a:pPr>
            <a:r>
              <a:rPr sz="1725" b="1" i="0">
                <a:solidFill>
                  <a:srgbClr val="FFFFFF"/>
                </a:solidFill>
                <a:latin typeface="Arial"/>
                <a:ea typeface="Arial"/>
                <a:cs typeface="Arial"/>
                <a:hlinkClick xmlns:r="http://schemas.openxmlformats.org/officeDocument/2006/relationships" r:id="Rba486f294a474caf"/>
              </a:rPr>
              <a:t>masterasnackin.github.io/FormulaBench/</a:t>
            </a:r>
          </a:p>
        </p:txBody>
      </p:sp>
      <p:sp>
        <p:nvSpPr>
          <p:cNvPr id="13" name="">
            <a:extLst xmlns:a="http://schemas.openxmlformats.org/drawingml/2006/main">
              <a:ext uri="{FF2B5EF4-FFF2-40B4-BE49-F238E27FC236}">
                <a16:creationId xmlns:a16="http://schemas.microsoft.com/office/drawing/2014/main" id="{C7129F43-6B1D-4993-9E98-40FB58A94850}"/>
              </a:ext>
            </a:extLst>
          </p:cNvPr>
          <p:cNvSpPr>
            <a:spLocks xmlns:a="http://schemas.openxmlformats.org/drawingml/2006/main" noGrp="1"/>
          </p:cNvSpPr>
          <p:nvPr/>
        </p:nvSpPr>
        <p:spPr>
          <a:xfrm xmlns:a="http://schemas.openxmlformats.org/drawingml/2006/main">
            <a:off x="7239000" y="4476750"/>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1" i="0">
                <a:solidFill>
                  <a:srgbClr val="35C47A"/>
                </a:solidFill>
                <a:latin typeface="Arial"/>
                <a:ea typeface="Arial"/>
                <a:cs typeface="Arial"/>
              </a:defRPr>
            </a:pPr>
            <a:r>
              <a:rPr sz="1050" b="1" i="0">
                <a:solidFill>
                  <a:srgbClr val="35C47A"/>
                </a:solidFill>
                <a:latin typeface="Arial"/>
                <a:ea typeface="Arial"/>
                <a:cs typeface="Arial"/>
              </a:rPr>
              <a:t>PUBLIC REPOSITORY</a:t>
            </a:r>
          </a:p>
        </p:txBody>
      </p:sp>
      <p:sp>
        <p:nvSpPr>
          <p:cNvPr id="14" name="">
            <a:extLst xmlns:a="http://schemas.openxmlformats.org/drawingml/2006/main">
              <a:ext uri="{FF2B5EF4-FFF2-40B4-BE49-F238E27FC236}">
                <a16:creationId xmlns:a16="http://schemas.microsoft.com/office/drawing/2014/main" id="{90450E14-48DB-4B1D-954D-BA25B5004995}"/>
              </a:ext>
            </a:extLst>
          </p:cNvPr>
          <p:cNvSpPr>
            <a:spLocks xmlns:a="http://schemas.openxmlformats.org/drawingml/2006/main" noGrp="1"/>
          </p:cNvSpPr>
          <p:nvPr/>
        </p:nvSpPr>
        <p:spPr>
          <a:xfrm xmlns:a="http://schemas.openxmlformats.org/drawingml/2006/main">
            <a:off x="7239000" y="4810125"/>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FFFFFF"/>
                </a:solidFill>
                <a:latin typeface="Arial"/>
                <a:ea typeface="Arial"/>
                <a:cs typeface="Arial"/>
              </a:defRPr>
            </a:pPr>
            <a:r>
              <a:rPr sz="1350" b="1" i="0">
                <a:solidFill>
                  <a:srgbClr val="FFFFFF"/>
                </a:solidFill>
                <a:latin typeface="Arial"/>
                <a:ea typeface="Arial"/>
                <a:cs typeface="Arial"/>
                <a:hlinkClick xmlns:r="http://schemas.openxmlformats.org/officeDocument/2006/relationships" r:id="R86d384fec8fd49da"/>
              </a:rPr>
              <a:t>github.com/MasteraSnackin/FormulaBench</a:t>
            </a:r>
          </a:p>
        </p:txBody>
      </p:sp>
      <p:sp>
        <p:nvSpPr>
          <p:cNvPr id="15" name="">
            <a:extLst xmlns:a="http://schemas.openxmlformats.org/drawingml/2006/main">
              <a:ext uri="{FF2B5EF4-FFF2-40B4-BE49-F238E27FC236}">
                <a16:creationId xmlns:a16="http://schemas.microsoft.com/office/drawing/2014/main" id="{18C7BE28-6CB0-4655-A0FB-A04BBF37EC26}"/>
              </a:ext>
            </a:extLst>
          </p:cNvPr>
          <p:cNvSpPr>
            <a:spLocks xmlns:a="http://schemas.openxmlformats.org/drawingml/2006/main" noGrp="1"/>
          </p:cNvSpPr>
          <p:nvPr/>
        </p:nvSpPr>
        <p:spPr>
          <a:xfrm xmlns:a="http://schemas.openxmlformats.org/drawingml/2006/main">
            <a:off x="609600" y="5962650"/>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425" b="0" i="0">
                <a:solidFill>
                  <a:srgbClr val="AAB6C5"/>
                </a:solidFill>
                <a:latin typeface="Arial"/>
                <a:ea typeface="Arial"/>
                <a:cs typeface="Arial"/>
              </a:defRPr>
            </a:pPr>
            <a:r>
              <a:rPr sz="1425" b="0" i="0">
                <a:solidFill>
                  <a:srgbClr val="AAB6C5"/>
                </a:solidFill>
                <a:latin typeface="Arial"/>
                <a:ea typeface="Arial"/>
                <a:cs typeface="Arial"/>
              </a:rPr>
              <a:t>The organiser's private benchmark is the unseen evaluation.</a:t>
            </a:r>
          </a:p>
        </p:txBody>
      </p:sp>
      <p:sp>
        <p:nvSpPr>
          <p:cNvPr id="16" name="">
            <a:extLst xmlns:a="http://schemas.openxmlformats.org/drawingml/2006/main">
              <a:ext uri="{FF2B5EF4-FFF2-40B4-BE49-F238E27FC236}">
                <a16:creationId xmlns:a16="http://schemas.microsoft.com/office/drawing/2014/main" id="{D5340E2C-45F5-4471-824C-07AD6A8F3877}"/>
              </a:ext>
            </a:extLst>
          </p:cNvPr>
          <p:cNvSpPr>
            <a:spLocks xmlns:a="http://schemas.openxmlformats.org/drawingml/2006/main" noGrp="1"/>
          </p:cNvSpPr>
          <p:nvPr/>
        </p:nvSpPr>
        <p:spPr>
          <a:xfrm xmlns:a="http://schemas.openxmlformats.org/drawingml/2006/main">
            <a:off x="609600" y="6429375"/>
            <a:ext cx="10972800" cy="0"/>
          </a:xfrm>
          <a:prstGeom xmlns:a="http://schemas.openxmlformats.org/drawingml/2006/main" prst="line">
            <a:avLst/>
          </a:prstGeom>
          <a:noFill xmlns:a="http://schemas.openxmlformats.org/drawingml/2006/main"/>
          <a:ln xmlns:a="http://schemas.openxmlformats.org/drawingml/2006/main" w="9525">
            <a:solidFill>
              <a:srgbClr val="344257"/>
            </a:solidFill>
            <a:prstDash val="solid"/>
          </a:ln>
        </p:spPr>
      </p:sp>
      <p:sp>
        <p:nvSpPr>
          <p:cNvPr id="17" name="">
            <a:extLst xmlns:a="http://schemas.openxmlformats.org/drawingml/2006/main">
              <a:ext uri="{FF2B5EF4-FFF2-40B4-BE49-F238E27FC236}">
                <a16:creationId xmlns:a16="http://schemas.microsoft.com/office/drawing/2014/main" id="{198DF912-0D27-448E-9A1E-F3406CAC15A9}"/>
              </a:ext>
            </a:extLst>
          </p:cNvPr>
          <p:cNvSpPr>
            <a:spLocks xmlns:a="http://schemas.openxmlformats.org/drawingml/2006/main" noGrp="1"/>
          </p:cNvSpPr>
          <p:nvPr/>
        </p:nvSpPr>
        <p:spPr>
          <a:xfrm xmlns:a="http://schemas.openxmlformats.org/drawingml/2006/main">
            <a:off x="609600" y="6553200"/>
            <a:ext cx="619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900" b="1" i="0">
                <a:solidFill>
                  <a:srgbClr val="AAB6C5"/>
                </a:solidFill>
                <a:latin typeface="Arial"/>
                <a:ea typeface="Arial"/>
                <a:cs typeface="Arial"/>
              </a:defRPr>
            </a:pPr>
            <a:r>
              <a:rPr sz="900" b="1" i="0">
                <a:solidFill>
                  <a:srgbClr val="AAB6C5"/>
                </a:solidFill>
                <a:latin typeface="Arial"/>
                <a:ea typeface="Arial"/>
                <a:cs typeface="Arial"/>
              </a:rPr>
              <a:t>FORMULABENCH  ·  RESEARCH: EXCEL FORMULA GENERATION</a:t>
            </a:r>
          </a:p>
        </p:txBody>
      </p:sp>
      <p:sp>
        <p:nvSpPr>
          <p:cNvPr id="18" name="">
            <a:extLst xmlns:a="http://schemas.openxmlformats.org/drawingml/2006/main">
              <a:ext uri="{FF2B5EF4-FFF2-40B4-BE49-F238E27FC236}">
                <a16:creationId xmlns:a16="http://schemas.microsoft.com/office/drawing/2014/main" id="{FFFB0801-FD2E-4EAC-905B-0BAFDF20B4D7}"/>
              </a:ext>
            </a:extLst>
          </p:cNvPr>
          <p:cNvSpPr>
            <a:spLocks xmlns:a="http://schemas.openxmlformats.org/drawingml/2006/main" noGrp="1"/>
          </p:cNvSpPr>
          <p:nvPr/>
        </p:nvSpPr>
        <p:spPr>
          <a:xfrm xmlns:a="http://schemas.openxmlformats.org/drawingml/2006/main">
            <a:off x="11049000" y="65532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5000"/>
              </a:lnSpc>
              <a:buNone/>
              <a:defRPr sz="900" b="1" i="0">
                <a:solidFill>
                  <a:srgbClr val="AAB6C5"/>
                </a:solidFill>
                <a:latin typeface="Arial"/>
                <a:ea typeface="Arial"/>
                <a:cs typeface="Arial"/>
              </a:defRPr>
            </a:pPr>
            <a:r>
              <a:rPr sz="900" b="1" i="0">
                <a:solidFill>
                  <a:srgbClr val="AAB6C5"/>
                </a:solidFill>
                <a:latin typeface="Arial"/>
                <a:ea typeface="Arial"/>
                <a:cs typeface="Arial"/>
              </a:rPr>
              <a:t>11</a:t>
            </a:r>
          </a:p>
        </p:txBody>
      </p:sp>
    </p:spTree>
    <p:extLst>
      <p:ext uri="{BB962C8B-B14F-4D97-AF65-F5344CB8AC3E}">
        <p14:creationId xmlns:p14="http://schemas.microsoft.com/office/powerpoint/2010/main" val="15353646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2026-09-06T05:33:03.7080000Z</dcterms:created>
  <dcterms:modified xsi:type="dcterms:W3CDTF">2026-09-06T05:33:03.7080000Z</dcterms:modified>
</coreProperties>
</file>