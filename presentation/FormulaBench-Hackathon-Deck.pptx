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b4d3567e9d40a1" /><Relationship Type="http://schemas.openxmlformats.org/officeDocument/2006/relationships/extended-properties" Target="/docProps/app.xml" Id="R3b3bd090b3bc4f91" /><Relationship Type="http://schemas.openxmlformats.org/officeDocument/2006/relationships/officeDocument" Target="/ppt/presentation.xml" Id="R608dba360cb547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d72be0e2f34910"/>
  </p:sldMasterIdLst>
  <p:notesMasterIdLst>
    <p:notesMasterId xmlns:r="http://schemas.openxmlformats.org/officeDocument/2006/relationships" r:id="R9223448c2e444314"/>
  </p:notesMasterIdLst>
  <p:sldIdLst>
    <p:sldId xmlns:r="http://schemas.openxmlformats.org/officeDocument/2006/relationships" id="256" r:id="Rb55a06d4e8f241bc"/>
    <p:sldId xmlns:r="http://schemas.openxmlformats.org/officeDocument/2006/relationships" id="257" r:id="Re9154dacb32b46a1"/>
    <p:sldId xmlns:r="http://schemas.openxmlformats.org/officeDocument/2006/relationships" id="258" r:id="R8a8a0b263f8744bd"/>
    <p:sldId xmlns:r="http://schemas.openxmlformats.org/officeDocument/2006/relationships" id="259" r:id="R05c4f45d81d44bd8"/>
    <p:sldId xmlns:r="http://schemas.openxmlformats.org/officeDocument/2006/relationships" id="260" r:id="R36c8c0fa356348cf"/>
    <p:sldId xmlns:r="http://schemas.openxmlformats.org/officeDocument/2006/relationships" id="261" r:id="Re4221fb2741f4e77"/>
    <p:sldId xmlns:r="http://schemas.openxmlformats.org/officeDocument/2006/relationships" id="262" r:id="R14c0065a2de74602"/>
    <p:sldId xmlns:r="http://schemas.openxmlformats.org/officeDocument/2006/relationships" id="263" r:id="R048f529c53e24f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bcd24361f64d09" /><Relationship Type="http://schemas.openxmlformats.org/officeDocument/2006/relationships/slideMaster" Target="/ppt/slideMasters/slideMaster1.xml" Id="R9fd72be0e2f34910" /><Relationship Type="http://schemas.openxmlformats.org/officeDocument/2006/relationships/notesMaster" Target="/ppt/notesMasters/notesMaster1.xml" Id="R9223448c2e444314" /><Relationship Type="http://schemas.openxmlformats.org/officeDocument/2006/relationships/presProps" Target="/ppt/presProps.xml" Id="Rf7406974e0854c16" /><Relationship Type="http://schemas.openxmlformats.org/officeDocument/2006/relationships/tableStyles" Target="/ppt/tableStyles.xml" Id="R1725f4a1dc614e98" /><Relationship Type="http://schemas.openxmlformats.org/officeDocument/2006/relationships/slide" Target="/ppt/slides/slide1.xml" Id="Rb55a06d4e8f241bc" /><Relationship Type="http://schemas.openxmlformats.org/officeDocument/2006/relationships/slide" Target="/ppt/slides/slide2.xml" Id="Re9154dacb32b46a1" /><Relationship Type="http://schemas.openxmlformats.org/officeDocument/2006/relationships/slide" Target="/ppt/slides/slide3.xml" Id="R8a8a0b263f8744bd" /><Relationship Type="http://schemas.openxmlformats.org/officeDocument/2006/relationships/slide" Target="/ppt/slides/slide4.xml" Id="R05c4f45d81d44bd8" /><Relationship Type="http://schemas.openxmlformats.org/officeDocument/2006/relationships/slide" Target="/ppt/slides/slide5.xml" Id="R36c8c0fa356348cf" /><Relationship Type="http://schemas.openxmlformats.org/officeDocument/2006/relationships/slide" Target="/ppt/slides/slide6.xml" Id="Re4221fb2741f4e77" /><Relationship Type="http://schemas.openxmlformats.org/officeDocument/2006/relationships/slide" Target="/ppt/slides/slide7.xml" Id="R14c0065a2de74602" /><Relationship Type="http://schemas.openxmlformats.org/officeDocument/2006/relationships/slide" Target="/ppt/slides/slide8.xml" Id="R048f529c53e24f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61fc649c7a4b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860a50704f4c39" /><Relationship Type="http://schemas.openxmlformats.org/officeDocument/2006/relationships/notesMaster" Target="/ppt/notesMasters/notesMaster1.xml" Id="Rb0dd15eda0e447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35c24481cf4e98" /><Relationship Type="http://schemas.openxmlformats.org/officeDocument/2006/relationships/notesMaster" Target="/ppt/notesMasters/notesMaster1.xml" Id="R0601e99e9b3d40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ca350473b9488c" /><Relationship Type="http://schemas.openxmlformats.org/officeDocument/2006/relationships/notesMaster" Target="/ppt/notesMasters/notesMaster1.xml" Id="R6cebc0ec3f7d49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cf978b2d424256" /><Relationship Type="http://schemas.openxmlformats.org/officeDocument/2006/relationships/notesMaster" Target="/ppt/notesMasters/notesMaster1.xml" Id="R1cc72efe76dd4f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3d39d4e0c14950" /><Relationship Type="http://schemas.openxmlformats.org/officeDocument/2006/relationships/notesMaster" Target="/ppt/notesMasters/notesMaster1.xml" Id="R62ee862004c647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321f6d531e424a" /><Relationship Type="http://schemas.openxmlformats.org/officeDocument/2006/relationships/notesMaster" Target="/ppt/notesMasters/notesMaster1.xml" Id="Re364cacbd8f940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b501c2537c481b" /><Relationship Type="http://schemas.openxmlformats.org/officeDocument/2006/relationships/notesMaster" Target="/ppt/notesMasters/notesMaster1.xml" Id="R398f3651908f4b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af3364fc1a4f6e" /><Relationship Type="http://schemas.openxmlformats.org/officeDocument/2006/relationships/notesMaster" Target="/ppt/notesMasters/notesMaster1.xml" Id="R303107a2e86240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https://github.com/MasteraSnackin/FormulaBench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SUBMISSION.md</a:t>
            </a:r>
          </a:p>
          <a:p xmlns:a="http://schemas.openxmlformats.org/drawingml/2006/main">
            <a:r>
              <a:t>The formula shown on the cover is an illustrative Excel formula, not a benchmark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sections Description and Features</a:t>
            </a:r>
          </a:p>
          <a:p xmlns:a="http://schemas.openxmlformats.org/drawingml/2006/main">
            <a:r>
              <a:t>SUBMISSION.md section What we built and why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Architecture Overview, Features and Tech Stack</a:t>
            </a:r>
          </a:p>
          <a:p xmlns:a="http://schemas.openxmlformats.org/drawingml/2006/main">
            <a:r>
              <a:t>SUBMISSION.md What we built and why</a:t>
            </a:r>
          </a:p>
          <a:p xmlns:a="http://schemas.openxmlformats.org/drawingml/2006/main">
            <a:r>
              <a:t>formulabench/context.py</a:t>
            </a:r>
          </a:p>
          <a:p xmlns:a="http://schemas.openxmlformats.org/drawingml/2006/main">
            <a:r>
              <a:t>formulabench/provider.py</a:t>
            </a:r>
          </a:p>
          <a:p xmlns:a="http://schemas.openxmlformats.org/drawingml/2006/main">
            <a:r>
              <a:t>formulabench/contract.py</a:t>
            </a:r>
          </a:p>
          <a:p xmlns:a="http://schemas.openxmlformats.org/drawingml/2006/main">
            <a:r>
              <a:t>formulabench/artifacts.py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Features</a:t>
            </a:r>
          </a:p>
          <a:p xmlns:a="http://schemas.openxmlformats.org/drawingml/2006/main">
            <a:r>
              <a:t>SUBMISSION.md What we built and why</a:t>
            </a:r>
          </a:p>
          <a:p xmlns:a="http://schemas.openxmlformats.org/drawingml/2006/main">
            <a:r>
              <a:t>formulabench/contract.py</a:t>
            </a:r>
          </a:p>
          <a:p xmlns:a="http://schemas.openxmlformats.org/drawingml/2006/main">
            <a:r>
              <a:t>formulabench/artifacts.py</a:t>
            </a:r>
          </a:p>
          <a:p xmlns:a="http://schemas.openxmlformats.org/drawingml/2006/main">
            <a:r>
              <a:t>experiments/public_benchmark_audit.json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SHA-256 c1e6fb6b540bb7272f4c537773e2a4826dd649d882c9b7fb549df9bccc66be0d</a:t>
            </a:r>
          </a:p>
          <a:p xmlns:a="http://schemas.openxmlformats.org/drawingml/2006/main">
            <a:r>
              <a:t>SUBMISSION.md section Our run on the 400</a:t>
            </a:r>
          </a:p>
          <a:p xmlns:a="http://schemas.openxmlformats.org/drawingml/2006/main">
            <a:r>
              <a:t>Public self-evaluation totals: 400 evaluated tasks, 133 passes, 297,882 target cells, 120,824 correct cells, no missing tasks and no evaluator errors.</a:t>
            </a:r>
          </a:p>
          <a:p xmlns:a="http://schemas.openxmlformats.org/drawingml/2006/main">
            <a:r>
              <a:t>FormulaBench produced this result locally with the organiser-supplied evaluator. The organisers have not certified the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experiments/README.md section Failure analysis</a:t>
            </a:r>
          </a:p>
          <a:p xmlns:a="http://schemas.openxmlformats.org/drawingml/2006/main">
            <a:r>
              <a:t>submissions/formulabench/results.json</a:t>
            </a:r>
          </a:p>
          <a:p xmlns:a="http://schemas.openxmlformats.org/drawingml/2006/main">
            <a:r>
              <a:t>submissions/formulabench/predictions.jsonl</a:t>
            </a:r>
          </a:p>
          <a:p xmlns:a="http://schemas.openxmlformats.org/drawingml/2006/main">
            <a:r>
              <a:t>submissions/formulabench/traces/</a:t>
            </a:r>
          </a:p>
          <a:p xmlns:a="http://schemas.openxmlformats.org/drawingml/2006/main">
            <a:r>
              <a:t>Wrong cells total: 177,058. Fail-closed fallbacks: 9,143. Contract-valid but semantically wrong workbooks: 167,915.</a:t>
            </a:r>
          </a:p>
          <a:p xmlns:a="http://schemas.openxmlformats.org/drawingml/2006/main">
            <a:r>
              <a:t>The difference in pass rate by context truncation is an association, not a causal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README.md Public benchmark result</a:t>
            </a:r>
          </a:p>
          <a:p xmlns:a="http://schemas.openxmlformats.org/drawingml/2006/main">
            <a:r>
              <a:t>SUBMISSION.md Our run on the 400</a:t>
            </a:r>
          </a:p>
          <a:p xmlns:a="http://schemas.openxmlformats.org/drawingml/2006/main">
            <a:r>
              <a:t>experiments/README.md Complete public run</a:t>
            </a:r>
          </a:p>
          <a:p xmlns:a="http://schemas.openxmlformats.org/drawingml/2006/main">
            <a:r>
              <a:t>https://github.com/ylookup/encode-hackathon/tree/37d9016264762a25cae49e077cd0893055bd9093/research</a:t>
            </a:r>
          </a:p>
          <a:p xmlns:a="http://schemas.openxmlformats.org/drawingml/2006/main">
            <a:r>
              <a:t>https://github.com/thinking-machines-lab/tinker-cookbook/blob/main/tinker_cookbook/renderers/qwen3_8.py</a:t>
            </a:r>
          </a:p>
          <a:p xmlns:a="http://schemas.openxmlformats.org/drawingml/2006/main">
            <a:r>
              <a:t>The organiser reference renderer is inferred from published code and cookbook behaviour because the organisers did not publish run traces or explicit renderer metadata.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experiments/README.md section Failure analysis</a:t>
            </a:r>
          </a:p>
          <a:p xmlns:a="http://schemas.openxmlformats.org/drawingml/2006/main">
            <a:r>
              <a:t>https://github.com/MasteraSnackin/FormulaBench</a:t>
            </a:r>
          </a:p>
          <a:p xmlns:a="http://schemas.openxmlformats.org/drawingml/2006/main">
            <a:r>
              <a:t>https://masterasnackin.github.io/FormulaBench/</a:t>
            </a:r>
          </a:p>
          <a:p xmlns:a="http://schemas.openxmlformats.org/drawingml/2006/main">
            <a:r>
              <a:t>The proposed operation executor is future work and is not part of the frozen public self-evaluation.</a:t>
            </a:r>
          </a:p>
          <a:p xmlns:a="http://schemas.openxmlformats.org/drawingml/2006/main">
            <a:r>
              <a:t>Only the organiser private benchmark is described as unseen.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1996139f844e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b7d72f06c944cd" /><Relationship Type="http://schemas.openxmlformats.org/officeDocument/2006/relationships/slideLayout" Target="/ppt/slideLayouts/slideLayout1.xml" Id="Rf47a4e81ef1d43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7a4e81ef1d43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3bc58296b4f07" /><Relationship Type="http://schemas.openxmlformats.org/officeDocument/2006/relationships/notesSlide" Target="/ppt/notesSlides/notesSlide1.xml" Id="Reafb36b1d6674f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255f4f4334305" /><Relationship Type="http://schemas.openxmlformats.org/officeDocument/2006/relationships/notesSlide" Target="/ppt/notesSlides/notesSlide2.xml" Id="R825d47661baf4a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c9f547c0d4c6e" /><Relationship Type="http://schemas.openxmlformats.org/officeDocument/2006/relationships/notesSlide" Target="/ppt/notesSlides/notesSlide3.xml" Id="R629ed0007e044d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bf975e2124f4b" /><Relationship Type="http://schemas.openxmlformats.org/officeDocument/2006/relationships/notesSlide" Target="/ppt/notesSlides/notesSlide4.xml" Id="R6371cb25f2b745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6c68a5f244c45" /><Relationship Type="http://schemas.openxmlformats.org/officeDocument/2006/relationships/chart" Target="/ppt/slides/charts/chart1.xml" Id="Rffef5d04e878407b" /><Relationship Type="http://schemas.openxmlformats.org/officeDocument/2006/relationships/notesSlide" Target="/ppt/notesSlides/notesSlide5.xml" Id="R7913e26294e94b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38e8a904e48b3" /><Relationship Type="http://schemas.openxmlformats.org/officeDocument/2006/relationships/chart" Target="/ppt/slides/charts/chart2.xml" Id="Rbdd45ee25fe5465d" /><Relationship Type="http://schemas.openxmlformats.org/officeDocument/2006/relationships/notesSlide" Target="/ppt/notesSlides/notesSlide6.xml" Id="R6e4ec7320a9f40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df031f3ed45f2" /><Relationship Type="http://schemas.openxmlformats.org/officeDocument/2006/relationships/notesSlide" Target="/ppt/notesSlides/notesSlide7.xml" Id="Rf623c84b5cb24e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7acde7d6041a5" /><Relationship Type="http://schemas.openxmlformats.org/officeDocument/2006/relationships/hyperlink" Target="https://masterasnackin.github.io/FormulaBench/" TargetMode="External" Id="R1bd7e65cdd474b43" /><Relationship Type="http://schemas.openxmlformats.org/officeDocument/2006/relationships/hyperlink" Target="https://github.com/MasteraSnackin/FormulaBench" TargetMode="External" Id="Rbac4753dd16340b7" /><Relationship Type="http://schemas.openxmlformats.org/officeDocument/2006/relationships/notesSlide" Target="/ppt/notesSlides/notesSlide8.xml" Id="Rcf08c3782af5445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Public self-evaluation</c:v>
          </c:tx>
          <c:spPr>
            <a:solidFill xmlns:a="http://schemas.openxmlformats.org/drawingml/2006/main">
              <a:srgbClr val="35C47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5C47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A9BC2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D6DCE2"/>
              </a:solidFill>
            </c:spPr>
          </c:dPt>
          <c:cat>
            <c:strLit>
              <c:ptCount val="3"/>
              <c:pt idx="0">
                <c:v>Task pass rate</c:v>
              </c:pt>
              <c:pt idx="1">
                <c:v>Cell accuracy</c:v>
              </c:pt>
              <c:pt idx="2">
                <c:v>Full-scale reference</c:v>
              </c:pt>
            </c:strLit>
          </c:cat>
          <c:val>
            <c:numLit>
              <c:formatCode>0.00%</c:formatCode>
              <c:ptCount val="3"/>
              <c:pt idx="0">
                <c:v>0.3325</c:v>
              </c:pt>
              <c:pt idx="1">
                <c:v>0.4056</c:v>
              </c:pt>
              <c:pt idx="2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22033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D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DF8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Wrong cells</c:v>
          </c:tx>
          <c:spPr>
            <a:solidFill xmlns:a="http://schemas.openxmlformats.org/drawingml/2006/main">
              <a:srgbClr val="E76464"/>
            </a:solidFill>
          </c:spPr>
          <c:dPt>
            <c:idx val="0"/>
            <c:spPr>
              <a:solidFill xmlns:a="http://schemas.openxmlformats.org/drawingml/2006/main">
                <a:srgbClr val="E76464"/>
              </a:solidFill>
            </c:spPr>
          </c:dPt>
          <c:dPt>
            <c:idx val="1"/>
            <c:spPr>
              <a:solidFill xmlns:a="http://schemas.openxmlformats.org/drawingml/2006/main">
                <a:srgbClr val="E4B94F"/>
              </a:solidFill>
            </c:spPr>
          </c:dPt>
          <c:cat>
            <c:strLit>
              <c:ptCount val="2"/>
              <c:pt idx="0">
                <c:v>Contract-valid but wrong</c:v>
              </c:pt>
              <c:pt idx="1">
                <c:v>Fail-closed fallback</c:v>
              </c:pt>
            </c:strLit>
          </c:cat>
          <c:val>
            <c:numLit>
              <c:formatCode>General</c:formatCode>
              <c:ptCount val="2"/>
              <c:pt idx="0">
                <c:v>167915</c:v>
              </c:pt>
              <c:pt idx="1">
                <c:v>9143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22033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270"/>
        <c:holeSize val="66"/>
      </c:doughnutChart>
      <c:spPr>
        <a:solidFill xmlns:a="http://schemas.openxmlformats.org/drawingml/2006/main">
          <a:srgbClr val="F4F0E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0E8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53032-58E1-453B-8CC1-3A7B5FB6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FORMULABENCH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191D2-EE64-482F-86A4-FA10FE1E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5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FormulaBench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84E1E-015F-4F28-98A4-EF454CF5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0" i="0">
                <a:solidFill>
                  <a:srgbClr val="D9E0E8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9E0E8"/>
                </a:solidFill>
                <a:latin typeface="Arial"/>
                <a:ea typeface="Arial"/>
                <a:cs typeface="Arial"/>
              </a:rPr>
              <a:t>Auditable Excel formula generation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89CA2-316E-4B58-B100-10806404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1470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5C47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C3E74-D71C-4E23-8877-E6012FE4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Research / Track 2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Encode x Ylookup Rebuild Private Markets Hackathon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6263D-0647-4B30-B1CD-99946B3D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381125"/>
            <a:ext cx="40005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=IFERROR(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INDEX(Returns!$H:$H,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MATCH($B9,Returns!$B:$B,0)),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  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 i="0">
                <a:solidFill>
                  <a:srgbClr val="C6D2DF"/>
                </a:solidFill>
                <a:latin typeface="Menlo"/>
                <a:ea typeface="Menlo"/>
                <a:cs typeface="Menlo"/>
              </a:defRPr>
            </a:pPr>
            <a:r>
              <a:rPr sz="1875" b="0" i="0">
                <a:solidFill>
                  <a:srgbClr val="C6D2D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43DAE-974D-41BC-B52F-AFAC9801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14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INSPECTED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ED6385-8ADE-4FFE-A4B5-25C1CF3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4EFAD-F849-4B79-887F-348D737A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530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VALIDATED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0E6E3-C49E-4965-93A3-9D70F82E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8F9CAE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F9CAE"/>
                </a:solidFill>
                <a:latin typeface="Arial"/>
                <a:ea typeface="Arial"/>
                <a:cs typeface="Arial"/>
              </a:rPr>
              <a:t>400 public tasks · complete run · auditable artefacts</a:t>
            </a:r>
          </a:p>
        </p:txBody>
      </p:sp>
    </p:spTree>
    <p:extLst>
      <p:ext uri="{BB962C8B-B14F-4D97-AF65-F5344CB8AC3E}">
        <p14:creationId xmlns:p14="http://schemas.microsoft.com/office/powerpoint/2010/main" val="14915474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5B8A3B-6E80-4192-AE2C-89AE3E06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Plausible formulas fail in four different ways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0F60B-A710-4EF1-AC7C-7019D042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workbook can open successfully while still producing the wrong investment result.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B6D1B-5CD8-44D4-BDAA-89EB6D62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78A40-191D-4F72-92B3-E95D46AE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BC78B-CC92-45CA-AF1A-6F2DE197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relevant worksheet, source range or existing formula never reaches the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9DA42-B626-4A51-A694-1C9FECAE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F597D-9FD5-47B9-BA1A-D3962F97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0E355-67A6-4B2E-B37B-F9F77BA1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4A78B3-1510-44F0-B30B-C5F3E897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response omits required cells, assigns one twice or writes outside the target.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814B9-2A61-4B7F-A2F6-601D4068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5EF8A-23C0-436F-8C2C-F726D7B4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583A5-ECB4-4813-94D3-188C55A8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Workbook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E857E-4338-40D8-8EFD-8D1D54C4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 formula introduces an unsafe reference, invalid type or broken workbook package.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7A8F12-2BB7-42BA-97A9-E431E896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24050"/>
            <a:ext cx="0" cy="2809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11398-9677-47CC-946F-55C8CD9A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52625"/>
            <a:ext cx="85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A66E5D-7EA0-4666-A28E-60D9D912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Semantics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C00B82-178E-4E4E-9CC9-BF98B2CD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9925"/>
            <a:ext cx="2333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formula executes, yet its logic or transformation still produces the wrong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9C7E29-8D1A-47B9-84EF-81E0C699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1F5C9-1E2A-431A-BD53-046C5B9A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81625"/>
            <a:ext cx="1040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Execution and correctness require separate checks.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A1D872-91B1-4F27-9291-0DDD22E4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DB4E8-DE37-47EB-97BD-1B8E9FC6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4EB44-AE17-46A8-8DC8-B88FC41D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87352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83E649-5D41-44C7-97CB-BA81451F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FormulaBench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E3D4E1-DFF1-41B9-B310-B255748B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04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One model response sits inside a deterministic workbook pipeline.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94488-66A2-40D6-B5F0-A082C659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161925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D6B10-3663-4DF2-B8F9-4A032D9F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EC6D8-0866-4DD4-AC66-AA53931E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Workbook and target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61267-689D-4BC3-83AC-8BBBAD54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47875"/>
            <a:ext cx="161925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E686B-A618-41D1-A8CE-38887CFE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050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E5E56-F09F-472F-A301-E55D060F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52725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 and cached-value views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BBEF64-70F8-4C87-AC42-7BC25A78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47875"/>
            <a:ext cx="161925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F6E8"/>
          </a:solidFill>
          <a:ln xmlns:a="http://schemas.openxmlformats.org/drawingml/2006/main" w="19050">
            <a:solidFill>
              <a:srgbClr val="35C4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A1A9E-DED3-4F91-8849-BDB1F0D1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AE421-8DFC-4265-8089-B311B400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52725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One Qwen3.8-27B sample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8C3B1F-0830-4C2E-976D-BD627E79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47875"/>
            <a:ext cx="161925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BE1A7-404B-40F9-B6D4-8B8ABB6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050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8E18D-183B-44AC-A943-7F7C080E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52725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Coverage, schema and 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0FEF01-20AD-4D1A-B323-431B1837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47875"/>
            <a:ext cx="161925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E8E508-E077-4E1A-807D-A783AF99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050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Publish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ED56B4-3767-4C2D-B810-BECB380D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52725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Atomic write and reopen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892444-36ED-4FEC-B88A-A0A4887C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047875"/>
            <a:ext cx="161925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A8496-9C0E-4295-868B-796BBB71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EB4731-03ED-4BCD-A5BA-B6664BC4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752725"/>
            <a:ext cx="1352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Organiser-supplied evaluator</a:t>
            </a:r>
          </a:p>
        </p:txBody>
      </p:sp>
      <p:cxnSp>
        <p:nvCxnSpPr>
          <p:cNvPr id="54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71700" y="27622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C47A"/>
            </a:solidFill>
            <a:prstDash val="solid"/>
            <a:tailEnd type="triangle" w="sm" len="sm"/>
          </a:ln>
        </p:spPr>
      </p:cxnSp>
      <p:cxnSp>
        <p:nvCxnSpPr>
          <p:cNvPr id="55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152900" y="27622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C47A"/>
            </a:solidFill>
            <a:prstDash val="solid"/>
            <a:tailEnd type="triangle" w="sm" len="sm"/>
          </a:ln>
        </p:spPr>
      </p:cxnSp>
      <p:cxnSp>
        <p:nvCxnSpPr>
          <p:cNvPr id="56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134100" y="27622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C47A"/>
            </a:solidFill>
            <a:prstDash val="solid"/>
            <a:tailEnd type="triangle" w="sm" len="sm"/>
          </a:ln>
        </p:spPr>
      </p:cxnSp>
      <p:cxnSp>
        <p:nvCxnSpPr>
          <p:cNvPr id="57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115300" y="27622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C47A"/>
            </a:solidFill>
            <a:prstDash val="solid"/>
            <a:tailEnd type="triangle" w="sm" len="sm"/>
          </a:ln>
        </p:spPr>
      </p:cxnSp>
      <p:cxnSp>
        <p:nvCxnSpPr>
          <p:cNvPr id="58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10096500" y="27622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C47A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570940-AF9C-46DF-BB0D-F5DD66C8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AE103C-8560-4366-95B5-334C206E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MODEL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3761B8-F56E-4B77-8597-DEE21DF2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71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Temperature 0 · thinking disabled · one response · no unrestricted tools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0DA11-CEC0-42B8-9A87-09B3F502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DETERMINISTIC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727BB6-96A1-4E60-A15C-A0740606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495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Exact target coverage and workbook checks run before any proposed edit reaches the output.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6181F6-842E-48E2-91FB-682D3C30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1AFDF3-CBD9-4912-AF8F-C6E5062A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0CA9D4-128E-42B5-B551-87394986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9455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119359-2AA5-46B2-93A9-6B6BE2FB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The output contract blocks silent corruption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968CF-D718-4F17-8083-18E9BE2A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Every accepted response must satisfy the same workbook-level contract.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3848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905500"/>
                <a:gridCol w="2924175"/>
              </a:tblGrid>
              <a:tr h="457200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evidence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behaviour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Sheet + A1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Every target carries an explicit worksheet and cell address.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the full response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Exact coverage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Finite targets contain no gaps, duplicates, overlaps or extra assignments.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the full response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Typed values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Dates and datetimes use explicit Excel value types rather than locale-dependent text.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invalid schema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Formula gate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External paths, URIs, DDE and high-risk executable or data functions remain blocked.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Reject unsafe formula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  <a:tr h="67627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Atomic reopen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The writer saves a fresh copy, reopens it and verifies the intended cell state.</a:t>
                      </a:r>
                    </a:p>
                  </a:txBody>
                  <a:tcPr marL="91440" marR="91440" marT="45720" marB="45720"/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350" b="1">
                          <a:solidFill>
                            <a:srgbClr val="176B43"/>
                          </a:solidFill>
                          <a:latin typeface="Arial"/>
                          <a:ea typeface="Arial"/>
                          <a:cs typeface="Arial"/>
                        </a:rPr>
                        <a:t>Publish pristine fallback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9E0E9-21C7-4AE1-A9B1-EB55EFE6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Rejected responses leave the supplied workbook unchanged.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02070-D099-4305-8A1D-47DEAF39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82BA9B-C14F-4726-B7BC-D968CCFD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7FD4D-241E-4EF1-AB64-63A8F684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45709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B66285-2ABA-4398-B0AC-CE5853D0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Public self-evaluation: 133 of 400 tasks passed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6DB6F-C27D-4F5A-A5D1-CD75F5DB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Complete public benchmark after LibreOffice recalculation using the organiser-supplied evaluator.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0484D-F97C-4C8F-872B-48163237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33.25%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DB417-AABE-4CF3-9F07-5586008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task pass 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F3CFB-B231-4E0B-95CC-FB0B3DB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5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5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40.56%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F88BF-BF3B-4E55-AA07-C4A29303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4A9BC2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4A9BC2"/>
                </a:solidFill>
                <a:latin typeface="Arial"/>
                <a:ea typeface="Arial"/>
                <a:cs typeface="Arial"/>
              </a:rPr>
              <a:t>cell 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E0F9A-06EC-4FC3-9016-F9ECF407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14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22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400/400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919D3-CB5C-497D-9FBF-D257E2FC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622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evaluated · 0 missing · 0 errors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23900" y="3143250"/>
          <a:ext xmlns:a="http://schemas.openxmlformats.org/drawingml/2006/main" cx="1066800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ef5d04e878407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30D7C-D7A4-4FAF-9028-70264AB2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120,824 of 297,882 target cells matched the golden workbook.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7ECA9F-33D9-47EF-84F1-0E80BCD9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87846E-F2B1-4533-8C95-A22F35C5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B08E1-E4D9-45B0-95FE-208AA018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776588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99B9E7-74E3-4C98-B36F-F1FD3EE4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Most wrong cells came from accepted workbooks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8B93F-8B31-43EB-B8D8-119B1D74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19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Strict rejection explains 5.16% of wrong cells. Semantic errors explain the rest.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638300"/>
          <a:ext xmlns:a="http://schemas.openxmlformats.org/drawingml/2006/main" cx="4953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d45ee25fe5465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EA10-0749-43B8-A96F-516AE3D4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62125"/>
            <a:ext cx="457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 i="0">
                <a:solidFill>
                  <a:srgbClr val="E76464"/>
                </a:solidFill>
                <a:latin typeface="Arial"/>
                <a:ea typeface="Arial"/>
                <a:cs typeface="Arial"/>
              </a:defRPr>
            </a:pPr>
            <a:r>
              <a:rPr sz="5100" b="1" i="0">
                <a:solidFill>
                  <a:srgbClr val="E76464"/>
                </a:solidFill>
                <a:latin typeface="Arial"/>
                <a:ea typeface="Arial"/>
                <a:cs typeface="Arial"/>
              </a:rPr>
              <a:t>94.84%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76BEA-E974-4694-9FB0-3E707B6B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5747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of wrong cells sit inside 221 responses that passed the structural contract.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1592D-E99E-4739-A10D-B4641029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004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F54AA-517C-4D70-90D8-D4F85DBF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57625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84.76%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307E1-12DF-44AB-B999-C3609A00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of all wrong cells came from the four transformations with more than 10,000 target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EC0D3-EBA6-433C-91EA-0D9DAEBC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9585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 truncated: 24.10% passed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Context not truncated: 41.95%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EE235-E1FD-49AB-A901-E3BAC81A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61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1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00" b="0" i="1">
                <a:solidFill>
                  <a:srgbClr val="667487"/>
                </a:solidFill>
                <a:latin typeface="Arial"/>
                <a:ea typeface="Arial"/>
                <a:cs typeface="Arial"/>
              </a:rPr>
              <a:t>This association does not establish causation.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A4D04-AE46-4370-AB0B-79EFE431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3E238-E7E5-4726-AE14-307D91EE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A3F46-A09A-4756-B42E-E4B2DABB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010447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C7EF5A-4BD4-431E-8418-F5D6C136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34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The organiser reference and FormulaBench test different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0EA32-85E7-482D-BF76-D934D8C8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The reported pass rates should not support a controlled causal comparison.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DD180-D4DE-46E0-A826-76438E06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≈59%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92C36-1268-4211-B723-A58C67B3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organiser reference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81B3E-BA82-4B2D-944F-35E5794C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192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33.25%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A2103-ACA0-4F6D-AA9C-01FD20C3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86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public self-evaluation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E9169-4031-46C7-B67A-EC4A1F57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7811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650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Same base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E9D08-6CFC-47FC-B410-D792FE94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62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Different inference and output contracts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609600" y="3048000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3105150"/>
                <a:gridCol w="2571750"/>
                <a:gridCol w="3486150"/>
              </a:tblGrid>
              <a:tr h="457200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Inference mode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Requested output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Validation evidence</a:t>
                      </a:r>
                    </a:p>
                  </a:txBody>
                  <a:tcPr marL="91440" marR="91440" marT="45720" marB="45720" anchor="ctr">
                    <a:solidFill>
                      <a:srgbClr val="0B172A"/>
                    </a:solidFill>
                  </a:tcPr>
                </a:tc>
              </a:tr>
              <a:tr h="9620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Organiser reference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xhigh reasoning inferred from the published runner and cookbook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Final scalar values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≈59% reported. Run traces and renderer metadata not published</a:t>
                      </a:r>
                    </a:p>
                  </a:txBody>
                  <a:tcPr marL="91440" marR="91440" marT="45720" marB="45720"/>
                </a:tc>
              </a:tr>
              <a:tr h="962025"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1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FormulaBench</a:t>
                      </a:r>
                    </a:p>
                  </a:txBody>
                  <a:tcPr marL="91440" marR="91440" marT="45720" marB="45720" anchor="ctr">
                    <a:solidFill>
                      <a:srgbClr val="35C47A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Thinking disabled, temperature 0, one native Tinker sample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Executable formulas and typed transformations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  <a:tc>
                  <a:txBody>
                    <a:bodyPr lIns="85725" tIns="66675" rIns="85725" bIns="66675">
                      <a:normAutofit/>
                    </a:bodyPr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75" b="0">
                          <a:solidFill>
                            <a:srgbClr val="122033"/>
                          </a:solidFill>
                          <a:latin typeface="Arial"/>
                          <a:ea typeface="Arial"/>
                          <a:cs typeface="Arial"/>
                        </a:rPr>
                        <a:t>Organiser-supplied evaluator with exact coverage checks and full traces</a:t>
                      </a:r>
                    </a:p>
                  </a:txBody>
                  <a:tcPr marL="91440" marR="91440" marT="45720" marB="45720" anchor="ctr">
                    <a:solidFill>
                      <a:srgbClr val="DDF6E8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931EA-6149-46C4-B9C9-301820F6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2203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22033"/>
                </a:solidFill>
                <a:latin typeface="Arial"/>
                <a:ea typeface="Arial"/>
                <a:cs typeface="Arial"/>
              </a:rPr>
              <a:t>Direct attribution of the gap to one component would be misleading.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2CDD25-2AFA-47DE-A08C-EFE710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B185E-22CB-4EBF-B7C4-2209C166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E888F-1677-4746-8638-BC304CFE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66748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4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824016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B9FC1B-54F9-4328-9370-EF68155D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45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version: choose the operation before producing cells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0394A8-7CCD-42E4-81AA-214B220A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The failure analysis points to two execution paths.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260A2-9657-4295-8E45-BAB8A0F8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FORMULA TASKS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0487C-48D2-499D-B5BE-80FB7985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Synthesize a formula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F82A2C-14FE-40A5-9F9E-15FCD8ED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572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 i="0">
                <a:solidFill>
                  <a:srgbClr val="C6D2D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6D2DF"/>
                </a:solidFill>
                <a:latin typeface="Arial"/>
                <a:ea typeface="Arial"/>
                <a:cs typeface="Arial"/>
              </a:rPr>
              <a:t>Recalculate locally and test explicit invariants before publishing the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ECD63-554E-4636-9285-6FAC5F46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47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LARGE TRANSFORMATIONS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890A2-5F80-49C7-98A1-7DD19329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 an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8486B-49CA-4F76-B6C3-0BB8FF98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1940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 i="0">
                <a:solidFill>
                  <a:srgbClr val="C6D2D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6D2DF"/>
                </a:solidFill>
                <a:latin typeface="Arial"/>
                <a:ea typeface="Arial"/>
                <a:cs typeface="Arial"/>
              </a:rPr>
              <a:t>Let a deterministic executor handle filter, sort, append, group, deduplicate and clear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967C8-3AA0-4BBB-9FEB-594EFD94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790700"/>
            <a:ext cx="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1EA6F-4E9D-4EC9-BCE7-ED6ED8F4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43B"/>
          </a:solidFill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36FF1-9D60-4EEF-A42E-8FAEC13E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LIVE RESEARCH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B342A-BEFF-4898-94BC-2716CFC4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1bd7e65cdd474b43"/>
              </a:rPr>
              <a:t>masterasnackin.github.io/FormulaBench/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00E2D2-3B1A-42A0-BE0E-B20E77AB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767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35C4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5C47A"/>
                </a:solidFill>
                <a:latin typeface="Arial"/>
                <a:ea typeface="Arial"/>
                <a:cs typeface="Arial"/>
              </a:rPr>
              <a:t>PUBLIC REPOSITORY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BBAF8-BCED-4FFE-BB26-11EDFF41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  <a:hlinkClick xmlns:r="http://schemas.openxmlformats.org/officeDocument/2006/relationships" r:id="Rbac4753dd16340b7"/>
              </a:rPr>
              <a:t>github.com/MasteraSnackin/FormulaBench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96D35-1E7B-4397-A7D0-0373169E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The organiser private benchmark remains the genuine unseen test.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64481-BF16-4037-AB44-E5C87E49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25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2EEB86-2A92-41A4-A001-295423F0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FORMULABENCH  ·  RESEARCH / TRACK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962784-E0FD-4C14-9FC1-3955F232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 i="0">
                <a:solidFill>
                  <a:srgbClr val="AAB6C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AAB6C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213793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2026-09-05T21:54:02.2590000Z</dcterms:created>
  <dcterms:modified xsi:type="dcterms:W3CDTF">2026-09-05T21:54:02.2590000Z</dcterms:modified>
</coreProperties>
</file>