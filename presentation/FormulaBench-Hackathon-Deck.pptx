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charts/chart1.xml" ContentType="application/vnd.openxmlformats-officedocument.drawingml.chart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2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3a652fb6b8a4178" /><Relationship Type="http://schemas.openxmlformats.org/officeDocument/2006/relationships/extended-properties" Target="/docProps/app.xml" Id="Rd015bd8fecb94125" /><Relationship Type="http://schemas.openxmlformats.org/officeDocument/2006/relationships/officeDocument" Target="/ppt/presentation.xml" Id="R53594dc390f4449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801c75695f94f03"/>
  </p:sldMasterIdLst>
  <p:notesMasterIdLst>
    <p:notesMasterId xmlns:r="http://schemas.openxmlformats.org/officeDocument/2006/relationships" r:id="R872e820f27594ab4"/>
  </p:notesMasterIdLst>
  <p:sldIdLst>
    <p:sldId xmlns:r="http://schemas.openxmlformats.org/officeDocument/2006/relationships" id="256" r:id="Re93ae3687b80495c"/>
    <p:sldId xmlns:r="http://schemas.openxmlformats.org/officeDocument/2006/relationships" id="257" r:id="R4c6d30c6d22c4f3d"/>
    <p:sldId xmlns:r="http://schemas.openxmlformats.org/officeDocument/2006/relationships" id="258" r:id="Rf4903c6304be4764"/>
    <p:sldId xmlns:r="http://schemas.openxmlformats.org/officeDocument/2006/relationships" id="259" r:id="R708608d061ab475b"/>
    <p:sldId xmlns:r="http://schemas.openxmlformats.org/officeDocument/2006/relationships" id="260" r:id="R21ac3794744a4b9d"/>
    <p:sldId xmlns:r="http://schemas.openxmlformats.org/officeDocument/2006/relationships" id="261" r:id="Rcc97828a411b4b84"/>
    <p:sldId xmlns:r="http://schemas.openxmlformats.org/officeDocument/2006/relationships" id="262" r:id="R5343badcf1074f6d"/>
    <p:sldId xmlns:r="http://schemas.openxmlformats.org/officeDocument/2006/relationships" id="263" r:id="R2b9f722ad50e490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59347136ae04d6f" /><Relationship Type="http://schemas.openxmlformats.org/officeDocument/2006/relationships/slideMaster" Target="/ppt/slideMasters/slideMaster1.xml" Id="R8801c75695f94f03" /><Relationship Type="http://schemas.openxmlformats.org/officeDocument/2006/relationships/notesMaster" Target="/ppt/notesMasters/notesMaster1.xml" Id="R872e820f27594ab4" /><Relationship Type="http://schemas.openxmlformats.org/officeDocument/2006/relationships/presProps" Target="/ppt/presProps.xml" Id="R653669ba80694a7e" /><Relationship Type="http://schemas.openxmlformats.org/officeDocument/2006/relationships/tableStyles" Target="/ppt/tableStyles.xml" Id="R9f72cbb4c4974f61" /><Relationship Type="http://schemas.openxmlformats.org/officeDocument/2006/relationships/slide" Target="/ppt/slides/slide1.xml" Id="Re93ae3687b80495c" /><Relationship Type="http://schemas.openxmlformats.org/officeDocument/2006/relationships/slide" Target="/ppt/slides/slide2.xml" Id="R4c6d30c6d22c4f3d" /><Relationship Type="http://schemas.openxmlformats.org/officeDocument/2006/relationships/slide" Target="/ppt/slides/slide3.xml" Id="Rf4903c6304be4764" /><Relationship Type="http://schemas.openxmlformats.org/officeDocument/2006/relationships/slide" Target="/ppt/slides/slide4.xml" Id="R708608d061ab475b" /><Relationship Type="http://schemas.openxmlformats.org/officeDocument/2006/relationships/slide" Target="/ppt/slides/slide5.xml" Id="R21ac3794744a4b9d" /><Relationship Type="http://schemas.openxmlformats.org/officeDocument/2006/relationships/slide" Target="/ppt/slides/slide6.xml" Id="Rcc97828a411b4b84" /><Relationship Type="http://schemas.openxmlformats.org/officeDocument/2006/relationships/slide" Target="/ppt/slides/slide7.xml" Id="R5343badcf1074f6d" /><Relationship Type="http://schemas.openxmlformats.org/officeDocument/2006/relationships/slide" Target="/ppt/slides/slide8.xml" Id="R2b9f722ad50e490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6427f5bbec046c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ac52bfa6b904253" /><Relationship Type="http://schemas.openxmlformats.org/officeDocument/2006/relationships/notesMaster" Target="/ppt/notesMasters/notesMaster1.xml" Id="Ra02c822ce6f942e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71284fdde9f4aae" /><Relationship Type="http://schemas.openxmlformats.org/officeDocument/2006/relationships/notesMaster" Target="/ppt/notesMasters/notesMaster1.xml" Id="R7c7e199163ca4f7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7d3a1efba5c47fe" /><Relationship Type="http://schemas.openxmlformats.org/officeDocument/2006/relationships/notesMaster" Target="/ppt/notesMasters/notesMaster1.xml" Id="R2da864688756473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383bfafb859446a" /><Relationship Type="http://schemas.openxmlformats.org/officeDocument/2006/relationships/notesMaster" Target="/ppt/notesMasters/notesMaster1.xml" Id="R51bc442573dd4e3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50f4b98aeb34ccd" /><Relationship Type="http://schemas.openxmlformats.org/officeDocument/2006/relationships/notesMaster" Target="/ppt/notesMasters/notesMaster1.xml" Id="R0948b31497b34bd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cc8b7776cab4387" /><Relationship Type="http://schemas.openxmlformats.org/officeDocument/2006/relationships/notesMaster" Target="/ppt/notesMasters/notesMaster1.xml" Id="R8774208343e547e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2eae86f440340ba" /><Relationship Type="http://schemas.openxmlformats.org/officeDocument/2006/relationships/notesMaster" Target="/ppt/notesMasters/notesMaster1.xml" Id="R8812bf3b89a34f9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3e4e43f59ec47bf" /><Relationship Type="http://schemas.openxmlformats.org/officeDocument/2006/relationships/notesMaster" Target="/ppt/notesMasters/notesMaster1.xml" Id="R670bcb4f58ec430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https://github.com/MasteraSnackin/FormulaBench</a:t>
            </a:r>
          </a:p>
          <a:p xmlns:a="http://schemas.openxmlformats.org/drawingml/2006/main">
            <a:r>
              <a:t>README.md</a:t>
            </a:r>
          </a:p>
          <a:p xmlns:a="http://schemas.openxmlformats.org/drawingml/2006/main">
            <a:r>
              <a:t>SUBMISSION.md</a:t>
            </a:r>
          </a:p>
          <a:p xmlns:a="http://schemas.openxmlformats.org/drawingml/2006/main">
            <a:r>
              <a:t>The formula shown on the cover is an illustrative Excel formula, not a benchmark answer.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submissions/formulabench/results.json</a:t>
            </a:r>
          </a:p>
          <a:p xmlns:a="http://schemas.openxmlformats.org/drawingml/2006/main">
            <a:r>
              <a:t>SHA-256 c1e6fb6b540bb7272f4c537773e2a4826dd649d882c9b7fb549df9bccc66be0d</a:t>
            </a:r>
          </a:p>
          <a:p xmlns:a="http://schemas.openxmlformats.org/drawingml/2006/main">
            <a:r>
              <a:t>SUBMISSION.md section Our run on the 400</a:t>
            </a:r>
          </a:p>
          <a:p xmlns:a="http://schemas.openxmlformats.org/drawingml/2006/main">
            <a:r>
              <a:t>Public self-evaluation totals: 400 evaluated tasks, 133 passes, 297,882 target cells, 120,824 correct cells, no missing tasks and no evaluator errors.</a:t>
            </a:r>
          </a:p>
          <a:p xmlns:a="http://schemas.openxmlformats.org/drawingml/2006/main">
            <a:r>
              <a:t>FormulaBench produced this result locally with the organiser-supplied evaluator. The organisers have not certified the score.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README.md sections Description and Features</a:t>
            </a:r>
          </a:p>
          <a:p xmlns:a="http://schemas.openxmlformats.org/drawingml/2006/main">
            <a:r>
              <a:t>SUBMISSION.md section What we built and why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README.md Architecture Overview, Features and Tech Stack</a:t>
            </a:r>
          </a:p>
          <a:p xmlns:a="http://schemas.openxmlformats.org/drawingml/2006/main">
            <a:r>
              <a:t>SUBMISSION.md What we built and why</a:t>
            </a:r>
          </a:p>
          <a:p xmlns:a="http://schemas.openxmlformats.org/drawingml/2006/main">
            <a:r>
              <a:t>formulabench/context.py</a:t>
            </a:r>
          </a:p>
          <a:p xmlns:a="http://schemas.openxmlformats.org/drawingml/2006/main">
            <a:r>
              <a:t>formulabench/provider.py</a:t>
            </a:r>
          </a:p>
          <a:p xmlns:a="http://schemas.openxmlformats.org/drawingml/2006/main">
            <a:r>
              <a:t>formulabench/contract.py</a:t>
            </a:r>
          </a:p>
          <a:p xmlns:a="http://schemas.openxmlformats.org/drawingml/2006/main">
            <a:r>
              <a:t>formulabench/artifacts.py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README.md Features</a:t>
            </a:r>
          </a:p>
          <a:p xmlns:a="http://schemas.openxmlformats.org/drawingml/2006/main">
            <a:r>
              <a:t>SUBMISSION.md What we built and why</a:t>
            </a:r>
          </a:p>
          <a:p xmlns:a="http://schemas.openxmlformats.org/drawingml/2006/main">
            <a:r>
              <a:t>formulabench/contract.py</a:t>
            </a:r>
          </a:p>
          <a:p xmlns:a="http://schemas.openxmlformats.org/drawingml/2006/main">
            <a:r>
              <a:t>formulabench/artifacts.py</a:t>
            </a:r>
          </a:p>
          <a:p xmlns:a="http://schemas.openxmlformats.org/drawingml/2006/main">
            <a:r>
              <a:t>experiments/public_benchmark_audit.json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experiments/README.md section Failure analysis</a:t>
            </a:r>
          </a:p>
          <a:p xmlns:a="http://schemas.openxmlformats.org/drawingml/2006/main">
            <a:r>
              <a:t>submissions/formulabench/results.json</a:t>
            </a:r>
          </a:p>
          <a:p xmlns:a="http://schemas.openxmlformats.org/drawingml/2006/main">
            <a:r>
              <a:t>submissions/formulabench/predictions.jsonl</a:t>
            </a:r>
          </a:p>
          <a:p xmlns:a="http://schemas.openxmlformats.org/drawingml/2006/main">
            <a:r>
              <a:t>submissions/formulabench/traces/</a:t>
            </a:r>
          </a:p>
          <a:p xmlns:a="http://schemas.openxmlformats.org/drawingml/2006/main">
            <a:r>
              <a:t>Wrong cells total: 177,058. Fail-closed fallbacks: 9,143. Contract-valid but semantically wrong workbooks: 167,915.</a:t>
            </a:r>
          </a:p>
          <a:p xmlns:a="http://schemas.openxmlformats.org/drawingml/2006/main">
            <a:r>
              <a:t>The difference in pass rate by context truncation is an association, not a causal result.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README.md Public benchmark result</a:t>
            </a:r>
          </a:p>
          <a:p xmlns:a="http://schemas.openxmlformats.org/drawingml/2006/main">
            <a:r>
              <a:t>SUBMISSION.md Our run on the 400</a:t>
            </a:r>
          </a:p>
          <a:p xmlns:a="http://schemas.openxmlformats.org/drawingml/2006/main">
            <a:r>
              <a:t>experiments/README.md Complete public run</a:t>
            </a:r>
          </a:p>
          <a:p xmlns:a="http://schemas.openxmlformats.org/drawingml/2006/main">
            <a:r>
              <a:t>https://github.com/ylookup/encode-hackathon/tree/37d9016264762a25cae49e077cd0893055bd9093/research</a:t>
            </a:r>
          </a:p>
          <a:p xmlns:a="http://schemas.openxmlformats.org/drawingml/2006/main">
            <a:r>
              <a:t>https://github.com/thinking-machines-lab/tinker-cookbook/blob/main/tinker_cookbook/renderers/qwen3_8.py</a:t>
            </a:r>
          </a:p>
          <a:p xmlns:a="http://schemas.openxmlformats.org/drawingml/2006/main">
            <a:r>
              <a:t>The organiser reference renderer is inferred from published code and cookbook behaviour because the organisers did not publish run traces or explicit renderer metadata.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experiments/README.md section Failure analysis</a:t>
            </a:r>
          </a:p>
          <a:p xmlns:a="http://schemas.openxmlformats.org/drawingml/2006/main">
            <a:r>
              <a:t>https://github.com/MasteraSnackin/FormulaBench</a:t>
            </a:r>
          </a:p>
          <a:p xmlns:a="http://schemas.openxmlformats.org/drawingml/2006/main">
            <a:r>
              <a:t>https://masterasnackin.github.io/FormulaBench/</a:t>
            </a:r>
          </a:p>
          <a:p xmlns:a="http://schemas.openxmlformats.org/drawingml/2006/main">
            <a:r>
              <a:t>The proposed fixed-operation path is future work and is not part of the frozen public self-evaluation.</a:t>
            </a:r>
          </a:p>
          <a:p xmlns:a="http://schemas.openxmlformats.org/drawingml/2006/main">
            <a:r>
              <a:t>Only the organiser private benchmark is described as unseen.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fb3581f811a45c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190f9403d33452f" /><Relationship Type="http://schemas.openxmlformats.org/officeDocument/2006/relationships/slideLayout" Target="/ppt/slideLayouts/slideLayout1.xml" Id="R21524589e09e4f6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1524589e09e4f6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44f201041c4ca5" /><Relationship Type="http://schemas.openxmlformats.org/officeDocument/2006/relationships/notesSlide" Target="/ppt/notesSlides/notesSlide1.xml" Id="Re1d87e22fb9d4f1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adaa1d99e14193" /><Relationship Type="http://schemas.openxmlformats.org/officeDocument/2006/relationships/chart" Target="/ppt/slides/charts/chart1.xml" Id="Rb31b5b8cc256491a" /><Relationship Type="http://schemas.openxmlformats.org/officeDocument/2006/relationships/notesSlide" Target="/ppt/notesSlides/notesSlide2.xml" Id="R88135fb7bf234a5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7f461457d14573" /><Relationship Type="http://schemas.openxmlformats.org/officeDocument/2006/relationships/notesSlide" Target="/ppt/notesSlides/notesSlide3.xml" Id="Rb0d0e3e3aa0148b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319f9aaa304336" /><Relationship Type="http://schemas.openxmlformats.org/officeDocument/2006/relationships/notesSlide" Target="/ppt/notesSlides/notesSlide4.xml" Id="R3e130c9d0ce2420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ca54471e2042ea" /><Relationship Type="http://schemas.openxmlformats.org/officeDocument/2006/relationships/notesSlide" Target="/ppt/notesSlides/notesSlide5.xml" Id="Ra7c4dfebfba346b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ff7aec05f345f9" /><Relationship Type="http://schemas.openxmlformats.org/officeDocument/2006/relationships/chart" Target="/ppt/slides/charts/chart2.xml" Id="Ra6cd158e5f2c4ee8" /><Relationship Type="http://schemas.openxmlformats.org/officeDocument/2006/relationships/notesSlide" Target="/ppt/notesSlides/notesSlide6.xml" Id="R271800bb0e9647f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3dada9b6154e66" /><Relationship Type="http://schemas.openxmlformats.org/officeDocument/2006/relationships/notesSlide" Target="/ppt/notesSlides/notesSlide7.xml" Id="R44a43a3b9477437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39f27b70d140fd" /><Relationship Type="http://schemas.openxmlformats.org/officeDocument/2006/relationships/hyperlink" Target="https://masterasnackin.github.io/FormulaBench/" TargetMode="External" Id="R5e29216e7cd24a5e" /><Relationship Type="http://schemas.openxmlformats.org/officeDocument/2006/relationships/hyperlink" Target="https://github.com/MasteraSnackin/FormulaBench" TargetMode="External" Id="Redafb4700ee547f3" /><Relationship Type="http://schemas.openxmlformats.org/officeDocument/2006/relationships/notesSlide" Target="/ppt/notesSlides/notesSlide8.xml" Id="R667c1e2369d94133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Public self-evaluation</c:v>
          </c:tx>
          <c:spPr>
            <a:solidFill xmlns:a="http://schemas.openxmlformats.org/drawingml/2006/main">
              <a:srgbClr val="35C47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35C47A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4A9BC2"/>
              </a:solidFill>
            </c:spPr>
          </c:dPt>
          <c:cat>
            <c:strLit>
              <c:ptCount val="2"/>
              <c:pt idx="0">
                <c:v>Task pass rate</c:v>
              </c:pt>
              <c:pt idx="1">
                <c:v>Cell accuracy</c:v>
              </c:pt>
            </c:strLit>
          </c:cat>
          <c:val>
            <c:numLit>
              <c:formatCode>0.00%</c:formatCode>
              <c:ptCount val="2"/>
              <c:pt idx="0">
                <c:v>0.3325</c:v>
              </c:pt>
              <c:pt idx="1">
                <c:v>0.4056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350" b="1">
                  <a:solidFill>
                    <a:srgbClr val="122033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b"/>
        <c:numFmt formatCode="0%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22033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0.2"/>
      </c:valAx>
      <c:spPr>
        <a:solidFill xmlns:a="http://schemas.openxmlformats.org/drawingml/2006/main">
          <a:srgbClr val="FFFDF8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FFDF8"/>
    </a:solidFill>
    <a:ln xmlns:a="http://schemas.openxmlformats.org/drawingml/2006/main" w="0">
      <a:noFill/>
    </a:ln>
  </c:spPr>
</c:chartSpace>
</file>

<file path=ppt/slides/charts/chart2.xml><?xml version="1.0" encoding="utf-8"?>
<c:chartSpace xmlns:c="http://schemas.openxmlformats.org/drawingml/2006/chart">
  <c:lang val="en-US"/>
  <c:chart>
    <c:plotArea>
      <c:doughnutChart>
        <c:ser>
          <c:idx val="0"/>
          <c:order val="0"/>
          <c:tx>
            <c:v>Wrong cells</c:v>
          </c:tx>
          <c:spPr>
            <a:solidFill xmlns:a="http://schemas.openxmlformats.org/drawingml/2006/main">
              <a:srgbClr val="E76464"/>
            </a:solidFill>
          </c:spPr>
          <c:dPt>
            <c:idx val="0"/>
            <c:spPr>
              <a:solidFill xmlns:a="http://schemas.openxmlformats.org/drawingml/2006/main">
                <a:srgbClr val="E76464"/>
              </a:solidFill>
            </c:spPr>
          </c:dPt>
          <c:dPt>
            <c:idx val="1"/>
            <c:spPr>
              <a:solidFill xmlns:a="http://schemas.openxmlformats.org/drawingml/2006/main">
                <a:srgbClr val="E4B94F"/>
              </a:solidFill>
            </c:spPr>
          </c:dPt>
          <c:cat>
            <c:strLit>
              <c:ptCount val="2"/>
              <c:pt idx="0">
                <c:v>Passed structural checks
94.84%</c:v>
              </c:pt>
              <c:pt idx="1">
                <c:v>Rejected responses
5.16%</c:v>
              </c:pt>
            </c:strLit>
          </c:cat>
          <c:val>
            <c:numLit>
              <c:formatCode>General</c:formatCode>
              <c:ptCount val="2"/>
              <c:pt idx="0">
                <c:v>167915</c:v>
              </c:pt>
              <c:pt idx="1">
                <c:v>9143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1">
                  <a:solidFill>
                    <a:srgbClr val="122033"/>
                  </a:solidFill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1"/>
          <c:showSerName val="0"/>
          <c:showPercent val="0"/>
          <c:showBubbleSize val="0"/>
          <c:showLeaderLines val="1"/>
        </c:dLbls>
        <c:firstSliceAng val="270"/>
        <c:holeSize val="66"/>
      </c:doughnutChart>
      <c:spPr>
        <a:solidFill xmlns:a="http://schemas.openxmlformats.org/drawingml/2006/main">
          <a:srgbClr val="F4F0E8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4F0E8"/>
    </a:solidFill>
    <a:ln xmlns:a="http://schemas.openxmlformats.org/drawingml/2006/main" w="0">
      <a:noFill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C10181-1F51-4B1E-8C46-05502D297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905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 i="0">
                <a:solidFill>
                  <a:srgbClr val="35C47A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35C47A"/>
                </a:solidFill>
                <a:latin typeface="Arial"/>
                <a:ea typeface="Arial"/>
                <a:cs typeface="Arial"/>
              </a:rPr>
              <a:t>FORMULABENCH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F0A433-1B5F-40C0-A848-711343C4D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6572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54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FormulaBench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1C5799-0BF4-427A-A11B-A2C30EE90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0"/>
            <a:ext cx="628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0" i="0">
                <a:solidFill>
                  <a:srgbClr val="D9E0E8"/>
                </a:solidFill>
                <a:latin typeface="Arial"/>
                <a:ea typeface="Arial"/>
                <a:cs typeface="Arial"/>
              </a:defRPr>
            </a:pPr>
            <a:r>
              <a:rPr sz="2250" b="0" i="0">
                <a:solidFill>
                  <a:srgbClr val="D9E0E8"/>
                </a:solidFill>
                <a:latin typeface="Arial"/>
                <a:ea typeface="Arial"/>
                <a:cs typeface="Arial"/>
              </a:rPr>
              <a:t>Auditable Excel formula generation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326E6C-B848-4446-AEE1-AF8CBE39B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14700"/>
            <a:ext cx="5048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35C47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3FBA75-89A2-406C-9B56-1E0B88735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638550"/>
            <a:ext cx="5429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75" b="0" i="0">
                <a:solidFill>
                  <a:srgbClr val="AAB6C5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AAB6C5"/>
                </a:solidFill>
                <a:latin typeface="Arial"/>
                <a:ea typeface="Arial"/>
                <a:cs typeface="Arial"/>
              </a:rPr>
              <a:t>Research / Track 2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75" b="0" i="0">
                <a:solidFill>
                  <a:srgbClr val="AAB6C5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AAB6C5"/>
                </a:solidFill>
                <a:latin typeface="Arial"/>
                <a:ea typeface="Arial"/>
                <a:cs typeface="Arial"/>
              </a:rPr>
              <a:t>Encode x Ylookup Rebuild Private Markets Hackathon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0907F1-1244-47A9-86A9-D0BCC5592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381125"/>
            <a:ext cx="400050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875" b="0" i="0">
                <a:solidFill>
                  <a:srgbClr val="C6D2DF"/>
                </a:solidFill>
                <a:latin typeface="Menlo"/>
                <a:ea typeface="Menlo"/>
                <a:cs typeface="Menlo"/>
              </a:defRPr>
            </a:pPr>
            <a:r>
              <a:rPr sz="1875" b="0" i="0">
                <a:solidFill>
                  <a:srgbClr val="C6D2DF"/>
                </a:solidFill>
                <a:latin typeface="Menlo"/>
                <a:ea typeface="Menlo"/>
                <a:cs typeface="Menlo"/>
              </a:rPr>
              <a:t>=IFERROR(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875" b="0" i="0">
                <a:solidFill>
                  <a:srgbClr val="C6D2DF"/>
                </a:solidFill>
                <a:latin typeface="Menlo"/>
                <a:ea typeface="Menlo"/>
                <a:cs typeface="Menlo"/>
              </a:defRPr>
            </a:pPr>
            <a:r>
              <a:rPr sz="1875" b="0" i="0">
                <a:solidFill>
                  <a:srgbClr val="C6D2DF"/>
                </a:solidFill>
                <a:latin typeface="Menlo"/>
                <a:ea typeface="Menlo"/>
                <a:cs typeface="Menlo"/>
              </a:rPr>
              <a:t>  INDEX(Returns!$H:$H,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875" b="0" i="0">
                <a:solidFill>
                  <a:srgbClr val="C6D2DF"/>
                </a:solidFill>
                <a:latin typeface="Menlo"/>
                <a:ea typeface="Menlo"/>
                <a:cs typeface="Menlo"/>
              </a:defRPr>
            </a:pPr>
            <a:r>
              <a:rPr sz="1875" b="0" i="0">
                <a:solidFill>
                  <a:srgbClr val="C6D2DF"/>
                </a:solidFill>
                <a:latin typeface="Menlo"/>
                <a:ea typeface="Menlo"/>
                <a:cs typeface="Menlo"/>
              </a:rPr>
              <a:t>  MATCH($B9,Returns!$B:$B,0)),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875" b="0" i="0">
                <a:solidFill>
                  <a:srgbClr val="C6D2DF"/>
                </a:solidFill>
                <a:latin typeface="Menlo"/>
                <a:ea typeface="Menlo"/>
                <a:cs typeface="Menlo"/>
              </a:defRPr>
            </a:pPr>
            <a:r>
              <a:rPr sz="1875" b="0" i="0">
                <a:solidFill>
                  <a:srgbClr val="C6D2DF"/>
                </a:solidFill>
                <a:latin typeface="Menlo"/>
                <a:ea typeface="Menlo"/>
                <a:cs typeface="Menlo"/>
              </a:rPr>
              <a:t>  0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875" b="0" i="0">
                <a:solidFill>
                  <a:srgbClr val="C6D2DF"/>
                </a:solidFill>
                <a:latin typeface="Menlo"/>
                <a:ea typeface="Menlo"/>
                <a:cs typeface="Menlo"/>
              </a:defRPr>
            </a:pPr>
            <a:r>
              <a:rPr sz="1875" b="0" i="0">
                <a:solidFill>
                  <a:srgbClr val="C6D2DF"/>
                </a:solidFill>
                <a:latin typeface="Menlo"/>
                <a:ea typeface="Menlo"/>
                <a:cs typeface="Menlo"/>
              </a:rPr>
              <a:t>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088BC7-59A6-4E37-9AB3-2AE90CF8D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5148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 i="0">
                <a:solidFill>
                  <a:srgbClr val="35C47A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35C47A"/>
                </a:solidFill>
                <a:latin typeface="Arial"/>
                <a:ea typeface="Arial"/>
                <a:cs typeface="Arial"/>
              </a:rPr>
              <a:t>ILLUSTRATIVE FORMULA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617AB2-2FFF-4924-A0D3-C325E4FD2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115050"/>
            <a:ext cx="781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 i="0">
                <a:solidFill>
                  <a:srgbClr val="8F9CAE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8F9CAE"/>
                </a:solidFill>
                <a:latin typeface="Arial"/>
                <a:ea typeface="Arial"/>
                <a:cs typeface="Arial"/>
              </a:rPr>
              <a:t>Complete public benchmark: all 400 tasks with retained traces and workbook artefacts</a:t>
            </a:r>
          </a:p>
        </p:txBody>
      </p:sp>
    </p:spTree>
    <p:extLst>
      <p:ext uri="{BB962C8B-B14F-4D97-AF65-F5344CB8AC3E}">
        <p14:creationId xmlns:p14="http://schemas.microsoft.com/office/powerpoint/2010/main" val="58592393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D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85EC345-FAA5-4F68-88ED-A6C32EFAF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122033"/>
                </a:solidFill>
                <a:latin typeface="Arial"/>
                <a:ea typeface="Arial"/>
                <a:cs typeface="Arial"/>
              </a:defRPr>
            </a:pPr>
            <a:r>
              <a:rPr sz="3300" b="1" i="0">
                <a:solidFill>
                  <a:srgbClr val="122033"/>
                </a:solidFill>
                <a:latin typeface="Arial"/>
                <a:ea typeface="Arial"/>
                <a:cs typeface="Arial"/>
              </a:rPr>
              <a:t>Public self-evaluation: 133 of 400 tasks passed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EE5744-0295-462D-88A0-C3E92D931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57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0" i="0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667487"/>
                </a:solidFill>
                <a:latin typeface="Arial"/>
                <a:ea typeface="Arial"/>
                <a:cs typeface="Arial"/>
              </a:rPr>
              <a:t>The run recalculated every workbook in LibreOffice before using the organiser-supplied evaluator.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666C6F-B306-447F-A4D3-76DDF8322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3143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4500" b="1" i="0">
                <a:solidFill>
                  <a:srgbClr val="122033"/>
                </a:solidFill>
                <a:latin typeface="Arial"/>
                <a:ea typeface="Arial"/>
                <a:cs typeface="Arial"/>
              </a:defRPr>
            </a:pPr>
            <a:r>
              <a:rPr sz="4500" b="1" i="0">
                <a:solidFill>
                  <a:srgbClr val="122033"/>
                </a:solidFill>
                <a:latin typeface="Arial"/>
                <a:ea typeface="Arial"/>
                <a:cs typeface="Arial"/>
              </a:rPr>
              <a:t>33.25%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972A5B-D5E9-4396-BBA4-3F2E751F4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622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 i="0">
                <a:solidFill>
                  <a:srgbClr val="35C47A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35C47A"/>
                </a:solidFill>
                <a:latin typeface="Arial"/>
                <a:ea typeface="Arial"/>
                <a:cs typeface="Arial"/>
              </a:rPr>
              <a:t>task pass rate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751ACC-F284-470C-A7BB-585EB10F1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638300"/>
            <a:ext cx="3143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4500" b="1" i="0">
                <a:solidFill>
                  <a:srgbClr val="122033"/>
                </a:solidFill>
                <a:latin typeface="Arial"/>
                <a:ea typeface="Arial"/>
                <a:cs typeface="Arial"/>
              </a:defRPr>
            </a:pPr>
            <a:r>
              <a:rPr sz="4500" b="1" i="0">
                <a:solidFill>
                  <a:srgbClr val="122033"/>
                </a:solidFill>
                <a:latin typeface="Arial"/>
                <a:ea typeface="Arial"/>
                <a:cs typeface="Arial"/>
              </a:rPr>
              <a:t>40.56%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B017B7-6EE4-4FCD-87D9-C4E2D291B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3622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 i="0">
                <a:solidFill>
                  <a:srgbClr val="4A9BC2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4A9BC2"/>
                </a:solidFill>
                <a:latin typeface="Arial"/>
                <a:ea typeface="Arial"/>
                <a:cs typeface="Arial"/>
              </a:rPr>
              <a:t>cell accuracy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431A68-50B6-4630-B630-057B86E38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71450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3225" b="1" i="0">
                <a:solidFill>
                  <a:srgbClr val="122033"/>
                </a:solidFill>
                <a:latin typeface="Arial"/>
                <a:ea typeface="Arial"/>
                <a:cs typeface="Arial"/>
              </a:defRPr>
            </a:pPr>
            <a:r>
              <a:rPr sz="3225" b="1" i="0">
                <a:solidFill>
                  <a:srgbClr val="122033"/>
                </a:solidFill>
                <a:latin typeface="Arial"/>
                <a:ea typeface="Arial"/>
                <a:cs typeface="Arial"/>
              </a:rPr>
              <a:t>400/400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FBDA0D-8441-4BF5-9706-237FF25B5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362200"/>
            <a:ext cx="3905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88534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200" b="0" i="0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67487"/>
                </a:solidFill>
                <a:latin typeface="Arial"/>
                <a:ea typeface="Arial"/>
                <a:cs typeface="Arial"/>
              </a:rPr>
              <a:t>All 400 tasks evaluated, with no missing tasks or evaluator errors.</a:t>
            </a:r>
          </a:p>
        </p:txBody>
      </p:sp>
      <p:graphicFrame>
        <p:nvGraphicFramePr>
          <p:cNvPr id="22" name="Chart"/>
          <p:cNvGraphicFramePr/>
          <p:nvPr/>
        </p:nvGraphicFramePr>
        <p:xfrm>
          <a:off xmlns:a="http://schemas.openxmlformats.org/drawingml/2006/main" x="723900" y="3143250"/>
          <a:ext xmlns:a="http://schemas.openxmlformats.org/drawingml/2006/main" cx="10668000" cy="25527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31b5b8cc256491a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E24B08-A9A7-4A6A-8727-60CD41D95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905500"/>
            <a:ext cx="762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67487"/>
                </a:solidFill>
                <a:latin typeface="Arial"/>
                <a:ea typeface="Arial"/>
                <a:cs typeface="Arial"/>
              </a:rPr>
              <a:t>120,824 of 297,882 target cells matched the reference workbook.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8B42F7-6295-44B9-BE82-E9F2FC3BB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1D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74FED2-31A8-4653-A8E9-E5F49D609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487"/>
                </a:solidFill>
                <a:latin typeface="Arial"/>
                <a:ea typeface="Arial"/>
                <a:cs typeface="Arial"/>
              </a:rPr>
              <a:t>FORMULABENCH  ·  RESEARCH / TRACK 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8598F6-A6CD-4D79-828D-FBF48D9C9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 i="0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487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2762299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7D1FAE9-4A47-4688-9FB4-3817074D5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122033"/>
                </a:solidFill>
                <a:latin typeface="Arial"/>
                <a:ea typeface="Arial"/>
                <a:cs typeface="Arial"/>
              </a:defRPr>
            </a:pPr>
            <a:r>
              <a:rPr sz="3300" b="1" i="0">
                <a:solidFill>
                  <a:srgbClr val="122033"/>
                </a:solidFill>
                <a:latin typeface="Arial"/>
                <a:ea typeface="Arial"/>
                <a:cs typeface="Arial"/>
              </a:rPr>
              <a:t>Plausible formulas fail in four different ways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26D8D7-E60B-46A1-B281-6ECD380DB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4775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0" i="0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667487"/>
                </a:solidFill>
                <a:latin typeface="Arial"/>
                <a:ea typeface="Arial"/>
                <a:cs typeface="Arial"/>
              </a:rPr>
              <a:t>A workbook can open successfully while still producing the wrong investment result.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C4AB0F-DC93-4BD6-AB20-381999265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857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 i="0">
                <a:solidFill>
                  <a:srgbClr val="35C47A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35C47A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C8F002-4E40-44DA-8575-F76EFE000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4795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25" b="1" i="0">
                <a:solidFill>
                  <a:srgbClr val="122033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122033"/>
                </a:solidFill>
                <a:latin typeface="Arial"/>
                <a:ea typeface="Arial"/>
                <a:cs typeface="Arial"/>
              </a:rPr>
              <a:t>Context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3BAFB4-F6F8-4602-8356-1226B86EE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9925"/>
            <a:ext cx="2333625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00" b="0" i="0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667487"/>
                </a:solidFill>
                <a:latin typeface="Arial"/>
                <a:ea typeface="Arial"/>
                <a:cs typeface="Arial"/>
              </a:rPr>
              <a:t>The relevant worksheet, source range or existing formula never reaches the model.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F2CBF9-21D5-4636-A4CF-46F5A121D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1924050"/>
            <a:ext cx="0" cy="28098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1D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849A79-699D-40F8-BC13-369B2020A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1952625"/>
            <a:ext cx="857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 i="0">
                <a:solidFill>
                  <a:srgbClr val="35C47A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35C47A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7B12E9-A573-46A6-A86F-6ED465247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64795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25" b="1" i="0">
                <a:solidFill>
                  <a:srgbClr val="122033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122033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19ED67-516C-4B5C-922D-2ABCB0D08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209925"/>
            <a:ext cx="2333625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00" b="0" i="0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667487"/>
                </a:solidFill>
                <a:latin typeface="Arial"/>
                <a:ea typeface="Arial"/>
                <a:cs typeface="Arial"/>
              </a:rPr>
              <a:t>A response misses required cells, writes to the same cell twice or changes cells outside the target.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3AD0D4-FF25-4FEB-AE0B-2D3A4B796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924050"/>
            <a:ext cx="0" cy="28098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1D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29D075-DC6E-495D-88B6-04C7852AD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952625"/>
            <a:ext cx="857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 i="0">
                <a:solidFill>
                  <a:srgbClr val="35C47A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35C47A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B6B510-0088-4CA2-993B-1B5A8CD9E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64795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25" b="1" i="0">
                <a:solidFill>
                  <a:srgbClr val="122033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122033"/>
                </a:solidFill>
                <a:latin typeface="Arial"/>
                <a:ea typeface="Arial"/>
                <a:cs typeface="Arial"/>
              </a:rPr>
              <a:t>Workbook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25448F-083A-4329-B387-F75F5CBA1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209925"/>
            <a:ext cx="2333625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00" b="0" i="0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667487"/>
                </a:solidFill>
                <a:latin typeface="Arial"/>
                <a:ea typeface="Arial"/>
                <a:cs typeface="Arial"/>
              </a:rPr>
              <a:t>A formula introduces an unsafe reference, invalid type or broken workbook package.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0B43C5-1454-495D-B285-A8E14F313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1924050"/>
            <a:ext cx="0" cy="28098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1D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4F811E-C234-437C-A37E-72AF6A536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952625"/>
            <a:ext cx="857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 i="0">
                <a:solidFill>
                  <a:srgbClr val="E76464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E76464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2DE63ED-BF53-4AB9-9D0B-E6A4BC992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64795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25" b="1" i="0">
                <a:solidFill>
                  <a:srgbClr val="122033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122033"/>
                </a:solidFill>
                <a:latin typeface="Arial"/>
                <a:ea typeface="Arial"/>
                <a:cs typeface="Arial"/>
              </a:rPr>
              <a:t>Semantics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098F07-9CF1-43F9-AFEB-F3E0B5C2D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209925"/>
            <a:ext cx="2333625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00" b="0" i="0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667487"/>
                </a:solidFill>
                <a:latin typeface="Arial"/>
                <a:ea typeface="Arial"/>
                <a:cs typeface="Arial"/>
              </a:rPr>
              <a:t>The formula runs but returns the wrong value or applies the wrong transformation.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1C8B737-DF6B-4498-9085-836EB9BE5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109728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72A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6EE083-AF59-47F1-8F9E-CF93EC33E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381625"/>
            <a:ext cx="10401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Execution and correctness require separate checks.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A3F0D77-BEA1-48C6-89B8-F26F8C89B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1D9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00AAA7D-C612-474D-AE41-87EC44D2B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487"/>
                </a:solidFill>
                <a:latin typeface="Arial"/>
                <a:ea typeface="Arial"/>
                <a:cs typeface="Arial"/>
              </a:rPr>
              <a:t>FORMULABENCH  ·  RESEARCH / TRACK 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FF06154-D016-4BA6-88F5-C20A6B727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 i="0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487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18643377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7314E9E-D8C4-4AC4-BF16-ADB16F738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Current FormulaBench workflow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446748-08D8-4A03-8133-D7736F905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0" i="0">
                <a:solidFill>
                  <a:srgbClr val="AAB6C5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AAB6C5"/>
                </a:solidFill>
                <a:latin typeface="Arial"/>
                <a:ea typeface="Arial"/>
                <a:cs typeface="Arial"/>
              </a:rPr>
              <a:t>FormulaBench requests one logical model sample between deterministic preparation and validation.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5F756F-D72E-4224-B0F7-77683A574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35C47A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35C47A"/>
                </a:solidFill>
                <a:latin typeface="Arial"/>
                <a:ea typeface="Arial"/>
                <a:cs typeface="Arial"/>
              </a:rPr>
              <a:t>DETERMINISTIC PREPARATION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261769-E965-4807-BE0A-D2E800012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425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52BBE9-C174-4FF2-8C35-5B94E5C7C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1619250"/>
            <a:ext cx="1381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 i="0">
                <a:solidFill>
                  <a:srgbClr val="35C47A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35C47A"/>
                </a:solidFill>
                <a:latin typeface="Arial"/>
                <a:ea typeface="Arial"/>
                <a:cs typeface="Arial"/>
              </a:rPr>
              <a:t>MODEL STEP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89FE0B-1070-4FC4-B31A-7F7341CC0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1924050"/>
            <a:ext cx="1381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5C47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7B428B-132B-43E0-95EB-A7D3C8867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6192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1" i="0">
                <a:solidFill>
                  <a:srgbClr val="35C47A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35C47A"/>
                </a:solidFill>
                <a:latin typeface="Arial"/>
                <a:ea typeface="Arial"/>
                <a:cs typeface="Arial"/>
              </a:rPr>
              <a:t>DETERMINISTIC VALIDATION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4207DD-5761-47F5-9955-F395748CF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924050"/>
            <a:ext cx="371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425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37A72A-4B3D-4629-8F8F-D8F78E403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647950"/>
            <a:ext cx="8553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5C47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5A7DE2-6DBB-412F-BE73-1639339CE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095500"/>
            <a:ext cx="142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Inspect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F03B69-EC27-44BD-8C22-33D49D157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25622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72A"/>
          </a:solidFill>
          <a:ln xmlns:a="http://schemas.openxmlformats.org/drawingml/2006/main" w="19050">
            <a:solidFill>
              <a:srgbClr val="35C47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F4F09D-7D16-4C02-A260-A77DEDCAC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933700"/>
            <a:ext cx="142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0" i="0">
                <a:solidFill>
                  <a:srgbClr val="AAB6C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AAB6C5"/>
                </a:solidFill>
                <a:latin typeface="Arial"/>
                <a:ea typeface="Arial"/>
                <a:cs typeface="Arial"/>
              </a:rPr>
              <a:t>Workbook and target cells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94D271-4820-4906-950C-441AAA2DA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20955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Build context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26D163-AB05-4611-8591-84C36ED04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25622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72A"/>
          </a:solidFill>
          <a:ln xmlns:a="http://schemas.openxmlformats.org/drawingml/2006/main" w="19050">
            <a:solidFill>
              <a:srgbClr val="35C47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B33C41-B4D4-40FD-95D6-683716105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2933700"/>
            <a:ext cx="1809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0" i="0">
                <a:solidFill>
                  <a:srgbClr val="AAB6C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AAB6C5"/>
                </a:solidFill>
                <a:latin typeface="Arial"/>
                <a:ea typeface="Arial"/>
                <a:cs typeface="Arial"/>
              </a:rPr>
              <a:t>Existing formulas and last calculated values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8E7ED3A-D4EB-4F79-AC02-95136325D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09550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35C47A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35C47A"/>
                </a:solidFill>
                <a:latin typeface="Arial"/>
                <a:ea typeface="Arial"/>
                <a:cs typeface="Arial"/>
              </a:rPr>
              <a:t>Generate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B3EB40-F548-4192-B9D5-7A042AE90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252412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C47A"/>
          </a:solidFill>
          <a:ln xmlns:a="http://schemas.openxmlformats.org/drawingml/2006/main" w="19050">
            <a:solidFill>
              <a:srgbClr val="35C47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C8DF998-5B29-4844-AAD6-6189EA130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933700"/>
            <a:ext cx="1524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0" i="0">
                <a:solidFill>
                  <a:srgbClr val="AAB6C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AAB6C5"/>
                </a:solidFill>
                <a:latin typeface="Arial"/>
                <a:ea typeface="Arial"/>
                <a:cs typeface="Arial"/>
              </a:rPr>
              <a:t>One Qwen3.8-27B response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30C9BCF-5E79-4EF9-B6A0-702DCC316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0955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Validate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400861E-FDF5-4AB9-A836-51E51059B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5622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72A"/>
          </a:solidFill>
          <a:ln xmlns:a="http://schemas.openxmlformats.org/drawingml/2006/main" w="19050">
            <a:solidFill>
              <a:srgbClr val="35C47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9843D57-24CC-403C-B524-1AC35460E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933700"/>
            <a:ext cx="1809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0" i="0">
                <a:solidFill>
                  <a:srgbClr val="AAB6C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AAB6C5"/>
                </a:solidFill>
                <a:latin typeface="Arial"/>
                <a:ea typeface="Arial"/>
                <a:cs typeface="Arial"/>
              </a:rPr>
              <a:t>Target coverage, value types and formula safety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5C809A2-F244-421C-A6A8-098CFA1BD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0955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Publish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C67023-1D47-4AFF-8AFD-0C680912C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25622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72A"/>
          </a:solidFill>
          <a:ln xmlns:a="http://schemas.openxmlformats.org/drawingml/2006/main" w="19050">
            <a:solidFill>
              <a:srgbClr val="35C47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042B9B0-DB18-4CEF-AB34-51FB9BF66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933700"/>
            <a:ext cx="171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AAB6C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AAB6C5"/>
                </a:solidFill>
                <a:latin typeface="Arial"/>
                <a:ea typeface="Arial"/>
                <a:cs typeface="Arial"/>
              </a:rPr>
              <a:t>Save a fresh copy and reopen it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B36D55C-1662-451D-94F1-64AA8C48B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733675"/>
            <a:ext cx="0" cy="914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5C47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93D33DD-F7BD-44C8-9ED2-E2BB0A890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357187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72A"/>
          </a:solidFill>
          <a:ln xmlns:a="http://schemas.openxmlformats.org/drawingml/2006/main" w="19050">
            <a:solidFill>
              <a:srgbClr val="35C47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C0FE9A3-1266-41D2-9277-5B8CCC24F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476625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35C47A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5C47A"/>
                </a:solidFill>
                <a:latin typeface="Arial"/>
                <a:ea typeface="Arial"/>
                <a:cs typeface="Arial"/>
              </a:rPr>
              <a:t>PUBLIC EVALUATION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0EFF34C-1A99-4BC1-B08E-74BB63C63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781425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841560A-8868-459B-ABD3-E6104DD29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4124325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 i="0">
                <a:solidFill>
                  <a:srgbClr val="AAB6C5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AAB6C5"/>
                </a:solidFill>
                <a:latin typeface="Arial"/>
                <a:ea typeface="Arial"/>
                <a:cs typeface="Arial"/>
              </a:rPr>
              <a:t>Organiser-supplied evaluator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1D7E23B-6FCE-43FC-A728-A3E176CAF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14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44257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EA8299D-6CB8-45FA-9143-0702BA5C9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74345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 i="0">
                <a:solidFill>
                  <a:srgbClr val="35C47A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35C47A"/>
                </a:solidFill>
                <a:latin typeface="Arial"/>
                <a:ea typeface="Arial"/>
                <a:cs typeface="Arial"/>
              </a:rPr>
              <a:t>MODEL SETTINGS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12C4494-9CB7-4BB6-9A05-45D645CE9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048250"/>
            <a:ext cx="3714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35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model runs at temperature 0 with thinking disabled. It returns one response and has no unrestricted tools.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F157332-1AE6-4848-B4E2-8B6F64106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4743450"/>
            <a:ext cx="295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 i="0">
                <a:solidFill>
                  <a:srgbClr val="35C47A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35C47A"/>
                </a:solidFill>
                <a:latin typeface="Arial"/>
                <a:ea typeface="Arial"/>
                <a:cs typeface="Arial"/>
              </a:rPr>
              <a:t>DETERMINISTIC CONTROLS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AAD0B02-DDD7-4C6E-8A97-CEBB9187A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5048250"/>
            <a:ext cx="3714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35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Exact target coverage and workbook checks run before the edited copy is published.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C60ED5D-7A3C-42BC-ABB2-C4D398F72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44257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F8903BD-6FB9-4085-86A1-22CEE37B4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AAB6C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AAB6C5"/>
                </a:solidFill>
                <a:latin typeface="Arial"/>
                <a:ea typeface="Arial"/>
                <a:cs typeface="Arial"/>
              </a:rPr>
              <a:t>FORMULABENCH  ·  RESEARCH / TRACK 2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9664913-30EA-4553-9654-0230C9661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 i="0">
                <a:solidFill>
                  <a:srgbClr val="AAB6C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AAB6C5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36231450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5EACF2E-8CE8-4C61-8401-85A32F217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122033"/>
                </a:solidFill>
                <a:latin typeface="Arial"/>
                <a:ea typeface="Arial"/>
                <a:cs typeface="Arial"/>
              </a:defRPr>
            </a:pPr>
            <a:r>
              <a:rPr sz="3300" b="1" i="0">
                <a:solidFill>
                  <a:srgbClr val="122033"/>
                </a:solidFill>
                <a:latin typeface="Arial"/>
                <a:ea typeface="Arial"/>
                <a:cs typeface="Arial"/>
              </a:rPr>
              <a:t>Workbook checks before publication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E5D7BA-080F-4EA9-B3E3-01C0BAE89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990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0" i="0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667487"/>
                </a:solidFill>
                <a:latin typeface="Arial"/>
                <a:ea typeface="Arial"/>
                <a:cs typeface="Arial"/>
              </a:rPr>
              <a:t>FormulaBench publishes an edited workbook only after every check passes.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09600" y="1638300"/>
          <a:ext xmlns:a="http://schemas.openxmlformats.org/drawingml/2006/main" cx="10972800" cy="38481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43125"/>
                <a:gridCol w="5905500"/>
                <a:gridCol w="2924175"/>
              </a:tblGrid>
              <a:tr h="457200">
                <a:tc>
                  <a:txBody>
                    <a:bodyPr lIns="85725" tIns="66675" rIns="85725" bIns="66675">
                      <a:normAutofit/>
                    </a:bodyPr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Check</a:t>
                      </a:r>
                    </a:p>
                  </a:txBody>
                  <a:tcPr marL="91440" marR="91440" marT="45720" marB="45720" anchor="ctr">
                    <a:solidFill>
                      <a:srgbClr val="0B172A"/>
                    </a:solidFill>
                  </a:tcPr>
                </a:tc>
                <a:tc>
                  <a:txBody>
                    <a:bodyPr lIns="85725" tIns="66675" rIns="85725" bIns="66675">
                      <a:normAutofit/>
                    </a:bodyPr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Required evidence</a:t>
                      </a:r>
                    </a:p>
                  </a:txBody>
                  <a:tcPr marL="91440" marR="91440" marT="45720" marB="45720" anchor="ctr">
                    <a:solidFill>
                      <a:srgbClr val="0B172A"/>
                    </a:solidFill>
                  </a:tcPr>
                </a:tc>
                <a:tc>
                  <a:txBody>
                    <a:bodyPr lIns="85725" tIns="66675" rIns="85725" bIns="66675">
                      <a:normAutofit/>
                    </a:bodyPr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Failure behaviour</a:t>
                      </a:r>
                    </a:p>
                  </a:txBody>
                  <a:tcPr marL="91440" marR="91440" marT="45720" marB="45720" anchor="ctr">
                    <a:solidFill>
                      <a:srgbClr val="0B172A"/>
                    </a:solidFill>
                  </a:tcPr>
                </a:tc>
              </a:tr>
              <a:tr h="676275">
                <a:tc>
                  <a:txBody>
                    <a:bodyPr lIns="85725" tIns="66675" rIns="85725" bIns="66675">
                      <a:normAutofit/>
                    </a:bodyPr>
                    <a:lstStyle/>
                    <a:p>
                      <a:r>
                        <a:rPr sz="1350" b="1">
                          <a:solidFill>
                            <a:srgbClr val="122033"/>
                          </a:solidFill>
                          <a:latin typeface="Arial"/>
                          <a:ea typeface="Arial"/>
                          <a:cs typeface="Arial"/>
                        </a:rPr>
                        <a:t>Sheet + A1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22033"/>
                          </a:solidFill>
                          <a:latin typeface="Arial"/>
                          <a:ea typeface="Arial"/>
                          <a:cs typeface="Arial"/>
                        </a:rPr>
                        <a:t>Every target carries an explicit worksheet and cell address.</a:t>
                      </a:r>
                    </a:p>
                  </a:txBody>
                  <a:tcPr marL="91440" marR="91440" marT="45720" marB="45720"/>
                </a:tc>
                <a:tc>
                  <a:txBody>
                    <a:bodyPr lIns="85725" tIns="66675" rIns="85725" bIns="66675">
                      <a:normAutofit/>
                    </a:bodyPr>
                    <a:lstStyle/>
                    <a:p>
                      <a:r>
                        <a:rPr sz="1350" b="1">
                          <a:solidFill>
                            <a:srgbClr val="176B43"/>
                          </a:solidFill>
                          <a:latin typeface="Arial"/>
                          <a:ea typeface="Arial"/>
                          <a:cs typeface="Arial"/>
                        </a:rPr>
                        <a:t>Reject the full response</a:t>
                      </a:r>
                    </a:p>
                  </a:txBody>
                  <a:tcPr marL="91440" marR="91440" marT="45720" marB="45720" anchor="ctr">
                    <a:solidFill>
                      <a:srgbClr val="DDF6E8"/>
                    </a:solidFill>
                  </a:tcPr>
                </a:tc>
              </a:tr>
              <a:tr h="676275">
                <a:tc>
                  <a:txBody>
                    <a:bodyPr lIns="85725" tIns="66675" rIns="85725" bIns="66675">
                      <a:normAutofit/>
                    </a:bodyPr>
                    <a:lstStyle/>
                    <a:p>
                      <a:r>
                        <a:rPr sz="1350" b="1">
                          <a:solidFill>
                            <a:srgbClr val="122033"/>
                          </a:solidFill>
                          <a:latin typeface="Arial"/>
                          <a:ea typeface="Arial"/>
                          <a:cs typeface="Arial"/>
                        </a:rPr>
                        <a:t>Exact coverage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22033"/>
                          </a:solidFill>
                          <a:latin typeface="Arial"/>
                          <a:ea typeface="Arial"/>
                          <a:cs typeface="Arial"/>
                        </a:rPr>
                        <a:t>Finite targets contain no gaps, duplicates, overlaps or extra assignments.</a:t>
                      </a:r>
                    </a:p>
                  </a:txBody>
                  <a:tcPr marL="91440" marR="91440" marT="45720" marB="45720"/>
                </a:tc>
                <a:tc>
                  <a:txBody>
                    <a:bodyPr lIns="85725" tIns="66675" rIns="85725" bIns="66675">
                      <a:normAutofit/>
                    </a:bodyPr>
                    <a:lstStyle/>
                    <a:p>
                      <a:r>
                        <a:rPr sz="1350" b="1">
                          <a:solidFill>
                            <a:srgbClr val="176B43"/>
                          </a:solidFill>
                          <a:latin typeface="Arial"/>
                          <a:ea typeface="Arial"/>
                          <a:cs typeface="Arial"/>
                        </a:rPr>
                        <a:t>Reject the full response</a:t>
                      </a:r>
                    </a:p>
                  </a:txBody>
                  <a:tcPr marL="91440" marR="91440" marT="45720" marB="45720" anchor="ctr">
                    <a:solidFill>
                      <a:srgbClr val="DDF6E8"/>
                    </a:solidFill>
                  </a:tcPr>
                </a:tc>
              </a:tr>
              <a:tr h="676275">
                <a:tc>
                  <a:txBody>
                    <a:bodyPr lIns="85725" tIns="66675" rIns="85725" bIns="66675">
                      <a:normAutofit/>
                    </a:bodyPr>
                    <a:lstStyle/>
                    <a:p>
                      <a:r>
                        <a:rPr sz="1350" b="1">
                          <a:solidFill>
                            <a:srgbClr val="122033"/>
                          </a:solidFill>
                          <a:latin typeface="Arial"/>
                          <a:ea typeface="Arial"/>
                          <a:cs typeface="Arial"/>
                        </a:rPr>
                        <a:t>Typed values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22033"/>
                          </a:solidFill>
                          <a:latin typeface="Arial"/>
                          <a:ea typeface="Arial"/>
                          <a:cs typeface="Arial"/>
                        </a:rPr>
                        <a:t>Dates and datetimes use explicit Excel value types rather than locale-dependent text.</a:t>
                      </a:r>
                    </a:p>
                  </a:txBody>
                  <a:tcPr marL="91440" marR="91440" marT="45720" marB="45720"/>
                </a:tc>
                <a:tc>
                  <a:txBody>
                    <a:bodyPr lIns="85725" tIns="66675" rIns="85725" bIns="66675">
                      <a:normAutofit/>
                    </a:bodyPr>
                    <a:lstStyle/>
                    <a:p>
                      <a:r>
                        <a:rPr sz="1350" b="1">
                          <a:solidFill>
                            <a:srgbClr val="176B43"/>
                          </a:solidFill>
                          <a:latin typeface="Arial"/>
                          <a:ea typeface="Arial"/>
                          <a:cs typeface="Arial"/>
                        </a:rPr>
                        <a:t>Reject invalid schema</a:t>
                      </a:r>
                    </a:p>
                  </a:txBody>
                  <a:tcPr marL="91440" marR="91440" marT="45720" marB="45720" anchor="ctr">
                    <a:solidFill>
                      <a:srgbClr val="DDF6E8"/>
                    </a:solidFill>
                  </a:tcPr>
                </a:tc>
              </a:tr>
              <a:tr h="676275">
                <a:tc>
                  <a:txBody>
                    <a:bodyPr lIns="85725" tIns="66675" rIns="85725" bIns="66675">
                      <a:normAutofit/>
                    </a:bodyPr>
                    <a:lstStyle/>
                    <a:p>
                      <a:r>
                        <a:rPr sz="1350" b="1">
                          <a:solidFill>
                            <a:srgbClr val="122033"/>
                          </a:solidFill>
                          <a:latin typeface="Arial"/>
                          <a:ea typeface="Arial"/>
                          <a:cs typeface="Arial"/>
                        </a:rPr>
                        <a:t>Formula gate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22033"/>
                          </a:solidFill>
                          <a:latin typeface="Arial"/>
                          <a:ea typeface="Arial"/>
                          <a:cs typeface="Arial"/>
                        </a:rPr>
                        <a:t>External paths, URIs, DDE and high-risk executable or data functions remain blocked.</a:t>
                      </a:r>
                    </a:p>
                  </a:txBody>
                  <a:tcPr marL="91440" marR="91440" marT="45720" marB="45720"/>
                </a:tc>
                <a:tc>
                  <a:txBody>
                    <a:bodyPr lIns="85725" tIns="66675" rIns="85725" bIns="66675">
                      <a:normAutofit/>
                    </a:bodyPr>
                    <a:lstStyle/>
                    <a:p>
                      <a:r>
                        <a:rPr sz="1350" b="1">
                          <a:solidFill>
                            <a:srgbClr val="176B43"/>
                          </a:solidFill>
                          <a:latin typeface="Arial"/>
                          <a:ea typeface="Arial"/>
                          <a:cs typeface="Arial"/>
                        </a:rPr>
                        <a:t>Reject unsafe formula</a:t>
                      </a:r>
                    </a:p>
                  </a:txBody>
                  <a:tcPr marL="91440" marR="91440" marT="45720" marB="45720" anchor="ctr">
                    <a:solidFill>
                      <a:srgbClr val="DDF6E8"/>
                    </a:solidFill>
                  </a:tcPr>
                </a:tc>
              </a:tr>
              <a:tr h="676275">
                <a:tc>
                  <a:txBody>
                    <a:bodyPr lIns="85725" tIns="66675" rIns="85725" bIns="66675">
                      <a:normAutofit/>
                    </a:bodyPr>
                    <a:lstStyle/>
                    <a:p>
                      <a:r>
                        <a:rPr sz="1350" b="1">
                          <a:solidFill>
                            <a:srgbClr val="122033"/>
                          </a:solidFill>
                          <a:latin typeface="Arial"/>
                          <a:ea typeface="Arial"/>
                          <a:cs typeface="Arial"/>
                        </a:rPr>
                        <a:t>Save and reopen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22033"/>
                          </a:solidFill>
                          <a:latin typeface="Arial"/>
                          <a:ea typeface="Arial"/>
                          <a:cs typeface="Arial"/>
                        </a:rPr>
                        <a:t>The system saves a fresh copy, reopens it and verifies the target cells.</a:t>
                      </a:r>
                    </a:p>
                  </a:txBody>
                  <a:tcPr marL="91440" marR="91440" marT="45720" marB="45720"/>
                </a:tc>
                <a:tc>
                  <a:txBody>
                    <a:bodyPr lIns="85725" tIns="66675" rIns="85725" bIns="66675">
                      <a:normAutofit/>
                    </a:bodyPr>
                    <a:lstStyle/>
                    <a:p>
                      <a:r>
                        <a:rPr sz="1350" b="1">
                          <a:solidFill>
                            <a:srgbClr val="176B43"/>
                          </a:solidFill>
                          <a:latin typeface="Arial"/>
                          <a:ea typeface="Arial"/>
                          <a:cs typeface="Arial"/>
                        </a:rPr>
                        <a:t>Return the untouched workbook</a:t>
                      </a:r>
                    </a:p>
                  </a:txBody>
                  <a:tcPr marL="91440" marR="91440" marT="45720" marB="45720" anchor="ctr">
                    <a:solidFill>
                      <a:srgbClr val="DDF6E8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F36416-CAE1-4B08-AD69-8DED034D2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72150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 i="0">
                <a:solidFill>
                  <a:srgbClr val="122033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122033"/>
                </a:solidFill>
                <a:latin typeface="Arial"/>
                <a:ea typeface="Arial"/>
                <a:cs typeface="Arial"/>
              </a:rPr>
              <a:t>Rejected responses leave the supplied workbook unchanged.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4CF18C-0618-4405-A1BD-5C49D9C31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1D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B9C88E-8783-4EF5-8491-E504FFFB6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487"/>
                </a:solidFill>
                <a:latin typeface="Arial"/>
                <a:ea typeface="Arial"/>
                <a:cs typeface="Arial"/>
              </a:rPr>
              <a:t>FORMULABENCH  ·  RESEARCH / TRACK 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093E58-55D0-4F69-ACFF-3BBD3B158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 i="0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487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20079427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89BA516-2213-496F-9363-6208C6577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150" b="1" i="0">
                <a:solidFill>
                  <a:srgbClr val="122033"/>
                </a:solidFill>
                <a:latin typeface="Arial"/>
                <a:ea typeface="Arial"/>
                <a:cs typeface="Arial"/>
              </a:defRPr>
            </a:pPr>
            <a:r>
              <a:rPr sz="3150" b="1" i="0">
                <a:solidFill>
                  <a:srgbClr val="122033"/>
                </a:solidFill>
                <a:latin typeface="Arial"/>
                <a:ea typeface="Arial"/>
                <a:cs typeface="Arial"/>
              </a:rPr>
              <a:t>Most wrong cells were in structurally valid responses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EECD80-0C79-4710-A7B5-811F4E849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703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0" i="0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667487"/>
                </a:solidFill>
                <a:latin typeface="Arial"/>
                <a:ea typeface="Arial"/>
                <a:cs typeface="Arial"/>
              </a:rPr>
              <a:t>Responses that passed structural checks contained 94.84% of wrong cells. Rejected responses contained 5.16%.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419100" y="1638300"/>
          <a:ext xmlns:a="http://schemas.openxmlformats.org/drawingml/2006/main" cx="4953000" cy="4000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6cd158e5f2c4ee8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9E82BD-043A-401B-B844-3F3965E39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762125"/>
            <a:ext cx="4572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5100" b="1" i="0">
                <a:solidFill>
                  <a:srgbClr val="E76464"/>
                </a:solidFill>
                <a:latin typeface="Arial"/>
                <a:ea typeface="Arial"/>
                <a:cs typeface="Arial"/>
              </a:defRPr>
            </a:pPr>
            <a:r>
              <a:rPr sz="5100" b="1" i="0">
                <a:solidFill>
                  <a:srgbClr val="E76464"/>
                </a:solidFill>
                <a:latin typeface="Arial"/>
                <a:ea typeface="Arial"/>
                <a:cs typeface="Arial"/>
              </a:rPr>
              <a:t>94.84%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E3E75A-695E-4952-83E2-821391649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657475"/>
            <a:ext cx="4953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 i="0">
                <a:solidFill>
                  <a:srgbClr val="122033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122033"/>
                </a:solidFill>
                <a:latin typeface="Arial"/>
                <a:ea typeface="Arial"/>
                <a:cs typeface="Arial"/>
              </a:rPr>
              <a:t>221 structurally valid responses still contained incorrect cells.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C4E20E-CCB4-4B7A-9B3E-0CE4FE59C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6004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1D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E53A0A-98C9-476B-B61A-54A9161B6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857625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 i="0">
                <a:solidFill>
                  <a:srgbClr val="122033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122033"/>
                </a:solidFill>
                <a:latin typeface="Arial"/>
                <a:ea typeface="Arial"/>
                <a:cs typeface="Arial"/>
              </a:rPr>
              <a:t>84.76%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6E72AD-7301-400F-B909-8F1E7119B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829050"/>
            <a:ext cx="2952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 i="0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67487"/>
                </a:solidFill>
                <a:latin typeface="Arial"/>
                <a:ea typeface="Arial"/>
                <a:cs typeface="Arial"/>
              </a:rPr>
              <a:t>of all wrong cells came from four transformations with more than 10,000 target cells.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3405E8-1A0A-4D34-9682-3E07720C9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4895850"/>
            <a:ext cx="495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350" b="0" i="0">
                <a:solidFill>
                  <a:srgbClr val="12203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2033"/>
                </a:solidFill>
                <a:latin typeface="Arial"/>
                <a:ea typeface="Arial"/>
                <a:cs typeface="Arial"/>
              </a:rPr>
              <a:t>Context truncation pass rate: 24.10%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350" b="0" i="0">
                <a:solidFill>
                  <a:srgbClr val="12203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2033"/>
                </a:solidFill>
                <a:latin typeface="Arial"/>
                <a:ea typeface="Arial"/>
                <a:cs typeface="Arial"/>
              </a:rPr>
              <a:t>No truncation pass rate: 41.95%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C2428C-7ECF-4E59-B891-DE23AFE30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56197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 i="1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1200" b="0" i="1">
                <a:solidFill>
                  <a:srgbClr val="667487"/>
                </a:solidFill>
                <a:latin typeface="Arial"/>
                <a:ea typeface="Arial"/>
                <a:cs typeface="Arial"/>
              </a:rPr>
              <a:t>This association does not establish causation.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DE7052-49E5-4F2D-B3DE-25645D08F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1D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E31585-B7D1-481E-909C-B11A71424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487"/>
                </a:solidFill>
                <a:latin typeface="Arial"/>
                <a:ea typeface="Arial"/>
                <a:cs typeface="Arial"/>
              </a:rPr>
              <a:t>FORMULABENCH  ·  RESEARCH / TRACK 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DD0D77-DA2C-4FA4-890E-37A12C0A9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 i="0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487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95530223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D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97500CD-8E6F-4A7F-B92F-05E0B1D91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8059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122033"/>
                </a:solidFill>
                <a:latin typeface="Arial"/>
                <a:ea typeface="Arial"/>
                <a:cs typeface="Arial"/>
              </a:defRPr>
            </a:pPr>
            <a:r>
              <a:rPr sz="3300" b="1" i="0">
                <a:solidFill>
                  <a:srgbClr val="122033"/>
                </a:solidFill>
                <a:latin typeface="Arial"/>
                <a:ea typeface="Arial"/>
                <a:cs typeface="Arial"/>
              </a:rPr>
              <a:t>Organiser reference and FormulaBench use different test conditions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F37C66-CB06-42D3-8EB0-C7A3A2056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0" i="0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667487"/>
                </a:solidFill>
                <a:latin typeface="Arial"/>
                <a:ea typeface="Arial"/>
                <a:cs typeface="Arial"/>
              </a:rPr>
              <a:t>The base model is the same. The inference setup and requested output differ.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1420E9-843E-4DC4-9DAA-D64AA2BC0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2476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4200" b="1" i="0">
                <a:solidFill>
                  <a:srgbClr val="122033"/>
                </a:solidFill>
                <a:latin typeface="Arial"/>
                <a:ea typeface="Arial"/>
                <a:cs typeface="Arial"/>
              </a:defRPr>
            </a:pPr>
            <a:r>
              <a:rPr sz="4200" b="1" i="0">
                <a:solidFill>
                  <a:srgbClr val="122033"/>
                </a:solidFill>
                <a:latin typeface="Arial"/>
                <a:ea typeface="Arial"/>
                <a:cs typeface="Arial"/>
              </a:rPr>
              <a:t>≈59%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3CA152-2CC8-4FAB-B233-25748452E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860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 i="0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667487"/>
                </a:solidFill>
                <a:latin typeface="Arial"/>
                <a:ea typeface="Arial"/>
                <a:cs typeface="Arial"/>
              </a:rPr>
              <a:t>organiser reference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464BBE-47B7-44EA-988C-4CC771B51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19250"/>
            <a:ext cx="285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4200" b="1" i="0">
                <a:solidFill>
                  <a:srgbClr val="35C47A"/>
                </a:solidFill>
                <a:latin typeface="Arial"/>
                <a:ea typeface="Arial"/>
                <a:cs typeface="Arial"/>
              </a:defRPr>
            </a:pPr>
            <a:r>
              <a:rPr sz="4200" b="1" i="0">
                <a:solidFill>
                  <a:srgbClr val="35C47A"/>
                </a:solidFill>
                <a:latin typeface="Arial"/>
                <a:ea typeface="Arial"/>
                <a:cs typeface="Arial"/>
              </a:rPr>
              <a:t>33.25%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2538B5-C26E-464E-904E-E2FE1BD1A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28600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 i="0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667487"/>
                </a:solidFill>
                <a:latin typeface="Arial"/>
                <a:ea typeface="Arial"/>
                <a:cs typeface="Arial"/>
              </a:rPr>
              <a:t>FormulaBench public self-evaluation</a:t>
            </a:r>
          </a:p>
        </p:txBody>
      </p:sp>
      <p:graphicFrame>
        <p:nvGraphicFramePr>
          <p:cNvPr id="18" name=""/>
          <p:cNvGraphicFramePr/>
          <p:nvPr/>
        </p:nvGraphicFramePr>
        <p:xfrm>
          <a:off xmlns:a="http://schemas.openxmlformats.org/drawingml/2006/main" x="609600" y="3048000"/>
          <a:ext xmlns:a="http://schemas.openxmlformats.org/drawingml/2006/main" cx="10972800" cy="2381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809750"/>
                <a:gridCol w="3105150"/>
                <a:gridCol w="2571750"/>
                <a:gridCol w="3486150"/>
              </a:tblGrid>
              <a:tr h="457200">
                <a:tc>
                  <a:txBody>
                    <a:bodyPr lIns="85725" tIns="66675" rIns="85725" bIns="66675">
                      <a:normAutofit/>
                    </a:bodyPr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System</a:t>
                      </a:r>
                    </a:p>
                  </a:txBody>
                  <a:tcPr marL="91440" marR="91440" marT="45720" marB="45720" anchor="ctr">
                    <a:solidFill>
                      <a:srgbClr val="0B172A"/>
                    </a:solidFill>
                  </a:tcPr>
                </a:tc>
                <a:tc>
                  <a:txBody>
                    <a:bodyPr lIns="85725" tIns="66675" rIns="85725" bIns="66675">
                      <a:normAutofit/>
                    </a:bodyPr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Inference mode</a:t>
                      </a:r>
                    </a:p>
                  </a:txBody>
                  <a:tcPr marL="91440" marR="91440" marT="45720" marB="45720" anchor="ctr">
                    <a:solidFill>
                      <a:srgbClr val="0B172A"/>
                    </a:solidFill>
                  </a:tcPr>
                </a:tc>
                <a:tc>
                  <a:txBody>
                    <a:bodyPr lIns="85725" tIns="66675" rIns="85725" bIns="66675">
                      <a:normAutofit/>
                    </a:bodyPr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Requested output</a:t>
                      </a:r>
                    </a:p>
                  </a:txBody>
                  <a:tcPr marL="91440" marR="91440" marT="45720" marB="45720" anchor="ctr">
                    <a:solidFill>
                      <a:srgbClr val="0B172A"/>
                    </a:solidFill>
                  </a:tcPr>
                </a:tc>
                <a:tc>
                  <a:txBody>
                    <a:bodyPr lIns="85725" tIns="66675" rIns="85725" bIns="66675">
                      <a:normAutofit/>
                    </a:bodyPr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Validation evidence</a:t>
                      </a:r>
                    </a:p>
                  </a:txBody>
                  <a:tcPr marL="91440" marR="91440" marT="45720" marB="45720" anchor="ctr">
                    <a:solidFill>
                      <a:srgbClr val="0B172A"/>
                    </a:solidFill>
                  </a:tcPr>
                </a:tc>
              </a:tr>
              <a:tr h="962025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22033"/>
                          </a:solidFill>
                          <a:latin typeface="Arial"/>
                          <a:ea typeface="Arial"/>
                          <a:cs typeface="Arial"/>
                        </a:rPr>
                        <a:t>Organiser reference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22033"/>
                          </a:solidFill>
                          <a:latin typeface="Arial"/>
                          <a:ea typeface="Arial"/>
                          <a:cs typeface="Arial"/>
                        </a:rPr>
                        <a:t>xhigh reasoning inferred from the published runner and cookbook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22033"/>
                          </a:solidFill>
                          <a:latin typeface="Arial"/>
                          <a:ea typeface="Arial"/>
                          <a:cs typeface="Arial"/>
                        </a:rPr>
                        <a:t>Final scalar values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22033"/>
                          </a:solidFill>
                          <a:latin typeface="Arial"/>
                          <a:ea typeface="Arial"/>
                          <a:cs typeface="Arial"/>
                        </a:rPr>
                        <a:t>≈59% reported. Run traces and renderer metadata not published</a:t>
                      </a:r>
                    </a:p>
                  </a:txBody>
                  <a:tcPr marL="91440" marR="91440" marT="45720" marB="45720"/>
                </a:tc>
              </a:tr>
              <a:tr h="962025">
                <a:tc>
                  <a:txBody>
                    <a:bodyPr lIns="85725" tIns="66675" rIns="85725" bIns="66675">
                      <a:normAutofit/>
                    </a:bodyPr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275" b="1">
                          <a:solidFill>
                            <a:srgbClr val="122033"/>
                          </a:solidFill>
                          <a:latin typeface="Arial"/>
                          <a:ea typeface="Arial"/>
                          <a:cs typeface="Arial"/>
                        </a:rPr>
                        <a:t>FormulaBench</a:t>
                      </a:r>
                    </a:p>
                  </a:txBody>
                  <a:tcPr marL="91440" marR="91440" marT="45720" marB="45720" anchor="ctr">
                    <a:solidFill>
                      <a:srgbClr val="35C47A"/>
                    </a:solidFill>
                  </a:tcPr>
                </a:tc>
                <a:tc>
                  <a:txBody>
                    <a:bodyPr lIns="85725" tIns="66675" rIns="85725" bIns="66675">
                      <a:normAutofit/>
                    </a:bodyPr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275" b="0">
                          <a:solidFill>
                            <a:srgbClr val="122033"/>
                          </a:solidFill>
                          <a:latin typeface="Arial"/>
                          <a:ea typeface="Arial"/>
                          <a:cs typeface="Arial"/>
                        </a:rPr>
                        <a:t>One native Tinker sample at temperature 0 with thinking disabled</a:t>
                      </a:r>
                    </a:p>
                  </a:txBody>
                  <a:tcPr marL="91440" marR="91440" marT="45720" marB="45720" anchor="ctr">
                    <a:solidFill>
                      <a:srgbClr val="DDF6E8"/>
                    </a:solidFill>
                  </a:tcPr>
                </a:tc>
                <a:tc>
                  <a:txBody>
                    <a:bodyPr lIns="85725" tIns="66675" rIns="85725" bIns="66675">
                      <a:normAutofit/>
                    </a:bodyPr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275" b="0">
                          <a:solidFill>
                            <a:srgbClr val="122033"/>
                          </a:solidFill>
                          <a:latin typeface="Arial"/>
                          <a:ea typeface="Arial"/>
                          <a:cs typeface="Arial"/>
                        </a:rPr>
                        <a:t>Executable formulas and typed transformations</a:t>
                      </a:r>
                    </a:p>
                  </a:txBody>
                  <a:tcPr marL="91440" marR="91440" marT="45720" marB="45720" anchor="ctr">
                    <a:solidFill>
                      <a:srgbClr val="DDF6E8"/>
                    </a:solidFill>
                  </a:tcPr>
                </a:tc>
                <a:tc>
                  <a:txBody>
                    <a:bodyPr lIns="85725" tIns="66675" rIns="85725" bIns="66675">
                      <a:normAutofit/>
                    </a:bodyPr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275" b="0">
                          <a:solidFill>
                            <a:srgbClr val="122033"/>
                          </a:solidFill>
                          <a:latin typeface="Arial"/>
                          <a:ea typeface="Arial"/>
                          <a:cs typeface="Arial"/>
                        </a:rPr>
                        <a:t>Organiser-supplied evaluator. Exact coverage checks and full traces are available</a:t>
                      </a:r>
                    </a:p>
                  </a:txBody>
                  <a:tcPr marL="91440" marR="91440" marT="45720" marB="45720" anchor="ctr">
                    <a:solidFill>
                      <a:srgbClr val="DDF6E8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B1125E-150E-4002-B3B6-A7BD582CE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43575"/>
            <a:ext cx="1009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 i="0">
                <a:solidFill>
                  <a:srgbClr val="122033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122033"/>
                </a:solidFill>
                <a:latin typeface="Arial"/>
                <a:ea typeface="Arial"/>
                <a:cs typeface="Arial"/>
              </a:rPr>
              <a:t>The published evidence does not isolate the effect of any one component.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ACCCC3-C59E-4036-A59C-8A16AA3D4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1D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3A2954-9920-4096-8475-AABA6C2C3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487"/>
                </a:solidFill>
                <a:latin typeface="Arial"/>
                <a:ea typeface="Arial"/>
                <a:cs typeface="Arial"/>
              </a:rPr>
              <a:t>FORMULABENCH  ·  RESEARCH / TRACK 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87D580-2801-43EE-8CA5-B529A6198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 i="0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487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71127645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B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F379733-936C-4C7A-B21E-0F7E09899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7431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Next architecture: separate formula generation from large transformations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0F87F3-D799-4653-BBA6-5B8FBC642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952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0" i="0">
                <a:solidFill>
                  <a:srgbClr val="AAB6C5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AAB6C5"/>
                </a:solidFill>
                <a:latin typeface="Arial"/>
                <a:ea typeface="Arial"/>
                <a:cs typeface="Arial"/>
              </a:rPr>
              <a:t>Formula tasks use the model. Large transformations use fixed operations.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9B6104-A240-41A3-BCE3-AA5E0AB1F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 i="0">
                <a:solidFill>
                  <a:srgbClr val="35C47A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35C47A"/>
                </a:solidFill>
                <a:latin typeface="Arial"/>
                <a:ea typeface="Arial"/>
                <a:cs typeface="Arial"/>
              </a:rPr>
              <a:t>FORMULA TASKS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E19647-36B0-4F81-8918-8339A756D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3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Generate a formula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B93FE1-1945-44E5-8931-0B83E9D50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19400"/>
            <a:ext cx="4572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75" b="0" i="0">
                <a:solidFill>
                  <a:srgbClr val="C6D2DF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C6D2DF"/>
                </a:solidFill>
                <a:latin typeface="Arial"/>
                <a:ea typeface="Arial"/>
                <a:cs typeface="Arial"/>
              </a:rPr>
              <a:t>Recalculate locally and run task-specific checks before publishing the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9D2ACE-591E-481D-84E3-5651E4356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8478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 i="0">
                <a:solidFill>
                  <a:srgbClr val="35C47A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35C47A"/>
                </a:solidFill>
                <a:latin typeface="Arial"/>
                <a:ea typeface="Arial"/>
                <a:cs typeface="Arial"/>
              </a:rPr>
              <a:t>LARGE TRANSFORMATIONS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0D5C2F-3F89-46BB-9D6E-955EA5AC8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247900"/>
            <a:ext cx="476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3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Apply a fixed operation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51F5E8-BF56-424D-8354-EAB1697B7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819400"/>
            <a:ext cx="4762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75" b="0" i="0">
                <a:solidFill>
                  <a:srgbClr val="C6D2DF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C6D2DF"/>
                </a:solidFill>
                <a:latin typeface="Arial"/>
                <a:ea typeface="Arial"/>
                <a:cs typeface="Arial"/>
              </a:rPr>
              <a:t>Use rule-based code for filtering, sorting, appending, grouping, deduplicating and clearing.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E36F81-BCFF-4112-B514-BB775E37D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1790700"/>
            <a:ext cx="0" cy="2000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4425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F08957-8803-4C9B-8899-C74AC72A3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38625"/>
            <a:ext cx="109728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43B"/>
          </a:solidFill>
          <a:ln xmlns:a="http://schemas.openxmlformats.org/drawingml/2006/main" w="9525">
            <a:solidFill>
              <a:srgbClr val="34425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7807D1-FAAF-4CB6-BE5E-DCFD07414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7675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35C47A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35C47A"/>
                </a:solidFill>
                <a:latin typeface="Arial"/>
                <a:ea typeface="Arial"/>
                <a:cs typeface="Arial"/>
              </a:rPr>
              <a:t>LIVE RESEARCH DEMO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77B95C-22FC-487B-8029-11F0B78C8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10125"/>
            <a:ext cx="571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FFFFFF"/>
                </a:solidFill>
                <a:latin typeface="Arial"/>
                <a:ea typeface="Arial"/>
                <a:cs typeface="Arial"/>
                <a:hlinkClick xmlns:r="http://schemas.openxmlformats.org/officeDocument/2006/relationships" r:id="R5e29216e7cd24a5e"/>
              </a:rPr>
              <a:t>masterasnackin.github.io/FormulaBench/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DD9EE3-DD2C-4BD7-B95A-FA90A8ADE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476750"/>
            <a:ext cx="266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35C47A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35C47A"/>
                </a:solidFill>
                <a:latin typeface="Arial"/>
                <a:ea typeface="Arial"/>
                <a:cs typeface="Arial"/>
              </a:rPr>
              <a:t>PUBLIC REPOSITORY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C0AD02-F850-4C95-A5F3-FC47A8C5B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810125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FFFF"/>
                </a:solidFill>
                <a:latin typeface="Arial"/>
                <a:ea typeface="Arial"/>
                <a:cs typeface="Arial"/>
                <a:hlinkClick xmlns:r="http://schemas.openxmlformats.org/officeDocument/2006/relationships" r:id="Redafb4700ee547f3"/>
              </a:rPr>
              <a:t>github.com/MasteraSnackin/FormulaBench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7A43E5-DFDC-4CEC-B65E-BF2F327C5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62650"/>
            <a:ext cx="904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 i="0">
                <a:solidFill>
                  <a:srgbClr val="AAB6C5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AAB6C5"/>
                </a:solidFill>
                <a:latin typeface="Arial"/>
                <a:ea typeface="Arial"/>
                <a:cs typeface="Arial"/>
              </a:rPr>
              <a:t>The organiser's private benchmark is the unseen evaluation.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FBE43A1-0EF5-48CB-AF53-B2F10700A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4425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50E814-66AE-4CBD-980C-73FF1339D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AAB6C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AAB6C5"/>
                </a:solidFill>
                <a:latin typeface="Arial"/>
                <a:ea typeface="Arial"/>
                <a:cs typeface="Arial"/>
              </a:rPr>
              <a:t>FORMULABENCH  ·  RESEARCH / TRACK 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0078E2A-1CFF-491E-BEEE-D7C1C9241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 i="0">
                <a:solidFill>
                  <a:srgbClr val="AAB6C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AAB6C5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14239556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2026-09-06T00:11:36.8460000Z</dcterms:created>
  <dcterms:modified xsi:type="dcterms:W3CDTF">2026-09-06T00:11:36.8460000Z</dcterms:modified>
</coreProperties>
</file>