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7e248e54ca4c57" /><Relationship Type="http://schemas.openxmlformats.org/officeDocument/2006/relationships/extended-properties" Target="/docProps/app.xml" Id="Rf129f9ef78b24136" /><Relationship Type="http://schemas.openxmlformats.org/officeDocument/2006/relationships/officeDocument" Target="/ppt/presentation.xml" Id="R0c2e593f81c54b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ac833a9d24f85"/>
  </p:sldMasterIdLst>
  <p:notesMasterIdLst>
    <p:notesMasterId xmlns:r="http://schemas.openxmlformats.org/officeDocument/2006/relationships" r:id="R82541a6aec8346c5"/>
  </p:notesMasterIdLst>
  <p:sldIdLst>
    <p:sldId xmlns:r="http://schemas.openxmlformats.org/officeDocument/2006/relationships" id="256" r:id="Rdafacf28a072464e"/>
    <p:sldId xmlns:r="http://schemas.openxmlformats.org/officeDocument/2006/relationships" id="257" r:id="R63aaeafe973b4a96"/>
    <p:sldId xmlns:r="http://schemas.openxmlformats.org/officeDocument/2006/relationships" id="258" r:id="Rbf13457e6fff44db"/>
    <p:sldId xmlns:r="http://schemas.openxmlformats.org/officeDocument/2006/relationships" id="259" r:id="R6aa51fb55f7a439e"/>
    <p:sldId xmlns:r="http://schemas.openxmlformats.org/officeDocument/2006/relationships" id="260" r:id="Reb63f96e7c294c35"/>
    <p:sldId xmlns:r="http://schemas.openxmlformats.org/officeDocument/2006/relationships" id="261" r:id="Rf408ea5c99e943d6"/>
    <p:sldId xmlns:r="http://schemas.openxmlformats.org/officeDocument/2006/relationships" id="262" r:id="R897713fe105e4c69"/>
    <p:sldId xmlns:r="http://schemas.openxmlformats.org/officeDocument/2006/relationships" id="263" r:id="R347acec7cdf1473b"/>
    <p:sldId xmlns:r="http://schemas.openxmlformats.org/officeDocument/2006/relationships" id="264" r:id="R700fc36427b3403a"/>
    <p:sldId xmlns:r="http://schemas.openxmlformats.org/officeDocument/2006/relationships" id="265" r:id="R02ac2eeb8ab04251"/>
    <p:sldId xmlns:r="http://schemas.openxmlformats.org/officeDocument/2006/relationships" id="266" r:id="R7ef8a580822244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998b4431b447e4" /><Relationship Type="http://schemas.openxmlformats.org/officeDocument/2006/relationships/slideMaster" Target="/ppt/slideMasters/slideMaster1.xml" Id="R156ac833a9d24f85" /><Relationship Type="http://schemas.openxmlformats.org/officeDocument/2006/relationships/notesMaster" Target="/ppt/notesMasters/notesMaster1.xml" Id="R82541a6aec8346c5" /><Relationship Type="http://schemas.openxmlformats.org/officeDocument/2006/relationships/presProps" Target="/ppt/presProps.xml" Id="R7ba6da1e4abd49e8" /><Relationship Type="http://schemas.openxmlformats.org/officeDocument/2006/relationships/tableStyles" Target="/ppt/tableStyles.xml" Id="R8b396997c8b94118" /><Relationship Type="http://schemas.openxmlformats.org/officeDocument/2006/relationships/slide" Target="/ppt/slides/slide1.xml" Id="Rdafacf28a072464e" /><Relationship Type="http://schemas.openxmlformats.org/officeDocument/2006/relationships/slide" Target="/ppt/slides/slide2.xml" Id="R63aaeafe973b4a96" /><Relationship Type="http://schemas.openxmlformats.org/officeDocument/2006/relationships/slide" Target="/ppt/slides/slide3.xml" Id="Rbf13457e6fff44db" /><Relationship Type="http://schemas.openxmlformats.org/officeDocument/2006/relationships/slide" Target="/ppt/slides/slide4.xml" Id="R6aa51fb55f7a439e" /><Relationship Type="http://schemas.openxmlformats.org/officeDocument/2006/relationships/slide" Target="/ppt/slides/slide5.xml" Id="Reb63f96e7c294c35" /><Relationship Type="http://schemas.openxmlformats.org/officeDocument/2006/relationships/slide" Target="/ppt/slides/slide6.xml" Id="Rf408ea5c99e943d6" /><Relationship Type="http://schemas.openxmlformats.org/officeDocument/2006/relationships/slide" Target="/ppt/slides/slide7.xml" Id="R897713fe105e4c69" /><Relationship Type="http://schemas.openxmlformats.org/officeDocument/2006/relationships/slide" Target="/ppt/slides/slide8.xml" Id="R347acec7cdf1473b" /><Relationship Type="http://schemas.openxmlformats.org/officeDocument/2006/relationships/slide" Target="/ppt/slides/slide9.xml" Id="R700fc36427b3403a" /><Relationship Type="http://schemas.openxmlformats.org/officeDocument/2006/relationships/slide" Target="/ppt/slides/slide10.xml" Id="R02ac2eeb8ab04251" /><Relationship Type="http://schemas.openxmlformats.org/officeDocument/2006/relationships/slide" Target="/ppt/slides/slide11.xml" Id="R7ef8a580822244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fdd7949e6f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8e725c5004010" /><Relationship Type="http://schemas.openxmlformats.org/officeDocument/2006/relationships/notesMaster" Target="/ppt/notesMasters/notesMaster1.xml" Id="Ra03ff9dee66d43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550be31aa4906" /><Relationship Type="http://schemas.openxmlformats.org/officeDocument/2006/relationships/notesMaster" Target="/ppt/notesMasters/notesMaster1.xml" Id="Rb8d24d92f5fe4e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c1a543c2db4217" /><Relationship Type="http://schemas.openxmlformats.org/officeDocument/2006/relationships/notesMaster" Target="/ppt/notesMasters/notesMaster1.xml" Id="Rc4e01a5b6c3142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01f8712164266" /><Relationship Type="http://schemas.openxmlformats.org/officeDocument/2006/relationships/notesMaster" Target="/ppt/notesMasters/notesMaster1.xml" Id="R6a5313b6254d49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10cfca1f694861" /><Relationship Type="http://schemas.openxmlformats.org/officeDocument/2006/relationships/notesMaster" Target="/ppt/notesMasters/notesMaster1.xml" Id="Reea7cc9a086a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40bf1d1e014796" /><Relationship Type="http://schemas.openxmlformats.org/officeDocument/2006/relationships/notesMaster" Target="/ppt/notesMasters/notesMaster1.xml" Id="R49e7c3342e7b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07bc43d1554cd7" /><Relationship Type="http://schemas.openxmlformats.org/officeDocument/2006/relationships/notesMaster" Target="/ppt/notesMasters/notesMaster1.xml" Id="R21cc867fd4ee49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f8deff61da4e3e" /><Relationship Type="http://schemas.openxmlformats.org/officeDocument/2006/relationships/notesMaster" Target="/ppt/notesMasters/notesMaster1.xml" Id="Reca88bfd3a9c49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7444ac9a704124" /><Relationship Type="http://schemas.openxmlformats.org/officeDocument/2006/relationships/notesMaster" Target="/ppt/notesMasters/notesMaster1.xml" Id="R707b46d05b3f43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54c08505fd4b57" /><Relationship Type="http://schemas.openxmlformats.org/officeDocument/2006/relationships/notesMaster" Target="/ppt/notesMasters/notesMaster1.xml" Id="R472995cdb53d43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da720389b54770" /><Relationship Type="http://schemas.openxmlformats.org/officeDocument/2006/relationships/notesMaster" Target="/ppt/notesMasters/notesMaster1.xml" Id="R26c1328a370d44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SUBMISSION.md section Version and evidence status</a:t>
            </a:r>
          </a:p>
          <a:p xmlns:a="http://schemas.openxmlformats.org/drawingml/2006/main">
            <a:r>
              <a:t>formulabench/v2.py</a:t>
            </a:r>
          </a:p>
          <a:p xmlns:a="http://schemas.openxmlformats.org/drawingml/2006/main">
            <a:r>
              <a:t>exactsource/config.py</a:t>
            </a:r>
          </a:p>
          <a:p xmlns:a="http://schemas.openxmlformats.org/drawingml/2006/main">
            <a:r>
              <a:t>The typed plan shown here is illustrative and contains no benchmark answer.</a:t>
            </a:r>
          </a:p>
          <a:p xmlns:a="http://schemas.openxmlformats.org/drawingml/2006/main">
            <a:r>
              <a:t>Capture status: FormulaBench v2 is the current default candidate and has no published 400-task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SUBMISSION.md sections Version and evidence status and Current v2 model path</a:t>
            </a:r>
          </a:p>
          <a:p xmlns:a="http://schemas.openxmlformats.org/drawingml/2006/main">
            <a:r>
              <a:t>experiments/v2_migration_validation.json</a:t>
            </a:r>
          </a:p>
          <a:p xmlns:a="http://schemas.openxmlformats.org/drawingml/2006/main">
            <a:r>
              <a:t>The migration replay and selected canaries are engineering evidence, not benchmark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exactsource/config.py</a:t>
            </a:r>
          </a:p>
          <a:p xmlns:a="http://schemas.openxmlformats.org/drawingml/2006/main">
            <a:r>
              <a:t>exactsource/runner.py</a:t>
            </a:r>
          </a:p>
          <a:p xmlns:a="http://schemas.openxmlformats.org/drawingml/2006/main">
            <a:r>
              <a:t>exactsource/contracts.py</a:t>
            </a:r>
          </a:p>
          <a:p xmlns:a="http://schemas.openxmlformats.org/drawingml/2006/main">
            <a:r>
              <a:t>SUBMISSION.md section Current v2 model path</a:t>
            </a:r>
          </a:p>
          <a:p xmlns:a="http://schemas.openxmlformats.org/drawingml/2006/main">
            <a:r>
              <a:t>FormulaBench v2 fixes the model at Qwen/Qwen3.8-27B and the concurrency at four.</a:t>
            </a:r>
          </a:p>
          <a:p xmlns:a="http://schemas.openxmlformats.org/drawingml/2006/main">
            <a:r>
              <a:t>Each task has at most two logical model calls: initial plus one repair, or initial plus one cell truncation recovery.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ARCHITECTURE.md</a:t>
            </a:r>
          </a:p>
          <a:p xmlns:a="http://schemas.openxmlformats.org/drawingml/2006/main">
            <a:r>
              <a:t>exactsource/context.py</a:t>
            </a:r>
          </a:p>
          <a:p xmlns:a="http://schemas.openxmlformats.org/drawingml/2006/main">
            <a:r>
              <a:t>exactsource/plans.py</a:t>
            </a:r>
          </a:p>
          <a:p xmlns:a="http://schemas.openxmlformats.org/drawingml/2006/main">
            <a:r>
              <a:t>exactsource/sandbox.py</a:t>
            </a:r>
          </a:p>
          <a:p xmlns:a="http://schemas.openxmlformats.org/drawingml/2006/main">
            <a:r>
              <a:t>The distinction between executable output and benchmark correctness is central to the organiser evaluator.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exactsource/runner.py</a:t>
            </a:r>
          </a:p>
          <a:p xmlns:a="http://schemas.openxmlformats.org/drawingml/2006/main">
            <a:r>
              <a:t>exactsource/artifacts.py</a:t>
            </a:r>
          </a:p>
          <a:p xmlns:a="http://schemas.openxmlformats.org/drawingml/2006/main">
            <a:r>
              <a:t>exactsource/plans.py</a:t>
            </a:r>
          </a:p>
          <a:p xmlns:a="http://schemas.openxmlformats.org/drawingml/2006/main">
            <a:r>
              <a:t>formulabench/v2.py</a:t>
            </a:r>
          </a:p>
          <a:p xmlns:a="http://schemas.openxmlformats.org/drawingml/2006/main">
            <a:r>
              <a:t>Rejected work is never applied to the published submission workbook. The pristine input is retained as the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exactsource/plans.py</a:t>
            </a:r>
          </a:p>
          <a:p xmlns:a="http://schemas.openxmlformats.org/drawingml/2006/main">
            <a:r>
              <a:t>exactsource/formula_safety.py</a:t>
            </a:r>
          </a:p>
          <a:p xmlns:a="http://schemas.openxmlformats.org/drawingml/2006/main">
            <a:r>
              <a:t>exactsource/sandbox.py</a:t>
            </a:r>
          </a:p>
          <a:p xmlns:a="http://schemas.openxmlformats.org/drawingml/2006/main">
            <a:r>
              <a:t>exactsource/artifacts.py</a:t>
            </a:r>
          </a:p>
          <a:p xmlns:a="http://schemas.openxmlformats.org/drawingml/2006/main">
            <a:r>
              <a:t>The table describes deterministic guards. It is not evidence of formula correctness.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experiments/v2_migration_validation.json section credential_free_parity</a:t>
            </a:r>
          </a:p>
          <a:p xmlns:a="http://schemas.openxmlformats.org/drawingml/2006/main">
            <a:r>
              <a:t>tools/verify_v2_parity.py</a:t>
            </a:r>
          </a:p>
          <a:p xmlns:a="http://schemas.openxmlformats.org/drawingml/2006/main">
            <a:r>
              <a:t>Recorded result: 400 checked, 369 accepted plan replays, 31 safe fallback byte checks, zero mismatches, 88.13 seconds including container startup.</a:t>
            </a:r>
          </a:p>
          <a:p xmlns:a="http://schemas.openxmlformats.org/drawingml/2006/main">
            <a:r>
              <a:t>The replay made zero model calls, read no golden workbooks and does not establish FormulaBench v2 benchmark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evaluate.py</a:t>
            </a:r>
          </a:p>
          <a:p xmlns:a="http://schemas.openxmlformats.org/drawingml/2006/main">
            <a:r>
              <a:t>SUBMISSION.md section Historical v1 verified evaluation</a:t>
            </a:r>
          </a:p>
          <a:p xmlns:a="http://schemas.openxmlformats.org/drawingml/2006/main">
            <a:r>
              <a:t>experiments/v2_migration_validation.json</a:t>
            </a:r>
          </a:p>
          <a:p xmlns:a="http://schemas.openxmlformats.org/drawingml/2006/main">
            <a:r>
              <a:t>The organiser-supplied evaluator is the benchmark authority for the public task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experiments/v2_migration_validation.json section live_canaries</a:t>
            </a:r>
          </a:p>
          <a:p xmlns:a="http://schemas.openxmlformats.org/drawingml/2006/main">
            <a:r>
              <a:t>Task 54513 used typed operations and passed one of one target cell.</a:t>
            </a:r>
          </a:p>
          <a:p xmlns:a="http://schemas.openxmlformats.org/drawingml/2006/main">
            <a:r>
              <a:t>Task 23-24 used screened Python and passed 5,510 of 5,510 target cells.</a:t>
            </a:r>
          </a:p>
          <a:p xmlns:a="http://schemas.openxmlformats.org/drawingml/2006/main">
            <a:r>
              <a:t>Both cases were selected as route diagnostics and do not estimate the 400-task pass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submissions/formulabench/results.json</a:t>
            </a:r>
          </a:p>
          <a:p xmlns:a="http://schemas.openxmlformats.org/drawingml/2006/main">
            <a:r>
              <a:t>experiments/v2_migration_validation.json sections upstream_scored_reference and status</a:t>
            </a:r>
          </a:p>
          <a:p xmlns:a="http://schemas.openxmlformats.org/drawingml/2006/main">
            <a:r>
              <a:t>FormulaBench v1: 133 of 400 tasks, 33.25 per cent pass rate and 40.56 per cent cell accuracy.</a:t>
            </a:r>
          </a:p>
          <a:p xmlns:a="http://schemas.openxmlformats.org/drawingml/2006/main">
            <a:r>
              <a:t>Historical ExactSource source run: 302 of 400 tasks, 75.50 per cent pass rate and 80.06 per cent cell accuracy.</a:t>
            </a:r>
          </a:p>
          <a:p xmlns:a="http://schemas.openxmlformats.org/drawingml/2006/main">
            <a:r>
              <a:t>The ExactSource result is the source baseline whose implementation was migrated. It is not a FormulaBench v2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 sections Quick start and V2 migration evidence</a:t>
            </a:r>
          </a:p>
          <a:p xmlns:a="http://schemas.openxmlformats.org/drawingml/2006/main">
            <a:r>
              <a:t>SUBMISSION.md sections Version and evidence status and Code</a:t>
            </a:r>
          </a:p>
          <a:p xmlns:a="http://schemas.openxmlformats.org/drawingml/2006/main">
            <a:r>
              <a:t>scripts/run_docker.sh</a:t>
            </a:r>
          </a:p>
          <a:p xmlns:a="http://schemas.openxmlformats.org/drawingml/2006/main">
            <a:r>
              <a:t>https://github.com/MasteraSnackin/FormulaBench</a:t>
            </a:r>
          </a:p>
          <a:p xmlns:a="http://schemas.openxmlformats.org/drawingml/2006/main">
            <a:r>
              <a:t>Capture status is dated because a later complete organiser-evaluated run may supersede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754b5036a49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14fecf7d4f41e7" /><Relationship Type="http://schemas.openxmlformats.org/officeDocument/2006/relationships/slideLayout" Target="/ppt/slideLayouts/slideLayout1.xml" Id="R3ff7c5109250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f7c5109250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5e626cb324581" /><Relationship Type="http://schemas.openxmlformats.org/officeDocument/2006/relationships/notesSlide" Target="/ppt/notesSlides/notesSlide1.xml" Id="R95f5f96fdffb4f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0445831c5402c" /><Relationship Type="http://schemas.openxmlformats.org/officeDocument/2006/relationships/notesSlide" Target="/ppt/notesSlides/notesSlide2.xml" Id="Red93da53b9244b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a37f3b0a6441e" /><Relationship Type="http://schemas.openxmlformats.org/officeDocument/2006/relationships/notesSlide" Target="/ppt/notesSlides/notesSlide3.xml" Id="R2968a11a3ddf45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584acfc2e483c" /><Relationship Type="http://schemas.openxmlformats.org/officeDocument/2006/relationships/notesSlide" Target="/ppt/notesSlides/notesSlide4.xml" Id="Rc9927694a75b45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10a0c3ef5494a" /><Relationship Type="http://schemas.openxmlformats.org/officeDocument/2006/relationships/notesSlide" Target="/ppt/notesSlides/notesSlide5.xml" Id="R40e27a169d7442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416235d24d95" /><Relationship Type="http://schemas.openxmlformats.org/officeDocument/2006/relationships/notesSlide" Target="/ppt/notesSlides/notesSlide6.xml" Id="R8ddc3b25131c4e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5962dc86145bd" /><Relationship Type="http://schemas.openxmlformats.org/officeDocument/2006/relationships/notesSlide" Target="/ppt/notesSlides/notesSlide7.xml" Id="R45fab12fa11d45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6ef6b0a894713" /><Relationship Type="http://schemas.openxmlformats.org/officeDocument/2006/relationships/notesSlide" Target="/ppt/notesSlides/notesSlide8.xml" Id="R6a3490ced6c04e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d083188b64317" /><Relationship Type="http://schemas.openxmlformats.org/officeDocument/2006/relationships/notesSlide" Target="/ppt/notesSlides/notesSlide9.xml" Id="R357494b00eaf40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bfb84b7744984" /><Relationship Type="http://schemas.openxmlformats.org/officeDocument/2006/relationships/chart" Target="/ppt/slides/charts/chart1.xml" Id="R2b171b41d7124eec" /><Relationship Type="http://schemas.openxmlformats.org/officeDocument/2006/relationships/notesSlide" Target="/ppt/notesSlides/notesSlide10.xml" Id="R0d370052502540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74cd4b27b4dbc" /><Relationship Type="http://schemas.openxmlformats.org/officeDocument/2006/relationships/hyperlink" Target="https://github.com/MasteraSnackin/FormulaBench" TargetMode="External" Id="R8ade2d4296f44904" /><Relationship Type="http://schemas.openxmlformats.org/officeDocument/2006/relationships/notesSlide" Target="/ppt/notesSlides/notesSlide11.xml" Id="R5204b73fa4384c6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Task pass rate</c:v>
          </c:tx>
          <c:spPr>
            <a:solidFill xmlns:a="http://schemas.openxmlformats.org/drawingml/2006/main">
              <a:srgbClr val="35C47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A9BC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5C47A"/>
              </a:solidFill>
            </c:spPr>
          </c:dPt>
          <c:cat>
            <c:strLit>
              <c:ptCount val="2"/>
              <c:pt idx="0">
                <c:v>FormulaBench v1</c:v>
              </c:pt>
              <c:pt idx="1">
                <c:v>ExactSource source run</c:v>
              </c:pt>
            </c:strLit>
          </c:cat>
          <c:val>
            <c:numLit>
              <c:formatCode>0.00%</c:formatCode>
              <c:ptCount val="2"/>
              <c:pt idx="0">
                <c:v>0.3325</c:v>
              </c:pt>
              <c:pt idx="1">
                <c:v>0.755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2203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D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8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869E6-B0DC-4B34-94C2-1D0B381A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FORMULABENCH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D9678-5283-4524-98A4-E231ECC9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FormulaBench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F96DC-80A1-4C06-9002-8317148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0" i="0">
                <a:solidFill>
                  <a:srgbClr val="D9E0E8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9E0E8"/>
                </a:solidFill>
                <a:latin typeface="Arial"/>
                <a:ea typeface="Arial"/>
                <a:cs typeface="Arial"/>
              </a:rPr>
              <a:t>Guarded workbook execution for Qwen3.8-27B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7132C-95D9-468C-99AC-C02C1C8E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C4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A52D6-1FC2-40A9-A11A-2AC42CBC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Research: Excel Formula Generation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Encode x Ylookup Rebuild Private Markets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A0599-F3BB-498A-852C-4707467F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66825"/>
            <a:ext cx="4000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05BBA-E6DE-4FAB-95EF-AD64786C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14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TYPED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6D2E2-9D23-4D25-96AE-DD8F290D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95475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"route": "operations",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"edits": [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    "sheet": "Returns",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    "cell": "H9"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]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6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CC706-9D1C-4D84-AF16-9C49163C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053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8F9C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F9CAE"/>
                </a:solidFill>
                <a:latin typeface="Arial"/>
                <a:ea typeface="Arial"/>
                <a:cs typeface="Arial"/>
              </a:rPr>
              <a:t>ILLUSTRATIVE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DD24F-ABA7-417C-85A6-6B73E250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4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AC6F0-DE53-4E24-A36E-849AC1B9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81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0B172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172A"/>
                </a:solidFill>
                <a:latin typeface="Arial"/>
                <a:ea typeface="Arial"/>
                <a:cs typeface="Arial"/>
              </a:rPr>
              <a:t>CURRENT DEFAULT 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ED90B-0A18-4B51-81B3-AF873608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81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E4B94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4B94F"/>
                </a:solidFill>
                <a:latin typeface="Arial"/>
                <a:ea typeface="Arial"/>
                <a:cs typeface="Arial"/>
              </a:rPr>
              <a:t>UNSCORED AT 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4B758-F99A-4387-9B4A-6C1D682C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81675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6 September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60475-44DF-4DE0-9A6B-7472D62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52738-4D54-46B0-A264-67E01290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6EE0B-9A9A-4E5C-8D67-D8F1D3D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5376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9345D2-04A5-4624-A32E-056297C7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Three records answer three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FCA87-79E1-4BF2-A663-A32C5B52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keeps execution evidence separate from benchmark accuracy.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8DE0E-0BCD-492F-9F3C-7DCE6F58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2575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F92EE-1183-4E06-B002-7D6B779D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BC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FEB5C-5F8D-4807-9724-156A235A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4A9BC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A9BC2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D413F-726A-4C0B-BF23-793EE25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Can the path run?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31751-E527-4B31-AD06-BDF55BEF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Typed operations and screened Python execute under bounded checks, then save to a fresh copy.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D5F2F-5D75-40D6-9A64-0CD31291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50FE2-95C1-4ECF-A70D-5B377EBA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Code, tests and route canaries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92EAE-3984-4932-A066-C4BEB352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2575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29F21-5749-41D7-81E1-474D934D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4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CAA1D-58DF-4DF1-8944-3AEF4F00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9775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MIGRATION PARITY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9089E-C8A4-4D9C-9D9C-B1D62A0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Did the wrapper preserve behaviour?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89269-827C-43A9-93E4-B2D30EB7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A credential-free replay compared retained ExactSource outcomes with the FormulaBench v2 wrapper.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0A6AE-6111-4F48-A092-DF3B1D7A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B79DD-7DE6-4A51-B7F9-AE82CB5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0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400 checked, zero mismatches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B11BA-5048-4271-94EB-49A254B0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2575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5CAE7-13C3-4317-BEAF-FA1FB896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46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5149E-7F2F-444C-9758-C969A81F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9775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E7646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76464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690B1-3770-4197-BB9A-B3863BD8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Are the answers correct?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C67B7-E937-4E56-A3DD-4EE574CF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Only a complete output scored by the unchanged organiser evaluator can establish v2 accuracy.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AB985-62B4-43D1-8209-E7A6E965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EFACE-682D-4744-BCF1-8C9019FF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0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Fresh v2 result not yet published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5AC79-31D0-45C9-AC84-DA4CDFAA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87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819BE-6B66-44B7-B8D7-FCD9AB9F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These records are reported separately. None is converted into a FormulaBench v2 score.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BD7C3-949B-45A6-A781-50AFBAF5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C764F-5B32-4D93-BEE1-34F690A4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9EE8E-EE9C-4497-84A4-09DF89BC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6035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5A7434-8827-4F47-BDE9-5195093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One model, two bounded execution routes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22DCF-435C-4B26-A387-DFECFD70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Qwen/Qwen3.8-27B produces a typed plan from bounded workbook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CAB71-91CB-47F0-BF39-96598E1F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F1093-3939-4623-B53F-E20A9ADA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192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QWEN/QWEN3.8-27B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17260-7534-412E-A23F-E02302C0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Initial plan, then at most one repair or truncation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CF2A1-012B-4F12-BBB6-1CF7C765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954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CONCURRENCY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DD604-3C0C-4209-8F11-857CE624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33400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B27BF-8D0D-4991-A7AA-F9508DAF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4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1C53C-7FF6-4CC6-B91B-CE10B29F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TARGET CELLS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24658-AD10-4033-9053-BB888DE7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042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Typed workbook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C7787-2DFE-477B-9A4D-C0F65ED2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619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Cell-level tasks can use only the declarative operation route. Every edit carries an explicit sheet and address.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8683F-739D-47C4-905E-CCD3B24C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Containment and formula checks before 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E0308-5AC4-4A7B-ADC3-36EF0E6B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533400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3348A-2874-42E1-ABCF-5164E068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7620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B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6B0C8-6893-4774-B53B-894B455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4A9BC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A9BC2"/>
                </a:solidFill>
                <a:latin typeface="Arial"/>
                <a:ea typeface="Arial"/>
                <a:cs typeface="Arial"/>
              </a:rPr>
              <a:t>LARGER SHEET TASKS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0DAE5-5DC9-41D7-8B5A-7C0367CB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Typed operations or screened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C3EB7-9A1F-46CB-9A30-91A33B0F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619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Sheet-level transformations can use the same operations or screened Python with limited imports and resources.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54634-7972-4FB8-B413-E101270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Temporary execution before publication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3070D-2253-4FB9-BFAB-CB5E9C8F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CF"/>
          </a:solidFill>
          <a:ln xmlns:a="http://schemas.openxmlformats.org/drawingml/2006/main" w="9525">
            <a:solidFill>
              <a:srgbClr val="E4B9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FC43C-B5A5-4CF9-BDD2-7570F26C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5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second-call allowance is exclusive. A task never gets both repair and truncation recovery.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483B1-E9E2-4626-86DA-BD0E4687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39456-019C-4541-AEE4-5787D47C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0CA42-71D0-4661-B421-B167C423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8216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72D6F6-9594-4A74-A75E-4DD20195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 valid workbook can still contain a wrong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085F9-62B8-4F4C-A5B9-A13F2F1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V2 contains failures it can verify. The organiser evaluator still decides correctness.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B1799-91A7-4EBF-9BF3-163C5681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E3C7F-F8FD-453A-BBFA-8454714A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2766D-EC81-459D-97C4-EFF745FC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The needed sheet, range or existing formula is missing from the bounded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37E9B-B314-4FBD-B328-A464B82D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240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FC4DD-25F1-4F08-90EE-93805C49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436C1-C77B-4680-83CA-AE64780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11244-E1B5-42A4-AF30-BAF11075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9925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The plan omits a target, duplicates an edit or writes outside the allowed area.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D2DF3-16A0-4BD3-BAB3-860F119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0A929-6343-4794-9150-BD84EBB4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90DCA-DC5E-486B-82D7-B5A7E731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Workbook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E157C-ACAD-4E7B-BF00-73A5C3CC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9925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The plan violates formula policy, resource limits or the save and reopen contract.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A3CFC-FB2D-4532-8A41-DF6A5581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E6FD0-26BA-4FF6-9B95-ACFA4928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 i="0">
                <a:solidFill>
                  <a:srgbClr val="E7646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764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34B63-93B7-4C6D-B3A2-DD055027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Semantics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C0E11-0069-4474-80E8-AA8CBBDE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9925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The output opens and recalculates, yet the investment result is still wrong.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69725-4111-42E9-A71A-B640FB32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24249-C402-4AB9-9025-EE7235B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Execution checks can reject unsafe work. They cannot certify a financially correct answer.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DD7AB-28BE-4F57-BB94-8A798A72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4FD72-CF49-411B-AAE8-A0DAF8F7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AA8BC-9885-40B6-A78A-FD1E925C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781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432CD2-9ADD-453B-9C12-3D61E41C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V2 publishes only after the complete guarded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2FD7A-C0FF-48D6-81EE-8B8F4021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The pristine workbook remains the recovery source throughout the task.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BB44D-41D2-44DF-A724-38104A8E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453243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EDD5B-AEAE-4807-AACB-467DADB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11103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83543-E99A-4A56-AB01-6966F2B1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11034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636D7-64C8-4365-91ED-81A0E165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1484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Pristine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BE0DB-F95B-41D6-9678-22AF9E6F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193" y="1847850"/>
            <a:ext cx="1453243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89099-128F-485F-B4C0-B5D0DDA7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643" y="2047875"/>
            <a:ext cx="11103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3ACA5-020A-4FEA-AB61-AE06BEC9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643" y="2590800"/>
            <a:ext cx="111034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C0256-2142-4236-82F5-EA081668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593" y="3333750"/>
            <a:ext cx="11484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Bounded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10E9D-00CD-44D6-AFA9-8507EE1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786" y="1847850"/>
            <a:ext cx="1453243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B9DFA-EEAD-4A2D-866C-6CC08BBC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236" y="2047875"/>
            <a:ext cx="11103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231E9-BB1B-4DC9-AEEF-C708C5E7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236" y="2590800"/>
            <a:ext cx="111034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CE53D-016C-4762-9FA8-46D67C50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86" y="3333750"/>
            <a:ext cx="11484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Initial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4B4E5-8E11-4CB0-9FA5-378F07EC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79" y="1847850"/>
            <a:ext cx="1453243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47889-4233-494E-B50E-A2A76E3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829" y="2047875"/>
            <a:ext cx="11103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B2569-D8D1-4F39-8BC8-8C83CE7C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829" y="2590800"/>
            <a:ext cx="111034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F6B73-1152-4390-A0EE-A3A0460F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779" y="3333750"/>
            <a:ext cx="11484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Parse and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EC8CD-2CFB-4B90-BBB6-D3E179A4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71" y="1847850"/>
            <a:ext cx="1453243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04B"/>
          </a:solidFill>
          <a:ln xmlns:a="http://schemas.openxmlformats.org/drawingml/2006/main" w="19050">
            <a:solidFill>
              <a:srgbClr val="E4B9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B5819-5E07-42D9-AAB5-A54B1570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421" y="2047875"/>
            <a:ext cx="11103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4B94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4B94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EE254-027B-4C8F-99A7-17F98D2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421" y="2590800"/>
            <a:ext cx="111034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EE93E-33FC-4F44-A11E-E00F18BB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371" y="3333750"/>
            <a:ext cx="11484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Optional second 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7D337-08C6-4381-BDD7-BCB77B5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564" y="1847850"/>
            <a:ext cx="1453243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92A39-0DE6-4106-93FE-C8D191E2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014" y="2047875"/>
            <a:ext cx="11103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9CD73-EE31-41CD-A7F2-B8B92704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014" y="2590800"/>
            <a:ext cx="111034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274706-860D-41CB-BAA4-889FD3AC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964" y="3333750"/>
            <a:ext cx="11484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Temporary copy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3EA2F-63DD-4192-B310-146E7E69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157" y="1847850"/>
            <a:ext cx="1453243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353B6-A2EE-4098-8918-0B200252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07" y="2047875"/>
            <a:ext cx="11103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7363AC-348B-4564-9041-CF86BF4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07" y="2590800"/>
            <a:ext cx="111034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D29E56-150B-4113-B048-39867A9A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557" y="3333750"/>
            <a:ext cx="11484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Validated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5C37E-5F66-40CB-85B1-7CA83347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95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9EDFDB-83BC-492A-9966-9BE4192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PASS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A5F6C-BC94-48D3-B877-3B46D7A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targets, formulas, resources and workbook save. Then publish atomically.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C36AE4-07C7-48AF-8B8C-4DB3E75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733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30"/>
          </a:solidFill>
          <a:ln xmlns:a="http://schemas.openxmlformats.org/drawingml/2006/main" w="9525">
            <a:solidFill>
              <a:srgbClr val="E764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67CB4C-1409-4455-93DB-1E5D2B9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958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E7646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76464"/>
                </a:solidFill>
                <a:latin typeface="Arial"/>
                <a:ea typeface="Arial"/>
                <a:cs typeface="Arial"/>
              </a:rPr>
              <a:t>REJECT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223DC4-BBB3-42F8-BC5E-55139E9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Discard the work and copy the pristine input to the submission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C1D14D-5085-4613-A480-1FAF6701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423CCC-8D4C-43A1-8DAD-7CA92FEF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F83D10-A554-4A51-B119-071D1C47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6554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A96661-3E63-4263-999F-FDF4168B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Checks before a workbook can be published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A74FF-2418-4897-A2E4-B6D07F8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Typed operations and the sheet route share a fail-closed publication boundary.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6191250"/>
                <a:gridCol w="2638425"/>
              </a:tblGrid>
              <a:tr h="4572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Boundary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evidence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 failure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</a:tr>
              <a:tr h="6858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Target containment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Every edit remains inside the declared worksheet and target area.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Reject the plan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  <a:tr h="6858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Resource policy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The selected route stays within bounded time, memory and import limits.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Stop execution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  <a:tr h="6858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Formula policy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Formula assignments pass the workbook formula checks before publication.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Reject the plan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  <a:tr h="6858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Workbook save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A fresh copy saves successfully and reopens under the output contract.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Discard the copy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  <a:tr h="6858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Output integrity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The published workbook and recorded prediction agree on the task outcome.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Use pristine fallback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D16D9-54ED-49B1-899D-69912BDE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Rejected plans preserve the pristine workbook.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8ADAB-CDB5-44BE-B94F-A2AA0799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55C43-BEA6-4A8A-8E9F-41AA5F8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42FB1-17BD-40AF-83BB-4EEE4458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3801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F6AFCD-7264-4201-B716-05FA060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Migration parity reproduced all 400 retained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6F53D-528C-42E4-92DA-45431B6C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A credential-free replay compared the FormulaBench v2 wrapper with retained ExactSource artefacts.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B5026-2B59-4DB5-B03A-51EDCD07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88FBD-57D4-4359-8427-1D06BB2D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0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tasks checked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98FCB-A7EC-4630-A3BA-5EF322E5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369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B364B-A705-4639-9C16-C43D2BC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00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accepted plan replays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79A82-EB1F-49BC-9444-53A5F178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 i="0">
                <a:solidFill>
                  <a:srgbClr val="E4B94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E4B94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A9283-F7F8-4625-AB76-23230280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00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4B9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4B94F"/>
                </a:solidFill>
                <a:latin typeface="Arial"/>
                <a:ea typeface="Arial"/>
                <a:cs typeface="Arial"/>
              </a:rPr>
              <a:t>pristine fallback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9ABC6-0E18-4C16-9424-78FB3788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 i="0">
                <a:solidFill>
                  <a:srgbClr val="4A9BC2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4A9BC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C3748-CD14-438E-85E7-7414E245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00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4A9BC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A9BC2"/>
                </a:solidFill>
                <a:latin typeface="Arial"/>
                <a:ea typeface="Arial"/>
                <a:cs typeface="Arial"/>
              </a:rPr>
              <a:t>wrapper mismatches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B2184-C790-488D-9928-189B154A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477DB-07DF-480D-8651-1302B5C9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5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88.13 seconds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F937C-7C87-40B3-A8C4-C509E364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host wall time, including container startup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2E671-614F-44C1-B5CA-E08BD7EE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Accepted plans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AA376-7AD6-4812-8170-CBD200A3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338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425" b="0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Rebuilt workbook content and compared the OOXML member inventory and payloads after normalising core timestamps.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F5A06-C915-44A5-8CA0-A796DD7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4B9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4B94F"/>
                </a:solidFill>
                <a:latin typeface="Arial"/>
                <a:ea typeface="Arial"/>
                <a:cs typeface="Arial"/>
              </a:rPr>
              <a:t>Fallback plans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BAFA2-5B69-49FA-9F5F-10BC974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101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Required byte-identical output against each pristine input workbook.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F9D03-DE67-4751-A83E-AE7E1760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04C9D-095D-4653-AFD5-CBC660E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5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Zero model calls. No golden workbooks read. This is migration parity, not benchmark accuracy.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C3B82-853B-4B69-B934-18D88F25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1DCBB-16A4-49E4-868D-05B63CF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F2C41-DEEB-45B0-95C5-5C351F4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7577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0FB33-6DB1-40B5-998B-7E497562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evaluator grades results, not plausible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A8E4C-C9A3-4140-BF3A-62358033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A complete v2 score requires the unchanged organiser evaluation path.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810000"/>
                <a:gridCol w="4972050"/>
              </a:tblGrid>
              <a:tr h="47625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establishes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</a:tr>
              <a:tr h="714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1  Recalculate</a:t>
                      </a:r>
                    </a:p>
                  </a:txBody>
                  <a:tcPr marL="91440" marR="91440" marT="45720" marB="45720" anchor="ctr">
                    <a:solidFill>
                      <a:srgbClr val="E2F1F7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Generated workbook opened by LibreOffice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Formulas produce current workbook values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714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2  Compare</a:t>
                      </a:r>
                    </a:p>
                  </a:txBody>
                  <a:tcPr marL="91440" marR="91440" marT="45720" marB="45720" anchor="ctr">
                    <a:solidFill>
                      <a:srgbClr val="E2F1F7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Every declared target cell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Exact cell matches and mismatches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714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3  Grade task</a:t>
                      </a:r>
                    </a:p>
                  </a:txBody>
                  <a:tcPr marL="91440" marR="91440" marT="45720" marB="45720" anchor="ctr">
                    <a:solidFill>
                      <a:srgbClr val="E2F1F7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Complete target set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A pass only when the whole task is correct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714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4  Aggregate</a:t>
                      </a:r>
                    </a:p>
                  </a:txBody>
                  <a:tcPr marL="91440" marR="91440" marT="45720" marB="45720" anchor="ctr">
                    <a:solidFill>
                      <a:srgbClr val="E2F1F7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All 400 evaluated tasks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Task pass rate and cell accuracy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0BE06-394C-464B-8615-919A31E5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BD4A-C1AE-4625-A715-71E63D8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1042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Opening, saving and recalculating are necessary checks. They are not a substitute for target-cell correctness.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C600C-F753-4FB2-9F72-C2E113EC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29233-B602-4100-9364-9C305F77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71A84-6034-49AE-A30E-4E26A51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1377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353A9F-1369-4C3E-843E-FFCB249C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Two selected canaries exercised both execution routes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D0152-4367-444D-B35D-2B6E1F78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Each case ran through LibreOffice and the unchanged organiser evaluator.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2CD74-9DC8-4B09-BA11-9C828BC6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580AF-55E9-45CE-835B-9ACFD0E0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47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552E1-9E7A-4A3F-ABDE-B773EB6B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TYPED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0D177-5587-4916-ACEA-AB8D2D8A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Task 54513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4FCDD-4E08-4889-B410-2B892003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27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1 /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19058-BFE0-4D2F-967F-8F67103F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target cell 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AF69E-BD52-486F-A22F-6A370A71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65990-A979-4E17-8034-FF4DA180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Cell-level manipulation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One model call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Runtime status: 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C3024-7C8B-4364-837A-E38728E3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334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AFE8C-9C79-40F6-92F9-6824DA5E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33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BC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57CC8-24A7-4517-A856-2F0EBA47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4A9BC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A9BC2"/>
                </a:solidFill>
                <a:latin typeface="Arial"/>
                <a:ea typeface="Arial"/>
                <a:cs typeface="Arial"/>
              </a:rPr>
              <a:t>SCREENED PYTHON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2ACA1-B447-4620-A14E-7B9420F3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Task 23-24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F54B2-0722-4DCC-8CFD-FF90AD06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5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5,510 / 5,510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9BA0B-AAC8-48CD-A64C-28675DA1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86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4A9BC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A9BC2"/>
                </a:solidFill>
                <a:latin typeface="Arial"/>
                <a:ea typeface="Arial"/>
                <a:cs typeface="Arial"/>
              </a:rPr>
              <a:t>target cells correct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38DD7-0071-4756-8CDB-520C8A82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FF8E2-2487-4D29-AE2C-D247259C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Sheet-level manipulation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One model call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Runtime status: 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35671-09FB-4236-B118-735181F4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4"/>
          </a:solidFill>
          <a:ln xmlns:a="http://schemas.openxmlformats.org/drawingml/2006/main" w="9525">
            <a:solidFill>
              <a:srgbClr val="E764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1AEDA-2555-4995-AC48-AA04C12B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42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These are selected route diagnostics. A two-case pass count cannot estimate performance on the 400-task benchmark.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2EF83-0FED-442E-9005-06D9BD6C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26D13-9539-4846-9F84-EA75C027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B5EB1-C794-4390-880C-3CFA82CD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5995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1222FA-5F62-4F66-BFE7-03A609E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Historical scores stay attached to their recorded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8149F-940B-4197-B210-5395324A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No earlier result is transferred to FormulaBench v2.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6858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171b41d7124ee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CC921-747C-4803-A1F9-3C52EC88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5623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EE32B-B274-4877-B16E-472EF843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38350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FORMULABENCH 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5E4D6-DC76-4EC0-B9A4-6A900CC2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289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UNSCORED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3BF28-8931-4F89-8B63-5C397004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C6D2D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6D2DF"/>
                </a:solidFill>
                <a:latin typeface="Arial"/>
                <a:ea typeface="Arial"/>
                <a:cs typeface="Arial"/>
              </a:rPr>
              <a:t>No complete 400-task result had been published at deck capture.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5219700"/>
          <a:ext xmlns:a="http://schemas.openxmlformats.org/drawingml/2006/main" cx="10972800" cy="95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4000500"/>
                <a:gridCol w="2924175"/>
              </a:tblGrid>
              <a:tr h="3048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run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 result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 result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</a:tr>
              <a:tr h="32385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FormulaBench v1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133 / 400   33.25%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40.56%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2385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ExactSource source run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302 / 400   75.50%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80.06%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B757B-33DD-4659-8B15-B5BFEE5E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6C60E-8B2E-41D4-AAE1-87714983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184EF-4D18-4417-B058-F0EAC64F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4096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51EA9A-4F5F-46FE-91AD-FF33873A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it, inspect it, then score the complete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31814-C55A-4ACD-9A3D-B15157C8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The public repository keeps the runtime, parity record and historical score distinct.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44F35-808F-4A8D-82D2-98E79B5A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RUN 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8D6D0-35EA-4295-802D-7766E99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95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83164-4F94-4F2C-9C61-E7F9498F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uv run python data/download.py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./scripts/run_docker.sh data/spreadsheetbench_verified_400 submissions/formulabench-v2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0FBAC-8E75-4EB9-BC2F-823B116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Set TINKER_API_KEY privately in the shell before a paid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CA07D-BC94-420B-B5E5-56CCA779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EVIDENCE ANCHORS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DC6E6-E986-44F7-8672-847267AC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experiments/v2_migration_validation.json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submissions/formulabench/results.json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SUBMISSION.md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1B355-7CD2-4C8A-A1AE-893E568A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5623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3741F-7B51-4CC1-843F-473ECA01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E4B94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4B94F"/>
                </a:solidFill>
                <a:latin typeface="Arial"/>
                <a:ea typeface="Arial"/>
                <a:cs typeface="Arial"/>
              </a:rPr>
              <a:t>CAPTURE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ED504-F01A-422B-961E-42214125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default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2D4F8-1BF9-43D8-A64B-7633604E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D2D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6D2DF"/>
                </a:solidFill>
                <a:latin typeface="Arial"/>
                <a:ea typeface="Arial"/>
                <a:cs typeface="Arial"/>
              </a:rPr>
              <a:t>FormulaBench 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AD215-2836-468B-893E-D3A77954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CE29C-AA43-45C3-A008-423C8C02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Benchmark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110E2-BEBF-424D-8C92-E6F80A5C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Unscored at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EF719-1D23-406E-B1B0-00623832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958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6 September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22CA3-7FCE-4BD7-897B-C118EE5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PUBLIC 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897EF-F8A9-47BF-AE74-BA7B495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531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8ade2d4296f44904"/>
              </a:rPr>
              <a:t>github.com/MasteraSnackin/FormulaBench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CB7BD-953D-4C0A-8FD5-DFC359AC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721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Private benchmark remains unseen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8B688-FDAE-4CE7-8CFE-E2F924E5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C9834-3BDA-41C2-BAB4-AD10A6CF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FORMULABENCH V2  ·  RESEARCH: EXCEL FORMULA GENERATION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336FA-605E-414D-B0F2-DA566B0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1828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2026-09-06T10:44:31.3160000Z</dcterms:created>
  <dcterms:modified xsi:type="dcterms:W3CDTF">2026-09-06T10:44:31.3160000Z</dcterms:modified>
</coreProperties>
</file>