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56478f45b34eef" /><Relationship Type="http://schemas.openxmlformats.org/officeDocument/2006/relationships/extended-properties" Target="/docProps/app.xml" Id="R36a33bb875be45d0" /><Relationship Type="http://schemas.openxmlformats.org/officeDocument/2006/relationships/officeDocument" Target="/ppt/presentation.xml" Id="R1b1fc04dba2a48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848d6e66464db1"/>
  </p:sldMasterIdLst>
  <p:notesMasterIdLst>
    <p:notesMasterId xmlns:r="http://schemas.openxmlformats.org/officeDocument/2006/relationships" r:id="R6ef1be90408e4596"/>
  </p:notesMasterIdLst>
  <p:sldIdLst>
    <p:sldId xmlns:r="http://schemas.openxmlformats.org/officeDocument/2006/relationships" id="256" r:id="Rb31a972dd3124a7c"/>
    <p:sldId xmlns:r="http://schemas.openxmlformats.org/officeDocument/2006/relationships" id="257" r:id="Ra8fc8fdbd7dc4597"/>
    <p:sldId xmlns:r="http://schemas.openxmlformats.org/officeDocument/2006/relationships" id="258" r:id="R57162401946647da"/>
    <p:sldId xmlns:r="http://schemas.openxmlformats.org/officeDocument/2006/relationships" id="259" r:id="Reb2f85c0803f4eae"/>
    <p:sldId xmlns:r="http://schemas.openxmlformats.org/officeDocument/2006/relationships" id="260" r:id="R23b0bf1cca194d03"/>
    <p:sldId xmlns:r="http://schemas.openxmlformats.org/officeDocument/2006/relationships" id="261" r:id="R094d4ca0ebb14c5a"/>
    <p:sldId xmlns:r="http://schemas.openxmlformats.org/officeDocument/2006/relationships" id="262" r:id="R1e59e1bcd9bd4908"/>
    <p:sldId xmlns:r="http://schemas.openxmlformats.org/officeDocument/2006/relationships" id="263" r:id="R76a82655c90f4ed9"/>
    <p:sldId xmlns:r="http://schemas.openxmlformats.org/officeDocument/2006/relationships" id="264" r:id="R2a4c50aa42f74c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a217c2bf904efd" /><Relationship Type="http://schemas.openxmlformats.org/officeDocument/2006/relationships/slideMaster" Target="/ppt/slideMasters/slideMaster1.xml" Id="R60848d6e66464db1" /><Relationship Type="http://schemas.openxmlformats.org/officeDocument/2006/relationships/notesMaster" Target="/ppt/notesMasters/notesMaster1.xml" Id="R6ef1be90408e4596" /><Relationship Type="http://schemas.openxmlformats.org/officeDocument/2006/relationships/presProps" Target="/ppt/presProps.xml" Id="R3c0f1e2515204f77" /><Relationship Type="http://schemas.openxmlformats.org/officeDocument/2006/relationships/tableStyles" Target="/ppt/tableStyles.xml" Id="Re4d4575d06ba4b01" /><Relationship Type="http://schemas.openxmlformats.org/officeDocument/2006/relationships/slide" Target="/ppt/slides/slide1.xml" Id="Rb31a972dd3124a7c" /><Relationship Type="http://schemas.openxmlformats.org/officeDocument/2006/relationships/slide" Target="/ppt/slides/slide2.xml" Id="Ra8fc8fdbd7dc4597" /><Relationship Type="http://schemas.openxmlformats.org/officeDocument/2006/relationships/slide" Target="/ppt/slides/slide3.xml" Id="R57162401946647da" /><Relationship Type="http://schemas.openxmlformats.org/officeDocument/2006/relationships/slide" Target="/ppt/slides/slide4.xml" Id="Reb2f85c0803f4eae" /><Relationship Type="http://schemas.openxmlformats.org/officeDocument/2006/relationships/slide" Target="/ppt/slides/slide5.xml" Id="R23b0bf1cca194d03" /><Relationship Type="http://schemas.openxmlformats.org/officeDocument/2006/relationships/slide" Target="/ppt/slides/slide6.xml" Id="R094d4ca0ebb14c5a" /><Relationship Type="http://schemas.openxmlformats.org/officeDocument/2006/relationships/slide" Target="/ppt/slides/slide7.xml" Id="R1e59e1bcd9bd4908" /><Relationship Type="http://schemas.openxmlformats.org/officeDocument/2006/relationships/slide" Target="/ppt/slides/slide8.xml" Id="R76a82655c90f4ed9" /><Relationship Type="http://schemas.openxmlformats.org/officeDocument/2006/relationships/slide" Target="/ppt/slides/slide9.xml" Id="R2a4c50aa42f74c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840df4b61b41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51615dc17e4965" /><Relationship Type="http://schemas.openxmlformats.org/officeDocument/2006/relationships/notesMaster" Target="/ppt/notesMasters/notesMaster1.xml" Id="R9a69fdc77d3648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a937fc06eb483b" /><Relationship Type="http://schemas.openxmlformats.org/officeDocument/2006/relationships/notesMaster" Target="/ppt/notesMasters/notesMaster1.xml" Id="Re7ea4c45569f49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074c9f159f4a3c" /><Relationship Type="http://schemas.openxmlformats.org/officeDocument/2006/relationships/notesMaster" Target="/ppt/notesMasters/notesMaster1.xml" Id="R8a3a8c07681441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622ed9502b4151" /><Relationship Type="http://schemas.openxmlformats.org/officeDocument/2006/relationships/notesMaster" Target="/ppt/notesMasters/notesMaster1.xml" Id="R7a6b0461058e43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396f1467754fc2" /><Relationship Type="http://schemas.openxmlformats.org/officeDocument/2006/relationships/notesMaster" Target="/ppt/notesMasters/notesMaster1.xml" Id="Rb6272c7f193f48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9f221a07914b41" /><Relationship Type="http://schemas.openxmlformats.org/officeDocument/2006/relationships/notesMaster" Target="/ppt/notesMasters/notesMaster1.xml" Id="R7a04b7aca0c449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1cce3abc394fba" /><Relationship Type="http://schemas.openxmlformats.org/officeDocument/2006/relationships/notesMaster" Target="/ppt/notesMasters/notesMaster1.xml" Id="R2fc1ed63e66d46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b9b3310bc74309" /><Relationship Type="http://schemas.openxmlformats.org/officeDocument/2006/relationships/notesMaster" Target="/ppt/notesMasters/notesMaster1.xml" Id="Re2c05ae23c0f42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71f2aafee34f49" /><Relationship Type="http://schemas.openxmlformats.org/officeDocument/2006/relationships/notesMaster" Target="/ppt/notesMasters/notesMaster1.xml" Id="Ra374f60f7a8948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https://github.com/MasteraSnackin/FormulaBench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SUBMISSION.md</a:t>
            </a:r>
          </a:p>
          <a:p xmlns:a="http://schemas.openxmlformats.org/drawingml/2006/main">
            <a:r>
              <a:t>The formula shown on the cover is an illustrative Excel formula, not a benchmark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SHA-256 c1e6fb6b540bb7272f4c537773e2a4826dd649d882c9b7fb549df9bccc66be0d</a:t>
            </a:r>
          </a:p>
          <a:p xmlns:a="http://schemas.openxmlformats.org/drawingml/2006/main">
            <a:r>
              <a:t>SUBMISSION.md section Our run on the 400</a:t>
            </a:r>
          </a:p>
          <a:p xmlns:a="http://schemas.openxmlformats.org/drawingml/2006/main">
            <a:r>
              <a:t>Public self-evaluation totals: 400 evaluated tasks, 133 passes, 297,882 target cells, 120,824 correct cells, no missing tasks and no evaluator errors.</a:t>
            </a:r>
          </a:p>
          <a:p xmlns:a="http://schemas.openxmlformats.org/drawingml/2006/main">
            <a:r>
              <a:t>FormulaBench produced this result locally with the organiser-supplied evaluator. The organisers have not certified the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submissions/formulabench/traces/54513.jsonl</a:t>
            </a:r>
          </a:p>
          <a:p xmlns:a="http://schemas.openxmlformats.org/drawingml/2006/main">
            <a:r>
              <a:t>submissions/formulabench/traces/13-1.jsonl</a:t>
            </a:r>
          </a:p>
          <a:p xmlns:a="http://schemas.openxmlformats.org/drawingml/2006/main">
            <a:r>
              <a:t>SUBMISSION.md section Verified evaluation</a:t>
            </a:r>
          </a:p>
          <a:p xmlns:a="http://schemas.openxmlformats.org/drawingml/2006/main">
            <a:r>
              <a:t>Task 54513: one of one target cells correct. FormulaBench wrote =C8*(1-E8) to Sheet1!F8. The exact value was 15.7455 and the workbook displayed 15.75.</a:t>
            </a:r>
          </a:p>
          <a:p xmlns:a="http://schemas.openxmlformats.org/drawingml/2006/main">
            <a:r>
              <a:t>Task 13-1: 116 of 120 target cells correct. The evaluator reported mismatches in LISTS!D25, LISTS!D30, LISTS!D31 and LISTS!D32.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sections Description and Features</a:t>
            </a:r>
          </a:p>
          <a:p xmlns:a="http://schemas.openxmlformats.org/drawingml/2006/main">
            <a:r>
              <a:t>SUBMISSION.md section What we built and why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Architecture Overview, Features and Tech Stack</a:t>
            </a:r>
          </a:p>
          <a:p xmlns:a="http://schemas.openxmlformats.org/drawingml/2006/main">
            <a:r>
              <a:t>SUBMISSION.md What we built and why</a:t>
            </a:r>
          </a:p>
          <a:p xmlns:a="http://schemas.openxmlformats.org/drawingml/2006/main">
            <a:r>
              <a:t>formulabench/context.py</a:t>
            </a:r>
          </a:p>
          <a:p xmlns:a="http://schemas.openxmlformats.org/drawingml/2006/main">
            <a:r>
              <a:t>formulabench/provider.py</a:t>
            </a:r>
          </a:p>
          <a:p xmlns:a="http://schemas.openxmlformats.org/drawingml/2006/main">
            <a:r>
              <a:t>formulabench/contract.py</a:t>
            </a:r>
          </a:p>
          <a:p xmlns:a="http://schemas.openxmlformats.org/drawingml/2006/main">
            <a:r>
              <a:t>formulabench/artifacts.py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Features</a:t>
            </a:r>
          </a:p>
          <a:p xmlns:a="http://schemas.openxmlformats.org/drawingml/2006/main">
            <a:r>
              <a:t>SUBMISSION.md What we built and why</a:t>
            </a:r>
          </a:p>
          <a:p xmlns:a="http://schemas.openxmlformats.org/drawingml/2006/main">
            <a:r>
              <a:t>formulabench/contract.py</a:t>
            </a:r>
          </a:p>
          <a:p xmlns:a="http://schemas.openxmlformats.org/drawingml/2006/main">
            <a:r>
              <a:t>formulabench/artifacts.py</a:t>
            </a:r>
          </a:p>
          <a:p xmlns:a="http://schemas.openxmlformats.org/drawingml/2006/main">
            <a:r>
              <a:t>experiments/public_benchmark_audit.json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experiments/README.md section Failure analysis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submissions/formulabench/predictions.jsonl</a:t>
            </a:r>
          </a:p>
          <a:p xmlns:a="http://schemas.openxmlformats.org/drawingml/2006/main">
            <a:r>
              <a:t>submissions/formulabench/traces/</a:t>
            </a:r>
          </a:p>
          <a:p xmlns:a="http://schemas.openxmlformats.org/drawingml/2006/main">
            <a:r>
              <a:t>Wrong cells total: 177,058. Fail-closed fallbacks: 9,143. Contract-valid but semantically wrong workbooks: 167,915.</a:t>
            </a:r>
          </a:p>
          <a:p xmlns:a="http://schemas.openxmlformats.org/drawingml/2006/main">
            <a:r>
              <a:t>The difference in pass rate by context truncation is an association, not a causal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Public benchmark result</a:t>
            </a:r>
          </a:p>
          <a:p xmlns:a="http://schemas.openxmlformats.org/drawingml/2006/main">
            <a:r>
              <a:t>SUBMISSION.md Our run on the 400</a:t>
            </a:r>
          </a:p>
          <a:p xmlns:a="http://schemas.openxmlformats.org/drawingml/2006/main">
            <a:r>
              <a:t>experiments/README.md Complete public run</a:t>
            </a:r>
          </a:p>
          <a:p xmlns:a="http://schemas.openxmlformats.org/drawingml/2006/main">
            <a:r>
              <a:t>https://github.com/ylookup/encode-hackathon/tree/37d9016264762a25cae49e077cd0893055bd9093/research</a:t>
            </a:r>
          </a:p>
          <a:p xmlns:a="http://schemas.openxmlformats.org/drawingml/2006/main">
            <a:r>
              <a:t>https://github.com/thinking-machines-lab/tinker-cookbook/blob/main/tinker_cookbook/renderers/qwen3_8.py</a:t>
            </a:r>
          </a:p>
          <a:p xmlns:a="http://schemas.openxmlformats.org/drawingml/2006/main">
            <a:r>
              <a:t>The organiser reference renderer is inferred from published code and cookbook behaviour because the organisers did not publish run traces or explicit renderer metadata.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experiments/README.md section Failure analysis</a:t>
            </a:r>
          </a:p>
          <a:p xmlns:a="http://schemas.openxmlformats.org/drawingml/2006/main">
            <a:r>
              <a:t>https://github.com/MasteraSnackin/FormulaBench</a:t>
            </a:r>
          </a:p>
          <a:p xmlns:a="http://schemas.openxmlformats.org/drawingml/2006/main">
            <a:r>
              <a:t>https://masterasnackin.github.io/FormulaBench/</a:t>
            </a:r>
          </a:p>
          <a:p xmlns:a="http://schemas.openxmlformats.org/drawingml/2006/main">
            <a:r>
              <a:t>The proposed fixed-operation path is future work and is not part of the frozen public self-evaluation.</a:t>
            </a:r>
          </a:p>
          <a:p xmlns:a="http://schemas.openxmlformats.org/drawingml/2006/main">
            <a:r>
              <a:t>Only the organiser private benchmark is described as unseen.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6665baf4742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3c2a2c79614cfa" /><Relationship Type="http://schemas.openxmlformats.org/officeDocument/2006/relationships/slideLayout" Target="/ppt/slideLayouts/slideLayout1.xml" Id="R0ae21f67db764b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21f67db764b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e91c4f08a46df" /><Relationship Type="http://schemas.openxmlformats.org/officeDocument/2006/relationships/notesSlide" Target="/ppt/notesSlides/notesSlide1.xml" Id="Rcd02ec7bab7c4d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75c3b75c04be2" /><Relationship Type="http://schemas.openxmlformats.org/officeDocument/2006/relationships/chart" Target="/ppt/slides/charts/chart1.xml" Id="R9f851c1b40b44d4d" /><Relationship Type="http://schemas.openxmlformats.org/officeDocument/2006/relationships/notesSlide" Target="/ppt/notesSlides/notesSlide2.xml" Id="Rd4c2c85b65b545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05d47e9434984" /><Relationship Type="http://schemas.openxmlformats.org/officeDocument/2006/relationships/notesSlide" Target="/ppt/notesSlides/notesSlide3.xml" Id="R3f453bf6c9b744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6cf96205d43c1" /><Relationship Type="http://schemas.openxmlformats.org/officeDocument/2006/relationships/notesSlide" Target="/ppt/notesSlides/notesSlide4.xml" Id="Rcab32e2e943e4e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9fd4182f44516" /><Relationship Type="http://schemas.openxmlformats.org/officeDocument/2006/relationships/notesSlide" Target="/ppt/notesSlides/notesSlide5.xml" Id="R2879d00679184f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5ce58905749b3" /><Relationship Type="http://schemas.openxmlformats.org/officeDocument/2006/relationships/notesSlide" Target="/ppt/notesSlides/notesSlide6.xml" Id="R4e314179dd7c4a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b26143c064c01" /><Relationship Type="http://schemas.openxmlformats.org/officeDocument/2006/relationships/chart" Target="/ppt/slides/charts/chart2.xml" Id="Rd162a2d01d1242bb" /><Relationship Type="http://schemas.openxmlformats.org/officeDocument/2006/relationships/notesSlide" Target="/ppt/notesSlides/notesSlide7.xml" Id="Re8188013fd1844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6708bafba4894" /><Relationship Type="http://schemas.openxmlformats.org/officeDocument/2006/relationships/notesSlide" Target="/ppt/notesSlides/notesSlide8.xml" Id="R17287d385aa54f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f1fddbe1c44ff" /><Relationship Type="http://schemas.openxmlformats.org/officeDocument/2006/relationships/hyperlink" Target="https://masterasnackin.github.io/FormulaBench/" TargetMode="External" Id="R5d377faf54854c65" /><Relationship Type="http://schemas.openxmlformats.org/officeDocument/2006/relationships/hyperlink" Target="https://github.com/MasteraSnackin/FormulaBench" TargetMode="External" Id="R8750e96bf4884b43" /><Relationship Type="http://schemas.openxmlformats.org/officeDocument/2006/relationships/notesSlide" Target="/ppt/notesSlides/notesSlide9.xml" Id="R95f7c16f6da24c7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Public self-evaluation</c:v>
          </c:tx>
          <c:spPr>
            <a:solidFill xmlns:a="http://schemas.openxmlformats.org/drawingml/2006/main">
              <a:srgbClr val="35C47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5C47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A9BC2"/>
              </a:solidFill>
            </c:spPr>
          </c:dPt>
          <c:cat>
            <c:strLit>
              <c:ptCount val="2"/>
              <c:pt idx="0">
                <c:v>Task pass rate</c:v>
              </c:pt>
              <c:pt idx="1">
                <c:v>Cell accuracy</c:v>
              </c:pt>
            </c:strLit>
          </c:cat>
          <c:val>
            <c:numLit>
              <c:formatCode>0.00%</c:formatCode>
              <c:ptCount val="2"/>
              <c:pt idx="0">
                <c:v>0.3325</c:v>
              </c:pt>
              <c:pt idx="1">
                <c:v>0.4056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2203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D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DF8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Wrong cells</c:v>
          </c:tx>
          <c:spPr>
            <a:solidFill xmlns:a="http://schemas.openxmlformats.org/drawingml/2006/main">
              <a:srgbClr val="E76464"/>
            </a:solidFill>
          </c:spPr>
          <c:dPt>
            <c:idx val="0"/>
            <c:spPr>
              <a:solidFill xmlns:a="http://schemas.openxmlformats.org/drawingml/2006/main">
                <a:srgbClr val="E76464"/>
              </a:solidFill>
            </c:spPr>
          </c:dPt>
          <c:dPt>
            <c:idx val="1"/>
            <c:spPr>
              <a:solidFill xmlns:a="http://schemas.openxmlformats.org/drawingml/2006/main">
                <a:srgbClr val="E4B94F"/>
              </a:solidFill>
            </c:spPr>
          </c:dPt>
          <c:cat>
            <c:strLit>
              <c:ptCount val="2"/>
              <c:pt idx="0">
                <c:v>Passed structural checks
94.84%</c:v>
              </c:pt>
              <c:pt idx="1">
                <c:v>Rejected responses
5.16%</c:v>
              </c:pt>
            </c:strLit>
          </c:cat>
          <c:val>
            <c:numLit>
              <c:formatCode>General</c:formatCode>
              <c:ptCount val="2"/>
              <c:pt idx="0">
                <c:v>167915</c:v>
              </c:pt>
              <c:pt idx="1">
                <c:v>9143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22033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270"/>
        <c:holeSize val="66"/>
      </c:doughnutChart>
      <c:spPr>
        <a:solidFill xmlns:a="http://schemas.openxmlformats.org/drawingml/2006/main">
          <a:srgbClr val="F4F0E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0E8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A2CA0-ADC7-473E-8B6B-802938CA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FORMULABENCH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6302C-A3DB-4700-B9C2-95F41FE4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FormulaBench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52A53-9C50-4A49-AC87-B76A1ED0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0" i="0">
                <a:solidFill>
                  <a:srgbClr val="D9E0E8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9E0E8"/>
                </a:solidFill>
                <a:latin typeface="Arial"/>
                <a:ea typeface="Arial"/>
                <a:cs typeface="Arial"/>
              </a:rPr>
              <a:t>Auditable Excel formula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2B656-D8B9-4B70-8217-E0F8A355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1470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5C47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9BD7F-DE47-4B08-93B7-57E21C5C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Research: Excel Formula Generation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Encode x Ylookup Rebuild Private Markets Hackathon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C4BE60-8957-41EF-BC28-381829D1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381125"/>
            <a:ext cx="40005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=IFERROR(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INDEX(Returns!$H:$H,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MATCH($B9,Returns!$B:$B,0)),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A8EFEE-780B-4028-94F9-01AADE58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ILLUSTRATIVE FORMULA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80016-2289-4EA8-A681-994CBEDA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8F9CAE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F9CAE"/>
                </a:solidFill>
                <a:latin typeface="Arial"/>
                <a:ea typeface="Arial"/>
                <a:cs typeface="Arial"/>
              </a:rPr>
              <a:t>Complete public benchmark: all 400 tasks with retained traces and workbook artefacts</a:t>
            </a:r>
          </a:p>
        </p:txBody>
      </p:sp>
    </p:spTree>
    <p:extLst>
      <p:ext uri="{BB962C8B-B14F-4D97-AF65-F5344CB8AC3E}">
        <p14:creationId xmlns:p14="http://schemas.microsoft.com/office/powerpoint/2010/main" val="9827817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1FD147-FF70-423E-BA3B-51FD9F56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Public self-evaluation: 133 of 400 tasks passed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B5CFB-7F05-45E7-9F3B-C7086A63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run recalculated every workbook in LibreOffice before using the organiser-supplied evaluator.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5778F-1002-4E01-BE2D-F7852457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33.25%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100AF-9FE7-4865-8C0D-809DB408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task pass 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CD7CE-2E1C-4104-8B19-712C8F18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40.56%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2ADD72-2100-4E73-9205-E0CA3F65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4A9BC2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4A9BC2"/>
                </a:solidFill>
                <a:latin typeface="Arial"/>
                <a:ea typeface="Arial"/>
                <a:cs typeface="Arial"/>
              </a:rPr>
              <a:t>cell 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4C6E70-D4F1-47DA-B545-24503654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14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2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400/400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879FF-5969-47D4-8A79-6916582C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622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8534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All 400 tasks evaluated, with no missing tasks or evaluator errors.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23900" y="3143250"/>
          <a:ext xmlns:a="http://schemas.openxmlformats.org/drawingml/2006/main" cx="1066800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851c1b40b44d4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83E9D-6EAE-4587-86F8-FC107713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120,824 of 297,882 target cells matched the reference workbook.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DFA147-E92F-4F55-BA1F-43B245B6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A4F7E7-B9CC-408B-8445-B0CF27E8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CE0F6-85A3-4004-AEE8-0128B00D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301782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BA3F94-EA67-4DD6-85C7-DBB85CCC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116 of 120 correct cells still produced a failed task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6E82A-3C95-455F-9F75-DCE200C8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Two retained benchmark tasks show the difference between cell accuracy and a complete pass.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1C872-5AFF-41F2-959B-3A80C934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383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EBE45-F0C9-4518-9777-E7F6B232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47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738DD-0891-4676-BA41-54BB207B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TASK 54513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2880A-6552-4438-A6C1-1BDAFB72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8595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 i="0">
                <a:solidFill>
                  <a:srgbClr val="176B4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76B43"/>
                </a:solidFill>
                <a:latin typeface="Arial"/>
                <a:ea typeface="Arial"/>
                <a:cs typeface="Arial"/>
              </a:rPr>
              <a:t>FULL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FC8E18-1188-40F3-826A-2010CD5E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1 /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8B0A7-D748-4F63-893F-00D179DE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target cell correct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A4F1C-B04C-4426-8048-0D053FCA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$34.99 with a 55% discount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C4572-432C-4574-BD42-9B2F4BFF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67487"/>
                </a:solidFill>
                <a:latin typeface="Menlo"/>
                <a:ea typeface="Menlo"/>
                <a:cs typeface="Menlo"/>
              </a:defRPr>
            </a:pPr>
            <a:r>
              <a:rPr sz="1125" b="1" i="0">
                <a:solidFill>
                  <a:srgbClr val="667487"/>
                </a:solidFill>
                <a:latin typeface="Menlo"/>
                <a:ea typeface="Menlo"/>
                <a:cs typeface="Menlo"/>
              </a:rPr>
              <a:t>Sheet1!F8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D7431-9F32-4EC9-B583-B40B2684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461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6BCAE-0044-4E8A-B16F-7F070116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422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=C8*(1-E8)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5CE4E8-5779-4CB0-9B8F-479CB32F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15.7455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8C085D-5972-4A95-AA01-83961840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53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exact 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EE483-0EA5-4F8F-A5D2-F3287089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6250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2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15.75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C2349-B67E-4359-A8D2-AEB6563D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53025"/>
            <a:ext cx="2133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displayed value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07D063-F923-4A3F-8141-384A4EBD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19250"/>
            <a:ext cx="5143500" cy="383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08E39C-FCF2-4572-833B-9B58458A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192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6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050B0-2CA7-4842-9EE7-F44510D1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TASK 13-1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B05725-CBCD-4BCF-A0AE-8956E77E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859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FULL TASK FAILED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7CE4A-FB67-4DAF-AD9A-E83272AD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116 / 120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2DE798-3AB9-4C18-BE00-5DE3E824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target cells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C98C5E-79B6-4767-BC86-EDDE63E1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479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96.67% cell accuracy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2660D-C0BC-4E3D-926F-8C5A45C5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76600"/>
            <a:ext cx="461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Merged duplicate records, then sorted the output.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CFD134-9FC6-486C-901E-245C9E4F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33775"/>
            <a:ext cx="461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Four amounts differed. D32 is the final total.</a:t>
            </a:r>
          </a:p>
        </p:txBody>
      </p:sp>
      <p:graphicFrame>
        <p:nvGraphicFramePr>
          <p:cNvPr id="57" name=""/>
          <p:cNvGraphicFramePr/>
          <p:nvPr/>
        </p:nvGraphicFramePr>
        <p:xfrm>
          <a:off xmlns:a="http://schemas.openxmlformats.org/drawingml/2006/main" x="6705600" y="3790950"/>
          <a:ext xmlns:a="http://schemas.openxmlformats.org/drawingml/2006/main" cx="4610100" cy="1447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7850"/>
                <a:gridCol w="1381125"/>
                <a:gridCol w="1381125"/>
              </a:tblGrid>
              <a:tr h="266700"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Cell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Produced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295275"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l"/>
                      <a:r>
                        <a:rPr sz="1125" b="1">
                          <a:solidFill>
                            <a:srgbClr val="122033"/>
                          </a:solidFill>
                          <a:latin typeface="Menlo"/>
                          <a:ea typeface="Menlo"/>
                          <a:cs typeface="Menlo"/>
                        </a:rPr>
                        <a:t>LISTS!D25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1,990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9B3030"/>
                          </a:solidFill>
                          <a:latin typeface="Arial"/>
                          <a:ea typeface="Arial"/>
                          <a:cs typeface="Arial"/>
                        </a:rPr>
                        <a:t>2,020</a:t>
                      </a:r>
                    </a:p>
                  </a:txBody>
                  <a:tcPr marL="91440" marR="91440" marT="45720" marB="45720" anchor="ctr">
                    <a:solidFill>
                      <a:srgbClr val="FBE6E4"/>
                    </a:solidFill>
                  </a:tcPr>
                </a:tc>
              </a:tr>
              <a:tr h="295275"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l"/>
                      <a:r>
                        <a:rPr sz="1125" b="1">
                          <a:solidFill>
                            <a:srgbClr val="122033"/>
                          </a:solidFill>
                          <a:latin typeface="Menlo"/>
                          <a:ea typeface="Menlo"/>
                          <a:cs typeface="Menlo"/>
                        </a:rPr>
                        <a:t>LISTS!D30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534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9B3030"/>
                          </a:solidFill>
                          <a:latin typeface="Arial"/>
                          <a:ea typeface="Arial"/>
                          <a:cs typeface="Arial"/>
                        </a:rPr>
                        <a:t>394</a:t>
                      </a:r>
                    </a:p>
                  </a:txBody>
                  <a:tcPr marL="91440" marR="91440" marT="45720" marB="45720" anchor="ctr">
                    <a:solidFill>
                      <a:srgbClr val="FBE6E4"/>
                    </a:solidFill>
                  </a:tcPr>
                </a:tc>
              </a:tr>
              <a:tr h="295275"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l"/>
                      <a:r>
                        <a:rPr sz="1125" b="1">
                          <a:solidFill>
                            <a:srgbClr val="122033"/>
                          </a:solidFill>
                          <a:latin typeface="Menlo"/>
                          <a:ea typeface="Menlo"/>
                          <a:cs typeface="Menlo"/>
                        </a:rPr>
                        <a:t>LISTS!D31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401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9B3030"/>
                          </a:solidFill>
                          <a:latin typeface="Arial"/>
                          <a:ea typeface="Arial"/>
                          <a:cs typeface="Arial"/>
                        </a:rPr>
                        <a:t>276</a:t>
                      </a:r>
                    </a:p>
                  </a:txBody>
                  <a:tcPr marL="91440" marR="91440" marT="45720" marB="45720" anchor="ctr">
                    <a:solidFill>
                      <a:srgbClr val="FBE6E4"/>
                    </a:solidFill>
                  </a:tcPr>
                </a:tc>
              </a:tr>
              <a:tr h="295275"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l"/>
                      <a:r>
                        <a:rPr sz="1125" b="1">
                          <a:solidFill>
                            <a:srgbClr val="122033"/>
                          </a:solidFill>
                          <a:latin typeface="Menlo"/>
                          <a:ea typeface="Menlo"/>
                          <a:cs typeface="Menlo"/>
                        </a:rPr>
                        <a:t>LISTS!D32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6,495</a:t>
                      </a:r>
                    </a:p>
                  </a:txBody>
                  <a:tcPr marL="91440" marR="91440" marT="45720" marB="45720" anchor="ctr">
                    <a:solidFill>
                      <a:srgbClr val="FFFDF8"/>
                    </a:solidFill>
                  </a:tcPr>
                </a:tc>
                <a:tc>
                  <a:txBody>
                    <a:bodyPr lIns="76200" tIns="38100" rIns="76200" bIns="38100">
                      <a:normAutofit/>
                    </a:bodyPr>
                    <a:lstStyle/>
                    <a:p>
                      <a:pPr algn="r"/>
                      <a:r>
                        <a:rPr sz="1125" b="0">
                          <a:solidFill>
                            <a:srgbClr val="9B3030"/>
                          </a:solidFill>
                          <a:latin typeface="Arial"/>
                          <a:ea typeface="Arial"/>
                          <a:cs typeface="Arial"/>
                        </a:rPr>
                        <a:t>6,260</a:t>
                      </a:r>
                    </a:p>
                  </a:txBody>
                  <a:tcPr marL="91440" marR="91440" marT="45720" marB="45720" anchor="ctr">
                    <a:solidFill>
                      <a:srgbClr val="FBE6E4"/>
                    </a:solidFill>
                  </a:tcPr>
                </a:tc>
              </a:tr>
            </a:tbl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1109A7-D4CB-4507-BF9A-012FC513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F1BDE5-FE97-445C-830A-CEF1B580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evaluator checks every target cell and grants a task pass only when the complete workbook answer is correct.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D14586-A0FC-43F2-B752-5E1A1EEE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FAEF7D-7E8D-42C0-8FC9-6ED0842A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D922A0-7758-44CB-A8CC-504BE969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761022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83AAE2-740D-4299-890F-FB863003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Plausible formulas fail in four different ways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3E6C8-257E-4CD3-BAE5-F9AB4711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workbook can open successfully while still producing the wrong investment result.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C83CC-E0AE-4760-853C-EB8F833D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86E58-79A8-41D3-96CB-91EBB637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A0AF2-B14B-4F91-853A-A5302D46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relevant worksheet, source range or existing formula never reaches the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11D020-E96D-410D-8058-38CF01E7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17204-E705-4B94-B5D4-1F6C21FC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EFF9C-F267-4472-B84E-AC0C7244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366EB3-AAF5-4B60-B455-F0A96238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response misses required cells, writes to the same cell twice or changes cells outside the target.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DB6BC-2694-48F7-AD2F-E061B0F0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D306E-04F3-4C4C-BC45-BD3C4A4B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8789A-9726-48A6-96F6-C141362D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Workbook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881532-5096-4444-9B34-BCFB6647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formula introduces an unsafe reference, invalid type or broken workbook package.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FEA42-B047-4483-8422-88539AEC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9FEA8D-48CD-4A0D-860D-41629513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E53923-020B-4669-A6EF-5AD2CA11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Semantics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4014A6-B315-418B-8709-457B2423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formula runs but returns the wrong value or applies the wrong transformation.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025A3-7894-4B06-8839-5D1EDDAC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20DAE9-3F7F-46A2-BCBF-21613A5A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81625"/>
            <a:ext cx="1040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Execution and correctness require separate checks.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22FF3-5838-4ABE-B693-C0B92F87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10FD6C-A936-49E1-944A-52A6E088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FFBA89-1A4A-4C76-B05C-08C44CDB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091962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B9A5BB-84EE-4D77-9170-515F5643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Current FormulaBench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73F99-10A7-4CC8-AE06-5C51C821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requests one logical model sample between deterministic preparation and validation.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B6C22-B938-4C8F-8D93-134FB425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PREPARATION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DF7DD-643F-4E74-9539-AE645D9A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25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E713A-4A6E-4319-AB80-3BD8050D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6192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MODEL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DDA859-7599-4AE9-9505-66AA3226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24050"/>
            <a:ext cx="138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C4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EB59AD-1E9F-4F28-AAD6-5DCE8CD7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54BA4-AD9C-4293-A739-7169049F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2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4C335-5A30-44A1-A739-BAE1428F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2A35DF-588E-45EF-BFC2-9437F0E1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955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3324FD-D77B-4406-AA14-39ACDE9B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F959D-6AF9-4BD6-B434-BD0CB502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337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Workbook and target cells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D3AA0-6185-4C61-BE86-56A5F5A5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80DAA5-CF3A-4130-8B49-BDABD568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968039-0495-4A4E-AEB1-72099E32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9337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Existing formulas and last calculated values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D982E-B447-49E6-A1EB-A38E08E8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Generate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B1229C-0BCC-4F84-9339-E2A466A4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524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47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21EEC4-78E4-43FC-99F3-1C117DD4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One Qwen3.8-27B response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84BAA-3C73-4332-9A32-3DB9B46E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3A1869-5229-47F5-AD8E-19EA4B64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D304E-CB6B-410D-AC5A-7539C480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337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Target coverage, value types and formula safety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1299F0-1C4A-4BB9-A39A-D0DA9744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Publish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938434-F776-4807-9F90-60BC0EDD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EB3A33-3513-451A-896F-CEEAE6A5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933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Save a fresh copy and reopen 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0015B3-EFFA-49B5-AA6D-D6905BF1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3367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C9B8E0-4658-45AA-BBCA-36371AC4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718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FEF52E-0E20-467D-95BD-B987527A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76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PUBLIC EVALUATION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B5C76-959E-4283-944F-1D99600A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814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C9D953-2A9B-400F-BACD-71935BDD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1243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Organiser-supplied evaluator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F2CDEC-3D3D-4C12-8CFB-91EC98AB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9B9498-102E-4D9C-907F-EE771901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7434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MODEL SETTINGS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E040A4-1E72-46C1-91CE-60F5C103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48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runs at temperature 0 with thinking disabled. It returns one response and has no unrestricted tools.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99F2E4-9EFD-4413-8133-DE405878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434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CONTROLS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1783A0-EBB2-45EA-8B83-41946877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48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Exact target coverage and workbook checks run before the edited copy is published.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1EA570-33D3-4183-9997-BCD88D59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B94D33-7ADE-44C0-B4ED-194AABCF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063AD-4857-477F-8657-BF75DD72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999794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2B4B69-2B14-4010-9173-16AF7FBE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Workbook checks before publication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A3E9A-C9EE-4D83-8A97-DADCC0CC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publishes an edited workbook only after every check passes.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3848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905500"/>
                <a:gridCol w="2924175"/>
              </a:tblGrid>
              <a:tr h="457200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evidence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behaviour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Sheet + A1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Every target carries an explicit worksheet and cell address.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the full response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Exact coverage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Finite targets contain no gaps, duplicates, overlaps or extra assignments.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the full response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Typed values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Dates and datetimes use explicit Excel value types rather than locale-dependent text.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invalid schema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Formula gate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External paths, URIs, DDE and high-risk executable or data functions remain blocked.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unsafe formula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Save and reopen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The system saves a fresh copy, reopens it and verifies the target cells.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Return the untouched workbook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49BDD7-7BF2-4361-BA04-566AF002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Rejected responses leave the supplied workbook unchanged.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04F5D-F400-41F3-B4F1-9406B4B9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BF81D-B987-4FAD-9DE2-179BC70A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5B7FC-A034-4357-8871-A00CBFFD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835620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A0E079-20B0-4A0A-A657-62BF5338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Most wrong cells were in structurally valid responses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1302A-5B19-4279-BFB4-99FBD583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Responses that passed structural checks contained 94.84% of wrong cells. Rejected responses contained 5.16%.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638300"/>
          <a:ext xmlns:a="http://schemas.openxmlformats.org/drawingml/2006/main" cx="4953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62a2d01d1242b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F25AE-E40C-424A-97F6-618F2C4B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62125"/>
            <a:ext cx="457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510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94.84%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D75D3-5F30-4128-BAF9-61B41997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5747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221 structurally valid responses still contained incorrect cells.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53810-270A-4B36-99E8-71F56CC8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004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6C8D1-ED23-4309-9D77-8DC619C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57625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84.76%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4628E-E2DA-49D2-9263-90F96BAD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of all wrong cells came from four transformations with more than 10,000 target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D8A265-179B-419B-A235-2A07042A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958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 truncation pass rate: 24.10%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No truncation pass rate: 41.95%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BEA625-333C-4EC1-B51B-C5597894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61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1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667487"/>
                </a:solidFill>
                <a:latin typeface="Arial"/>
                <a:ea typeface="Arial"/>
                <a:cs typeface="Arial"/>
              </a:rPr>
              <a:t>This association does not establish causation.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6E950-743A-4575-A810-DC6A7539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0E3CB-7011-497B-971A-73FD1E2D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97B8B-A1B5-4850-9F16-D0D8627E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37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35C9B4-3CEB-4A37-B45F-0FA69A39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5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Organiser reference and FormulaBench use different test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7B178-5AA8-4C1E-BABB-648FED02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base model is the same. The inference setup and requested output differ.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030AB-EDE3-48A5-B0D9-EF75CE5D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≈59%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C79A5-9215-4F18-9899-FA9464CF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organiser reference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E4C25-5B0B-4042-988D-0DEE0C3E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33.25%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32856-885D-48DF-B297-105B0A5E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86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public self-evaluation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3048000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3105150"/>
                <a:gridCol w="2571750"/>
                <a:gridCol w="3486150"/>
              </a:tblGrid>
              <a:tr h="457200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Inference mode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Requested output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Validation evidence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Organiser reference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xhigh reasoning inferred from the published runner and cookbook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Final scalar values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≈59% reported. Run traces and renderer metadata not published</a:t>
                      </a:r>
                    </a:p>
                  </a:txBody>
                  <a:tcPr marL="91440" marR="91440" marT="45720" marB="45720"/>
                </a:tc>
              </a:tr>
              <a:tr h="96202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FormulaBench</a:t>
                      </a:r>
                    </a:p>
                  </a:txBody>
                  <a:tcPr marL="91440" marR="91440" marT="45720" marB="45720" anchor="ctr">
                    <a:solidFill>
                      <a:srgbClr val="35C47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One native Tinker sample at temperature 0 with thinking disabled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Executable formulas and typed transformations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Organiser-supplied evaluator. Exact coverage checks and full traces are available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31E7F-7A1F-4096-8A19-C1D7DCD1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The published evidence does not isolate the effect of any one component.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DE0DC-4906-411E-AB9C-4B2DC49F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269B2-9D34-4E4F-ADBC-D8EB35AF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94ABD-966D-4070-9FEB-F5844281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596747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2435BA-8D26-4F9F-A637-04F1E844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43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architecture: separate formula generation from large transformations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EB7C5-05C4-4BE4-9DD0-2FCBC85C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 tasks use the model. Large transformations use fixed operations.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C8621-286A-4792-B277-5B7FAFCC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FORMULA TASKS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18451-9BF4-48D7-B27B-D2BF4CC9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Generate a formula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FE762-091A-4EF9-A94E-02A9215B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 i="0">
                <a:solidFill>
                  <a:srgbClr val="C6D2D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6D2DF"/>
                </a:solidFill>
                <a:latin typeface="Arial"/>
                <a:ea typeface="Arial"/>
                <a:cs typeface="Arial"/>
              </a:rPr>
              <a:t>Recalculate locally and run task-specific checks before publishing the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FCC90-8556-40B3-BE26-F2B8791C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47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LARGE TRANSFORMATIONS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08DBD-D05C-4E46-B986-735EEFEF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Apply a fixed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6EF26-728D-465D-AE61-A9A4790D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1940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 i="0">
                <a:solidFill>
                  <a:srgbClr val="C6D2D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6D2DF"/>
                </a:solidFill>
                <a:latin typeface="Arial"/>
                <a:ea typeface="Arial"/>
                <a:cs typeface="Arial"/>
              </a:rPr>
              <a:t>Use rule-based code for filtering, sorting, appending, grouping, deduplicating and clearing.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A6A51-F750-42C1-B30C-30531F55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790700"/>
            <a:ext cx="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C803C-05E5-4F6F-99E5-BEA2ABB5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43B"/>
          </a:solidFill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EE07B-2893-412F-A923-1EB0B53C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LIVE RESEARCH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F0FBF-4B00-4D8A-9F3A-1D607A30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5d377faf54854c65"/>
              </a:rPr>
              <a:t>masterasnackin.github.io/FormulaBench/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365F8-1658-4D42-85D7-E12F633B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PUBLIC REPOSITORY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E54F95-53FF-44C0-BA28-20C7F943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8750e96bf4884b43"/>
              </a:rPr>
              <a:t>github.com/MasteraSnackin/FormulaBench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05174A-A6F9-41A4-92FA-FCD1F41E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The organiser's private benchmark is the unseen evaluation.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8B974-B0F5-4407-9C64-D6F15BCC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F7A9D-E580-44A3-8155-0C34EDE6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 ·  RESEARCH: EXCEL FORMULA GENERATION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C62D9F-0DE4-459E-8AD8-8E1D7C09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832261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2026-09-06T05:16:46.6820000Z</dcterms:created>
  <dcterms:modified xsi:type="dcterms:W3CDTF">2026-09-06T05:16:46.6820000Z</dcterms:modified>
</coreProperties>
</file>